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theme15.xml" ContentType="application/vnd.openxmlformats-officedocument.theme+xml"/>
  <Override PartName="/ppt/slideMasters/slideMaster15.xml" ContentType="application/vnd.openxmlformats-officedocument.presentationml.slideMaster+xml"/>
  <Override PartName="/ppt/slideMasters/theme/theme16.xml" ContentType="application/vnd.openxmlformats-officedocument.theme+xml"/>
  <Override PartName="/ppt/slideMasters/slideMaster16.xml" ContentType="application/vnd.openxmlformats-officedocument.presentationml.slideMaster+xml"/>
  <Override PartName="/ppt/slideMasters/theme/theme1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8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2995b0cf1a4018" /><Relationship Type="http://schemas.openxmlformats.org/officeDocument/2006/relationships/extended-properties" Target="/docProps/app.xml" Id="Rdb9fb826560e484b" /><Relationship Type="http://schemas.openxmlformats.org/officeDocument/2006/relationships/officeDocument" Target="/ppt/presentation.xml" Id="R93d7f90c25be45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e0a759eaec4d9f"/>
    <p:sldMasterId xmlns:r="http://schemas.openxmlformats.org/officeDocument/2006/relationships" id="2147483649" r:id="R2cddbb4ab0c54cbd"/>
    <p:sldMasterId xmlns:r="http://schemas.openxmlformats.org/officeDocument/2006/relationships" id="2147483650" r:id="Rf48d9a83b06a467e"/>
    <p:sldMasterId xmlns:r="http://schemas.openxmlformats.org/officeDocument/2006/relationships" id="2147483651" r:id="Ra4e2cf863aeb408d"/>
    <p:sldMasterId xmlns:r="http://schemas.openxmlformats.org/officeDocument/2006/relationships" id="2147483652" r:id="Rc17e356e0a7a4440"/>
    <p:sldMasterId xmlns:r="http://schemas.openxmlformats.org/officeDocument/2006/relationships" id="2147483653" r:id="R85265764aa664238"/>
    <p:sldMasterId xmlns:r="http://schemas.openxmlformats.org/officeDocument/2006/relationships" id="2147483654" r:id="Rcd4854b308c243f3"/>
    <p:sldMasterId xmlns:r="http://schemas.openxmlformats.org/officeDocument/2006/relationships" id="2147483655" r:id="Rad1d289c2d9d492c"/>
    <p:sldMasterId xmlns:r="http://schemas.openxmlformats.org/officeDocument/2006/relationships" id="2147483656" r:id="R7e2886a91704481d"/>
    <p:sldMasterId xmlns:r="http://schemas.openxmlformats.org/officeDocument/2006/relationships" id="2147483657" r:id="Rfff0c27e72344bed"/>
    <p:sldMasterId xmlns:r="http://schemas.openxmlformats.org/officeDocument/2006/relationships" id="2147483658" r:id="R1bd64657f0fd4620"/>
    <p:sldMasterId xmlns:r="http://schemas.openxmlformats.org/officeDocument/2006/relationships" id="2147483659" r:id="R20d17c1e754d4953"/>
    <p:sldMasterId xmlns:r="http://schemas.openxmlformats.org/officeDocument/2006/relationships" id="2147483660" r:id="R03f9424945dc4e9c"/>
    <p:sldMasterId xmlns:r="http://schemas.openxmlformats.org/officeDocument/2006/relationships" id="2147483661" r:id="R2a6e1046e6944f90"/>
    <p:sldMasterId xmlns:r="http://schemas.openxmlformats.org/officeDocument/2006/relationships" id="2147483663" r:id="R7fa9c4a5d1734174"/>
    <p:sldMasterId xmlns:r="http://schemas.openxmlformats.org/officeDocument/2006/relationships" id="2147483665" r:id="R4dc49f204ab44045"/>
  </p:sldMasterIdLst>
  <p:notesMasterIdLst>
    <p:notesMasterId xmlns:r="http://schemas.openxmlformats.org/officeDocument/2006/relationships" r:id="Rb4ce4822b364412a"/>
  </p:notesMasterIdLst>
  <p:sldIdLst>
    <p:sldId xmlns:r="http://schemas.openxmlformats.org/officeDocument/2006/relationships" id="256" r:id="Rcb056696410c416e"/>
    <p:sldId xmlns:r="http://schemas.openxmlformats.org/officeDocument/2006/relationships" id="257" r:id="Ra90ed82c745b484e"/>
    <p:sldId xmlns:r="http://schemas.openxmlformats.org/officeDocument/2006/relationships" id="258" r:id="Rc524134f06b5404d"/>
    <p:sldId xmlns:r="http://schemas.openxmlformats.org/officeDocument/2006/relationships" id="259" r:id="Rc548698b3960452f"/>
    <p:sldId xmlns:r="http://schemas.openxmlformats.org/officeDocument/2006/relationships" id="260" r:id="Rc4de57bbf1ca4b68"/>
    <p:sldId xmlns:r="http://schemas.openxmlformats.org/officeDocument/2006/relationships" id="261" r:id="R2b2fcb1ab88545cf"/>
    <p:sldId xmlns:r="http://schemas.openxmlformats.org/officeDocument/2006/relationships" id="262" r:id="Rff87bcb9cfc84619"/>
    <p:sldId xmlns:r="http://schemas.openxmlformats.org/officeDocument/2006/relationships" id="263" r:id="R088675306f4f4a10"/>
    <p:sldId xmlns:r="http://schemas.openxmlformats.org/officeDocument/2006/relationships" id="264" r:id="Rd281ad4800d1465f"/>
    <p:sldId xmlns:r="http://schemas.openxmlformats.org/officeDocument/2006/relationships" id="265" r:id="R0b2a92c9b3de4d73"/>
    <p:sldId xmlns:r="http://schemas.openxmlformats.org/officeDocument/2006/relationships" id="266" r:id="R1cb611c0e8f544c2"/>
    <p:sldId xmlns:r="http://schemas.openxmlformats.org/officeDocument/2006/relationships" id="267" r:id="R20348d4e1acd436a"/>
    <p:sldId xmlns:r="http://schemas.openxmlformats.org/officeDocument/2006/relationships" id="268" r:id="R42b88deb3cb9424d"/>
    <p:sldId xmlns:r="http://schemas.openxmlformats.org/officeDocument/2006/relationships" id="269" r:id="R6baaa3c3f8a54848"/>
    <p:sldId xmlns:r="http://schemas.openxmlformats.org/officeDocument/2006/relationships" id="270" r:id="R6f7262e5297f4015"/>
    <p:sldId xmlns:r="http://schemas.openxmlformats.org/officeDocument/2006/relationships" id="271" r:id="R7864f07bad9c4fd7"/>
    <p:sldId xmlns:r="http://schemas.openxmlformats.org/officeDocument/2006/relationships" id="272" r:id="R47763daa064847d7"/>
    <p:sldId xmlns:r="http://schemas.openxmlformats.org/officeDocument/2006/relationships" id="273" r:id="R3fda7f6a1b3448ff"/>
    <p:sldId xmlns:r="http://schemas.openxmlformats.org/officeDocument/2006/relationships" id="274" r:id="R4a8d63e220d54745"/>
    <p:sldId xmlns:r="http://schemas.openxmlformats.org/officeDocument/2006/relationships" id="275" r:id="R3b122cf6b8204e20"/>
    <p:sldId xmlns:r="http://schemas.openxmlformats.org/officeDocument/2006/relationships" id="276" r:id="Rfeaf7d43b0844602"/>
  </p:sldIdLst>
  <p:sldSz cx="12193588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314f7466a44632" /><Relationship Type="http://schemas.openxmlformats.org/officeDocument/2006/relationships/slideMaster" Target="/ppt/slideMasters/slideMaster1.xml" Id="R63e0a759eaec4d9f" /><Relationship Type="http://schemas.openxmlformats.org/officeDocument/2006/relationships/slideMaster" Target="/ppt/slideMasters/slideMaster2.xml" Id="R2cddbb4ab0c54cbd" /><Relationship Type="http://schemas.openxmlformats.org/officeDocument/2006/relationships/slideMaster" Target="/ppt/slideMasters/slideMaster3.xml" Id="Rf48d9a83b06a467e" /><Relationship Type="http://schemas.openxmlformats.org/officeDocument/2006/relationships/slideMaster" Target="/ppt/slideMasters/slideMaster4.xml" Id="Ra4e2cf863aeb408d" /><Relationship Type="http://schemas.openxmlformats.org/officeDocument/2006/relationships/slideMaster" Target="/ppt/slideMasters/slideMaster5.xml" Id="Rc17e356e0a7a4440" /><Relationship Type="http://schemas.openxmlformats.org/officeDocument/2006/relationships/slideMaster" Target="/ppt/slideMasters/slideMaster6.xml" Id="R85265764aa664238" /><Relationship Type="http://schemas.openxmlformats.org/officeDocument/2006/relationships/slideMaster" Target="/ppt/slideMasters/slideMaster7.xml" Id="Rcd4854b308c243f3" /><Relationship Type="http://schemas.openxmlformats.org/officeDocument/2006/relationships/slideMaster" Target="/ppt/slideMasters/slideMaster8.xml" Id="Rad1d289c2d9d492c" /><Relationship Type="http://schemas.openxmlformats.org/officeDocument/2006/relationships/slideMaster" Target="/ppt/slideMasters/slideMaster9.xml" Id="R7e2886a91704481d" /><Relationship Type="http://schemas.openxmlformats.org/officeDocument/2006/relationships/slideMaster" Target="/ppt/slideMasters/slideMaster10.xml" Id="Rfff0c27e72344bed" /><Relationship Type="http://schemas.openxmlformats.org/officeDocument/2006/relationships/slideMaster" Target="/ppt/slideMasters/slideMaster11.xml" Id="R1bd64657f0fd4620" /><Relationship Type="http://schemas.openxmlformats.org/officeDocument/2006/relationships/slideMaster" Target="/ppt/slideMasters/slideMaster12.xml" Id="R20d17c1e754d4953" /><Relationship Type="http://schemas.openxmlformats.org/officeDocument/2006/relationships/slideMaster" Target="/ppt/slideMasters/slideMaster13.xml" Id="R03f9424945dc4e9c" /><Relationship Type="http://schemas.openxmlformats.org/officeDocument/2006/relationships/slideMaster" Target="/ppt/slideMasters/slideMaster14.xml" Id="R2a6e1046e6944f90" /><Relationship Type="http://schemas.openxmlformats.org/officeDocument/2006/relationships/slideMaster" Target="/ppt/slideMasters/slideMaster15.xml" Id="R7fa9c4a5d1734174" /><Relationship Type="http://schemas.openxmlformats.org/officeDocument/2006/relationships/slideMaster" Target="/ppt/slideMasters/slideMaster16.xml" Id="R4dc49f204ab44045" /><Relationship Type="http://schemas.openxmlformats.org/officeDocument/2006/relationships/notesMaster" Target="/ppt/notesMasters/notesMaster1.xml" Id="Rb4ce4822b364412a" /><Relationship Type="http://schemas.openxmlformats.org/officeDocument/2006/relationships/presProps" Target="/ppt/presProps.xml" Id="R53b350bdbc3a47ff" /><Relationship Type="http://schemas.openxmlformats.org/officeDocument/2006/relationships/viewProps" Target="/ppt/viewProps.xml" Id="R6bf51bd90eb34179" /><Relationship Type="http://schemas.openxmlformats.org/officeDocument/2006/relationships/tableStyles" Target="/ppt/tableStyles.xml" Id="R00fdaa3496134a43" /><Relationship Type="http://schemas.openxmlformats.org/officeDocument/2006/relationships/slide" Target="/ppt/slides/slide1.xml" Id="Rcb056696410c416e" /><Relationship Type="http://schemas.openxmlformats.org/officeDocument/2006/relationships/slide" Target="/ppt/slides/slide2.xml" Id="Ra90ed82c745b484e" /><Relationship Type="http://schemas.openxmlformats.org/officeDocument/2006/relationships/slide" Target="/ppt/slides/slide3.xml" Id="Rc524134f06b5404d" /><Relationship Type="http://schemas.openxmlformats.org/officeDocument/2006/relationships/slide" Target="/ppt/slides/slide4.xml" Id="Rc548698b3960452f" /><Relationship Type="http://schemas.openxmlformats.org/officeDocument/2006/relationships/slide" Target="/ppt/slides/slide5.xml" Id="Rc4de57bbf1ca4b68" /><Relationship Type="http://schemas.openxmlformats.org/officeDocument/2006/relationships/slide" Target="/ppt/slides/slide6.xml" Id="R2b2fcb1ab88545cf" /><Relationship Type="http://schemas.openxmlformats.org/officeDocument/2006/relationships/slide" Target="/ppt/slides/slide7.xml" Id="Rff87bcb9cfc84619" /><Relationship Type="http://schemas.openxmlformats.org/officeDocument/2006/relationships/slide" Target="/ppt/slides/slide8.xml" Id="R088675306f4f4a10" /><Relationship Type="http://schemas.openxmlformats.org/officeDocument/2006/relationships/slide" Target="/ppt/slides/slide9.xml" Id="Rd281ad4800d1465f" /><Relationship Type="http://schemas.openxmlformats.org/officeDocument/2006/relationships/slide" Target="/ppt/slides/slide10.xml" Id="R0b2a92c9b3de4d73" /><Relationship Type="http://schemas.openxmlformats.org/officeDocument/2006/relationships/slide" Target="/ppt/slides/slide11.xml" Id="R1cb611c0e8f544c2" /><Relationship Type="http://schemas.openxmlformats.org/officeDocument/2006/relationships/slide" Target="/ppt/slides/slide12.xml" Id="R20348d4e1acd436a" /><Relationship Type="http://schemas.openxmlformats.org/officeDocument/2006/relationships/slide" Target="/ppt/slides/slide13.xml" Id="R42b88deb3cb9424d" /><Relationship Type="http://schemas.openxmlformats.org/officeDocument/2006/relationships/slide" Target="/ppt/slides/slide14.xml" Id="R6baaa3c3f8a54848" /><Relationship Type="http://schemas.openxmlformats.org/officeDocument/2006/relationships/slide" Target="/ppt/slides/slide15.xml" Id="R6f7262e5297f4015" /><Relationship Type="http://schemas.openxmlformats.org/officeDocument/2006/relationships/slide" Target="/ppt/slides/slide16.xml" Id="R7864f07bad9c4fd7" /><Relationship Type="http://schemas.openxmlformats.org/officeDocument/2006/relationships/slide" Target="/ppt/slides/slide17.xml" Id="R47763daa064847d7" /><Relationship Type="http://schemas.openxmlformats.org/officeDocument/2006/relationships/slide" Target="/ppt/slides/slide18.xml" Id="R3fda7f6a1b3448ff" /><Relationship Type="http://schemas.openxmlformats.org/officeDocument/2006/relationships/slide" Target="/ppt/slides/slide19.xml" Id="R4a8d63e220d54745" /><Relationship Type="http://schemas.openxmlformats.org/officeDocument/2006/relationships/slide" Target="/ppt/slides/slide20.xml" Id="R3b122cf6b8204e20" /><Relationship Type="http://schemas.openxmlformats.org/officeDocument/2006/relationships/slide" Target="/ppt/slides/slide21.xml" Id="Rfeaf7d43b08446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8.xml" Id="R1c7eae81dacd4c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3ad20ae1f4625" /><Relationship Type="http://schemas.openxmlformats.org/officeDocument/2006/relationships/notesMaster" Target="/ppt/notesMasters/notesMaster1.xml" Id="R545bc2b13a4440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1091b0cd0f4efc" /><Relationship Type="http://schemas.openxmlformats.org/officeDocument/2006/relationships/notesMaster" Target="/ppt/notesMasters/notesMaster1.xml" Id="R10338d8c062e4e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66ded5c00a489d" /><Relationship Type="http://schemas.openxmlformats.org/officeDocument/2006/relationships/notesMaster" Target="/ppt/notesMasters/notesMaster1.xml" Id="Rfaa032c2602b47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7a930155aa4247" /><Relationship Type="http://schemas.openxmlformats.org/officeDocument/2006/relationships/notesMaster" Target="/ppt/notesMasters/notesMaster1.xml" Id="Rda004b7b001543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da813b7711408b" /><Relationship Type="http://schemas.openxmlformats.org/officeDocument/2006/relationships/notesMaster" Target="/ppt/notesMasters/notesMaster1.xml" Id="R1a85d6e8d80943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8022997f76480e" /><Relationship Type="http://schemas.openxmlformats.org/officeDocument/2006/relationships/notesMaster" Target="/ppt/notesMasters/notesMaster1.xml" Id="Rd8b10846e3db41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02224ae7f14ded" /><Relationship Type="http://schemas.openxmlformats.org/officeDocument/2006/relationships/notesMaster" Target="/ppt/notesMasters/notesMaster1.xml" Id="Raa189ceea68643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5e8d3d96f141c8" /><Relationship Type="http://schemas.openxmlformats.org/officeDocument/2006/relationships/notesMaster" Target="/ppt/notesMasters/notesMaster1.xml" Id="R8d1f7676056b4f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7051a256a649a6" /><Relationship Type="http://schemas.openxmlformats.org/officeDocument/2006/relationships/notesMaster" Target="/ppt/notesMasters/notesMaster1.xml" Id="R5461f9dd14f447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a8c46b5cc9434f" /><Relationship Type="http://schemas.openxmlformats.org/officeDocument/2006/relationships/notesMaster" Target="/ppt/notesMasters/notesMaster1.xml" Id="Rf5fbca5d383845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5ba2185b3e4339" /><Relationship Type="http://schemas.openxmlformats.org/officeDocument/2006/relationships/notesMaster" Target="/ppt/notesMasters/notesMaster1.xml" Id="Rf18808c8168c4e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b99ddbb28c415e" /><Relationship Type="http://schemas.openxmlformats.org/officeDocument/2006/relationships/notesMaster" Target="/ppt/notesMasters/notesMaster1.xml" Id="R8217a27103c441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56b7c3eb7f4d4a" /><Relationship Type="http://schemas.openxmlformats.org/officeDocument/2006/relationships/notesMaster" Target="/ppt/notesMasters/notesMaster1.xml" Id="R747a18e8605a42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3b3ae0f45743dc" /><Relationship Type="http://schemas.openxmlformats.org/officeDocument/2006/relationships/notesMaster" Target="/ppt/notesMasters/notesMaster1.xml" Id="Ra3279ab024a44c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8c69bcd8fa40c6" /><Relationship Type="http://schemas.openxmlformats.org/officeDocument/2006/relationships/notesMaster" Target="/ppt/notesMasters/notesMaster1.xml" Id="Rd7d903796d4c4a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3bc370c1a54ce7" /><Relationship Type="http://schemas.openxmlformats.org/officeDocument/2006/relationships/notesMaster" Target="/ppt/notesMasters/notesMaster1.xml" Id="R7700bef56cde40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124b6c84ae475b" /><Relationship Type="http://schemas.openxmlformats.org/officeDocument/2006/relationships/notesMaster" Target="/ppt/notesMasters/notesMaster1.xml" Id="R14cbeafd0cdd45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1d4d0fef03e4f1f" /><Relationship Type="http://schemas.openxmlformats.org/officeDocument/2006/relationships/notesMaster" Target="/ppt/notesMasters/notesMaster1.xml" Id="Re6c6daee7f464c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44a081830a4455" /><Relationship Type="http://schemas.openxmlformats.org/officeDocument/2006/relationships/notesMaster" Target="/ppt/notesMasters/notesMaster1.xml" Id="Rc2509372578c49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055f8241f348f1" /><Relationship Type="http://schemas.openxmlformats.org/officeDocument/2006/relationships/notesMaster" Target="/ppt/notesMasters/notesMaster1.xml" Id="R76a116dcd43c42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05e0f6cd0a949e2" /><Relationship Type="http://schemas.openxmlformats.org/officeDocument/2006/relationships/notesMaster" Target="/ppt/notesMasters/notesMaster1.xml" Id="R829d1655edeb4a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CampusAI project presentation. Project name and scope: backend/config.py and README.md. Team names and IDs retained from the supplied CampusNLP_updated.pptx.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The presentation follows the supplied template section order. Modules covers text preprocessing, intent classification, and semantic retrieval and grounding.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backend/config.py, backend/rag/generator.py, data/structured/resource_catalog.json. Scope: B.Tech Curriculum 2024 Version 3.0.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data/manifests/source_quality_report.json, backend/nlp/entity_extractor.py, backend/nlp/coreference.py. Corpus counts are manifest values.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backend/nlp/intent_classifier.py, scripts/train_intent_model.py, backend/rag/retriever.py, backend/rag/generator.py, frontend/src. Capabilities describe implemented components, not guarantees of answer correctness.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backend/nlp/preprocessing.py, backend/nlp/normalizer.py, backend/nlp/entity_extractor.py, backend/rag/retriever.py, backend/rag/reranker.py, backend/rag/generator.py, backend/rag/citation_verifier.py. Reranking and LLM behavior depend on runtime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data/manifests/source_quality_report.json (8 PDFs, 6,502 pages), data/structured/resource_catalog.json (catalog counts), data/aditya_university_queries.csv (1,201 rows, 30 intents), scripts/train_intent_model.py (stratified 20% test split, random seed 42), reports/classification_report.txt (241 test samples). The remaining 960 queries form the training split. Cross-validation runs separately over the full dataset. Counts replace the older synthetic CampusFAQ-50K figures in the template.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backend/nlp/preprocessing.py, scripts/train_intent_model.py, backend/nlp/intent_classifier.py, backend/rag/retriever.py, backend/rag/generator.py, frontend/src. Stopword removal defaults to disabled. Lemmatization is conditional on available NLTK resources.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backend/nlp/preprocessing.py, backend/nlp/normalizer.py, backend/nlp/entity_extractor.py, backend/nlp/coreference.py, backend/nlp/multi_intent.py. Example illustrates parsing and does not assert a new model prediction.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scripts/train_intent_model.py and https://scikit-learn.org/stable/modules/generated/sklearn.feature_extraction.text.TfidfVectorizer.html. The character analyzer is char_wb; sublinear_tf=True. This is feature extraction for intent classification, separate from dense retrieval embeddings.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scripts/train_intent_model.py; https://scikit-learn.org/stable/modules/calibration and https://scikit-learn.org/stable/modules/generated/sklearn.calibration.CalibratedClassifierCV.html. LinearSVC C=1.5, squared_hinge loss, L2 penalty; CalibratedClassifierCV cv=3. No individual SVM benchmark is reported.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scripts/train_intent_model.py; https://scikit-learn.org/stable/modules/generated/sklearn.linear_model.LogisticRegression.html; https://scikit-learn.org/stable/modules/generated/sklearn.naive_bayes.ComplementNB.html. LR uses C=5, lbfgs, max_iter=1000, class_weight=balanced. ComplementNB uses alpha=0.3 and norm=True. No standalone comparative scores are available.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scripts/train_intent_model.py; https://scikit-learn.org/stable/modules/generated/sklearn.ensemble.VotingClassifier.html. The arithmetic illustration is hypothetical and not an observed model output. Confidence is not a probability of end-to-end answer correctness.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Source: reports/model_metrics.json classes array. The six families below are explanatory groupings for the presentation, not a new learned hierarchy. All 30 class labels are represented in readable form.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backend/rag/retriever.py, backend/rag/embeddings.py, data/structured/resource_catalog.json. reciprocal_rank_fusion uses k=60 and rank positions starting at 1. The embedding model and fallback behavior depend on runtime availability.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backend/rag/reranker.py, backend/rag/citation_verifier.py, backend/rag/prompt_builder.py, backend/rag/generator.py, backend/database/sql_retriever.py. CitationVerifier checks document IDs, positive page numbers, and mentioned course codes; it does not prove every claim is entailed by a source. Reranker uses lexical fallback if model loading or inference fails.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 screenshot: frontend/qa/screenshots/chat-answer-desktop.png, captured by frontend/qa/verify.mjs from an earlier application UI. This is recorded application output, not a fresh execution. The returned fields and citation demonstrate behavior, not independent factual verification. Screenshot retains the original content.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 screenshot: frontend/qa/screenshots/source-desktop.png. Recorded earlier application UI. The original PDF shown is page 29 of the CSE Data Science curriculum document. The screenshot documents a PDF viewer interaction, not a fresh validation of all returned facts.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reports/model_metrics.json, saved 2026-10-22 08:09:45 UTC; reports/classification_report.txt; scripts/train_intent_model.py. 1,201 samples, 960 train, 241 test, stratified split, seed 42. 232/241 = 96.26556%, 239/241 = 99.17012%, inferred integer counts agree with rounded reported scores. CV runs independently over the full dataset. Retrieval constants from backend/evaluation/benchmark_runner.py are excluded.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Source: reports/classification_report.txt, saved 2026-10-22. Selected categories show high-support strengths and lower-performing small classes. These are not all 30 intents. Support is held-out test sample count. No model-to-model improvement claim is made.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reports/classification_report.txt (out_of_scope F1 0.4000 with support 3; admission_information F1 0.5714 with support 4), docs/LIMITATIONS.md, backend/evaluation/benchmark_runner.py. Future work is proposed work. The project dataset may not represent real student query distributions, and the current split is not an independently collected student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95bea8f932294b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a44a825f44a641b1" /></Relationships>
</file>

<file path=ppt/slideLayouts/slideLayout1.xml><?xml version="1.0" encoding="utf-8"?>
<p:sldLayout xmlns:p="http://schemas.openxmlformats.org/presentationml/2006/main" type="blank" preserve="1">
  <p:cSld name="Title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FD7C2B8-75F9-4930-A293-E33D50872BBB}"/>
              </a:ext>
            </a:extLst>
          </p:cNvPr>
          <p:cNvSpPr>
            <a:spLocks xmlns:a="http://schemas.openxmlformats.org/drawingml/2006/main" noGrp="1"/>
          </p:cNvSpPr>
          <p:nvPr>
            <p:ph type="ftr" idx="4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D7AE374-229B-4272-B9EB-BB3832D8A5A4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032AE1-E181-4279-8F49-E20E4ACDFFF7}" type="slidenum">
              <a:t>‹#›</a:t>
            </a:fld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C8C76E7-2C1E-4B67-AA74-38144346572A}"/>
              </a:ext>
            </a:extLst>
          </p:cNvPr>
          <p:cNvSpPr>
            <a:spLocks xmlns:a="http://schemas.openxmlformats.org/drawingml/2006/main" noGrp="1"/>
          </p:cNvSpPr>
          <p:nvPr>
            <p:ph type="dt" idx="4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AFB3A91-4A01-41B1-8AD0-A2B0F952AACE}"/>
              </a:ext>
            </a:extLst>
          </p:cNvPr>
          <p:cNvSpPr>
            <a:spLocks xmlns:a="http://schemas.openxmlformats.org/drawingml/2006/main" noGrp="1"/>
          </p:cNvSpPr>
          <p:nvPr>
            <p:ph type="ftr" idx="4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684CAFA-C7D5-4C24-9BB8-3B19EBBABD7E}"/>
              </a:ext>
            </a:extLst>
          </p:cNvPr>
          <p:cNvSpPr>
            <a:spLocks xmlns:a="http://schemas.openxmlformats.org/drawingml/2006/main" noGrp="1"/>
          </p:cNvSpPr>
          <p:nvPr>
            <p:ph type="sldNum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F0CFD9-DF3D-47EF-B835-BC322E6F7557}" type="slidenum">
              <a:t>‹#›</a:t>
            </a:fld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2859AD0-5814-4D4E-AFAF-C9A149CF5E35}"/>
              </a:ext>
            </a:extLst>
          </p:cNvPr>
          <p:cNvSpPr>
            <a:spLocks xmlns:a="http://schemas.openxmlformats.org/drawingml/2006/main" noGrp="1"/>
          </p:cNvSpPr>
          <p:nvPr>
            <p:ph type="dt" idx="4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e890cb4ca844e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d861a066bd91482d" /><Relationship Type="http://schemas.openxmlformats.org/officeDocument/2006/relationships/theme" Target="/ppt/slideMasters/theme/theme3.xml" Id="Rc13fb3de260d448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c0f95fde2c83401e" /><Relationship Type="http://schemas.openxmlformats.org/officeDocument/2006/relationships/theme" Target="/ppt/slideMasters/theme/theme4.xml" Id="R62fd41cc975d42ac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cc92f4f821644461" /><Relationship Type="http://schemas.openxmlformats.org/officeDocument/2006/relationships/theme" Target="/ppt/slideMasters/theme/theme5.xml" Id="R400f69e5b7d249a1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.png" Id="R522caaca835e4159" /><Relationship Type="http://schemas.openxmlformats.org/officeDocument/2006/relationships/theme" Target="/ppt/slideMasters/theme/theme6.xml" Id="R7da29caf932b4c8d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.png" Id="R0eacdd0264cb460a" /><Relationship Type="http://schemas.openxmlformats.org/officeDocument/2006/relationships/theme" Target="/ppt/slideMasters/theme/theme7.xml" Id="R05e2ffab790c4081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image" Target="/ppt/media/image.png" Id="Rab16bd551ffc4faf" /><Relationship Type="http://schemas.openxmlformats.org/officeDocument/2006/relationships/theme" Target="/ppt/slideMasters/theme/theme8.xml" Id="R565f5b02a9de4b00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image" Target="/ppt/media/image.png" Id="R930f4c72f39e47e2" /><Relationship Type="http://schemas.openxmlformats.org/officeDocument/2006/relationships/theme" Target="/ppt/slideMasters/theme/theme9.xml" Id="R3a90ef15d33e43c6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image" Target="/ppt/media/image.png" Id="Re17bc3dab77d4a3a" /><Relationship Type="http://schemas.openxmlformats.org/officeDocument/2006/relationships/theme" Target="/ppt/slideMasters/theme/theme10.xml" Id="R95d3dfafc64c4765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image" Target="/ppt/media/image.png" Id="R185490430655456f" /><Relationship Type="http://schemas.openxmlformats.org/officeDocument/2006/relationships/theme" Target="/ppt/slideMasters/theme/theme11.xml" Id="R702e4652161445f5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image" Target="/ppt/media/image.png" Id="R96f9443839324787" /><Relationship Type="http://schemas.openxmlformats.org/officeDocument/2006/relationships/theme" Target="/ppt/slideMasters/theme/theme12.xml" Id="Re7c0194b321f415f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image" Target="/ppt/media/image.png" Id="Re39a3e9e0b1e4e96" /><Relationship Type="http://schemas.openxmlformats.org/officeDocument/2006/relationships/theme" Target="/ppt/slideMasters/theme/theme13.xml" Id="R2f5701d4f5374210" /></Relationships>
</file>

<file path=ppt/slideMasters/_rels/slideMaster13.xml.rels>&#65279;<?xml version="1.0" encoding="utf-8"?><Relationships xmlns="http://schemas.openxmlformats.org/package/2006/relationships"><Relationship Type="http://schemas.openxmlformats.org/officeDocument/2006/relationships/image" Target="/ppt/media/image.png" Id="R7391bbaf29834d3f" /><Relationship Type="http://schemas.openxmlformats.org/officeDocument/2006/relationships/theme" Target="/ppt/slideMasters/theme/theme14.xml" Id="R812245a872634dea" /></Relationships>
</file>

<file path=ppt/slideMasters/_rels/slideMaster14.xml.rels>&#65279;<?xml version="1.0" encoding="utf-8"?><Relationships xmlns="http://schemas.openxmlformats.org/package/2006/relationships"><Relationship Type="http://schemas.openxmlformats.org/officeDocument/2006/relationships/image" Target="/ppt/media/image.png" Id="R334fe0d79dde4103" /><Relationship Type="http://schemas.openxmlformats.org/officeDocument/2006/relationships/theme" Target="/ppt/slideMasters/theme/theme15.xml" Id="Rc9a739a7d883425a" /><Relationship Type="http://schemas.openxmlformats.org/officeDocument/2006/relationships/slideLayout" Target="/ppt/slideLayouts/slideLayout1.xml" Id="Rc320b06500734ece" /></Relationships>
</file>

<file path=ppt/slideMasters/_rels/slideMaster15.xml.rels>&#65279;<?xml version="1.0" encoding="utf-8"?><Relationships xmlns="http://schemas.openxmlformats.org/package/2006/relationships"><Relationship Type="http://schemas.openxmlformats.org/officeDocument/2006/relationships/image" Target="/ppt/media/image2.png" Id="Rc3424d8d968c4012" /><Relationship Type="http://schemas.openxmlformats.org/officeDocument/2006/relationships/theme" Target="/ppt/slideMasters/theme/theme16.xml" Id="R208fe84ec8124c93" /><Relationship Type="http://schemas.openxmlformats.org/officeDocument/2006/relationships/slideLayout" Target="/ppt/slideLayouts/slideLayout2.xml" Id="Rd86026cabb924229" /></Relationships>
</file>

<file path=ppt/slideMasters/_rels/slideMaster16.xml.rels>&#65279;<?xml version="1.0" encoding="utf-8"?><Relationships xmlns="http://schemas.openxmlformats.org/package/2006/relationships"><Relationship Type="http://schemas.openxmlformats.org/officeDocument/2006/relationships/image" Target="/ppt/media/image.png" Id="Rcddefe5918724eff" /><Relationship Type="http://schemas.openxmlformats.org/officeDocument/2006/relationships/theme" Target="/ppt/slideMasters/theme/theme17.xml" Id="Re88d527d55af486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39459B6-CDC6-479C-8A20-39124B2C1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65DF7C2-49FB-4ECD-8648-06248820C4C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EDBC313-8921-4539-8E77-BBB59D2558C6}"/>
              </a:ext>
            </a:extLst>
          </p:cNvPr>
          <p:cNvSpPr>
            <a:spLocks xmlns:a="http://schemas.openxmlformats.org/drawingml/2006/main" noGrp="1"/>
          </p:cNvSpPr>
          <p:nvPr>
            <p:ph type="sldNum" idx="1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388147A-8D8F-45CA-9275-DF715E5F96E7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E052C96-29D7-4DE3-B988-7921306DA4C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4E4940-66FA-4F64-A0A6-84914037261F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CE7C1EF-EEB2-49CF-9966-07E7C34060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2">
            <a:extLst xmlns:a="http://schemas.openxmlformats.org/drawingml/2006/main">
              <a:ext uri="{FF2B5EF4-FFF2-40B4-BE49-F238E27FC236}">
                <a16:creationId xmlns:a16="http://schemas.microsoft.com/office/drawing/2014/main" id="{62259A62-255F-46BF-ABE8-62CD07CE93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1a066bd91482d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2128E76-B500-4CB4-92DB-71E29387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FD041DD-32B3-4E15-9DD9-AC9FE414B4A8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6EBEA99-C96A-4D0D-8868-7E6ADC94C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F66F9AC-CB16-4AAF-B31A-0412F6DADE7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89F099F-986D-4A3B-B4FA-679E389164E5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72B925D-2BE4-430C-951B-009C4D1FA01B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2E25037-A6A0-45C2-BEA2-ED14D8DFD93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2590560" y="633888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3E63AB7-63C1-4334-B587-EDEE4C154A67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71A8C36-55B5-4CBB-9234-D67EBAD73F36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>
            <a:extLst xmlns:a="http://schemas.openxmlformats.org/drawingml/2006/main">
              <a:ext uri="{FF2B5EF4-FFF2-40B4-BE49-F238E27FC236}">
                <a16:creationId xmlns:a16="http://schemas.microsoft.com/office/drawing/2014/main" id="{505886C6-006F-4D7B-BC69-3D36347ADD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95fde2c83401e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3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7FC6D85-9DD6-4079-855E-3DDB1D9C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A09AB24-F4C3-48CF-993F-7B6D6D85EA52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5B3AACE-8B52-4E90-9244-7A66DD15B8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FEA04AE-EF7D-4E9A-A704-BF8F324F1DD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2C21A2A-A17E-4F39-B584-1C433E3AB13D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48B9CE0-3FF5-4C09-AEFE-635DA5CF2857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9ACE81A-C8BF-4419-84A1-D1F64A09586F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1EEAB51-A007-43AD-B3ED-E01CB7B21F05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FD49AF7-72EA-4AC8-B039-6783F2691A1E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2">
            <a:extLst xmlns:a="http://schemas.openxmlformats.org/drawingml/2006/main">
              <a:ext uri="{FF2B5EF4-FFF2-40B4-BE49-F238E27FC236}">
                <a16:creationId xmlns:a16="http://schemas.microsoft.com/office/drawing/2014/main" id="{94BC1EE1-AC01-4346-BF58-08203FF72A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2f4f821644461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0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814A6B5-7934-4251-8C93-66EF305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123890E-C7D8-4766-AA54-B6E2139771FD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F5EB151-9A15-49B0-912B-EFE7FB303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4EF0C97-8B1D-456E-912C-1505AD10A77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2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BD95CD0-9B55-446C-94AE-A3068F99DC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9E2AF2C-7866-4B54-B91B-B67EF290981F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0876569-A039-473A-B1E5-14E3328CD7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DA29C3B-F96B-409F-8BA5-B37D6A24D0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CD47C53-6F26-4C2A-B6CD-D5638FB575C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2">
            <a:extLst xmlns:a="http://schemas.openxmlformats.org/drawingml/2006/main">
              <a:ext uri="{FF2B5EF4-FFF2-40B4-BE49-F238E27FC236}">
                <a16:creationId xmlns:a16="http://schemas.microsoft.com/office/drawing/2014/main" id="{A36A0113-A87F-4AC7-9B30-D7A748CEF1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caaca835e4159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7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86E88AC-FD03-4171-AD97-F6B888C9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C1BD30B-28A1-4C4D-9114-D1676A3DF211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4D9C7BD-A51E-4279-B246-E7CA2C099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2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976A3EE-6818-4DAF-8162-2601DAF3396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3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0124946-5ECC-4A05-917F-E71E1DFFCEFF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8671B73-7ED4-4A23-978F-959BBF7E3B7A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8A4A70B-5194-493E-B3E8-75AA836F8FFC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5587CEE-AB79-4A22-B5B9-2F0128600407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15C623F-B875-492A-9DC9-B52D81812EB3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Picture 2">
            <a:extLst xmlns:a="http://schemas.openxmlformats.org/drawingml/2006/main">
              <a:ext uri="{FF2B5EF4-FFF2-40B4-BE49-F238E27FC236}">
                <a16:creationId xmlns:a16="http://schemas.microsoft.com/office/drawing/2014/main" id="{E32FE87A-F666-439C-98F4-5F5ABE8C7A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cdd0264cb460a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79C2596-8A6B-49BD-BB78-317653DD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147397F-EAA3-4D65-952B-2484FB87D855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E23C2FA-26AE-4BD3-8CDA-55F7987A5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117A09C-91BA-4690-8E7A-86291AC2943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3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DADE356-5DD0-4EFE-B0E7-B2B5F2B7165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E0721E4-EC95-4102-A551-1D72627EB330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5ADDB26C-7514-42D5-9562-33130F764A9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A0B789F-05FB-4F7A-97F4-4A1EABE0208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D2C8B9D-8E00-42CB-B62F-5C6DB4AA989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Picture 2">
            <a:extLst xmlns:a="http://schemas.openxmlformats.org/drawingml/2006/main">
              <a:ext uri="{FF2B5EF4-FFF2-40B4-BE49-F238E27FC236}">
                <a16:creationId xmlns:a16="http://schemas.microsoft.com/office/drawing/2014/main" id="{7D2B48DE-B14E-47F3-82CE-D8647853A5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6bd551ffc4faf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1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C92D3D-C6A8-458B-B6A9-DC3F5BBC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3E7C04CF-B61C-4FC8-8BAE-FC3338F4CF69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0CA6E17-3284-4B71-AAAD-07D724688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4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277CCB6-7529-4C6F-BFD7-48773505643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4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5FC0207-4A51-4B62-80F6-10D7409ADFE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B82F50C-B1CB-4AFB-A289-0CBC97440549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AE9CCE6-8B3E-40C7-BCAC-1219B7207EFA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F0D83C8-1A31-4532-843C-67B3CB748FD4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AB18B6F-7D87-4EE1-AA17-A5CB9951BE00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Picture 2">
            <a:extLst xmlns:a="http://schemas.openxmlformats.org/drawingml/2006/main">
              <a:ext uri="{FF2B5EF4-FFF2-40B4-BE49-F238E27FC236}">
                <a16:creationId xmlns:a16="http://schemas.microsoft.com/office/drawing/2014/main" id="{DA7EBB58-3A18-4411-A4CD-2E543EE583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f4c72f39e47e2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8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054CBBD-D930-4C46-81A6-B76AD37D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AEE9729-0104-4C9C-95B7-9C49D8D4451B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F964A79-5C18-4416-8DF3-751DAD3DB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F75FADE-D865-4292-8A17-13EEAA44831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5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6AF524F-7CB4-4E58-A8B4-4E8C18A10559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4B7E31F-65AE-4FAD-93CB-FF89388DD5B2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21E5AFC-494B-41AE-8C32-A8B0874D3683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48D1D83-C6F6-4DA1-AF0F-F41B5511052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AF83CFA-0CEE-433F-BEA2-312250DBCC5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Picture 2">
            <a:extLst xmlns:a="http://schemas.openxmlformats.org/drawingml/2006/main">
              <a:ext uri="{FF2B5EF4-FFF2-40B4-BE49-F238E27FC236}">
                <a16:creationId xmlns:a16="http://schemas.microsoft.com/office/drawing/2014/main" id="{7EEDE5D6-00B7-430D-B7C1-799ECC3AD4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bc3dab77d4a3a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5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3682CFE-2607-40B7-8C74-ECB27A68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7AB0654-D5EA-44F8-B977-1CA2545CCDCB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CD471F-B7A5-4440-B998-F7E5145FE7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5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EB521C0-B3BF-4B9B-80D3-13E8285BD80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5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3418ACA-8EF5-455B-92C1-817B7A8E868E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6E68F2C-7F06-4F9B-A629-1D69D7E514F9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C56F8E3-F2C9-4E0F-9BCF-A93DE5948F5C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F7C594C-2F08-4ECF-8022-DDCA56FE51BE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2FA1B9F-B79D-420A-9720-EA8428D33899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Picture 2">
            <a:extLst xmlns:a="http://schemas.openxmlformats.org/drawingml/2006/main">
              <a:ext uri="{FF2B5EF4-FFF2-40B4-BE49-F238E27FC236}">
                <a16:creationId xmlns:a16="http://schemas.microsoft.com/office/drawing/2014/main" id="{B7167E29-AC55-4A21-9C45-3F2C3292B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490430655456f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2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CFB2CA-6D43-42E4-8112-7AEF0DF0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4CF96DA-1924-40C6-9275-C8BE2CE8D3B4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3258DD1-A180-478B-AA33-8BC8CB1E1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6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15412BD-4207-480F-9082-62870301AEE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6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D6E4677-FD82-4611-9475-F7DADAB53D60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E71D2E0-4425-4842-8CEB-360B753B4F29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28F8AB0-F20D-436F-921C-ACDB5537AB0A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C28A3CB-D2C0-4ECE-AB3F-7747C0A783E6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6610677-0B7F-4FDF-8056-18EE591D253F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Picture 2">
            <a:extLst xmlns:a="http://schemas.openxmlformats.org/drawingml/2006/main">
              <a:ext uri="{FF2B5EF4-FFF2-40B4-BE49-F238E27FC236}">
                <a16:creationId xmlns:a16="http://schemas.microsoft.com/office/drawing/2014/main" id="{33946357-0B08-4468-9C77-1DEAA1615A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9443839324787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05E6D4D-D023-4F3F-9914-6FFDFF8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D6ED539-CEF6-4318-9873-D6152B61F044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4B84127-F9B5-4912-B098-8A3CEB4DA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7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81D62E2-3A9A-4FAE-9DAD-94B821C59C3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7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6BE7BD3-0163-48C9-B748-EDFBF7F54A43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197E74F-7E91-4DC8-8788-209BD8CA7D43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1623208-F013-41EB-8168-931FB86F8CEF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FF0B53B-53E0-4396-9311-CA81CFD1BE51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5C171C4-6F2C-45E6-98A2-A8B9A1F609A0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Picture 2">
            <a:extLst xmlns:a="http://schemas.openxmlformats.org/drawingml/2006/main">
              <a:ext uri="{FF2B5EF4-FFF2-40B4-BE49-F238E27FC236}">
                <a16:creationId xmlns:a16="http://schemas.microsoft.com/office/drawing/2014/main" id="{6819C588-8EC0-4099-AD4A-AFB1B6041E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a3e9e0b1e4e96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6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7A14354-3B10-4600-B173-875B8BF9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3BADF6D-E864-4A5E-88B1-C40D7B087A09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E6D5462-EEFC-4AE4-9340-1EFE05AA0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7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3966938-4B07-498B-953C-2DDE4269D44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7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669E81E-B048-46B7-B2F0-E2B261E71D02}"/>
              </a:ext>
            </a:extLst>
          </p:cNvPr>
          <p:cNvSpPr>
            <a:spLocks xmlns:a="http://schemas.openxmlformats.org/drawingml/2006/main" noGrp="1"/>
          </p:cNvSpPr>
          <p:nvPr>
            <p:ph type="dt" idx="34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25829AF-D24A-4680-83CF-33B20E786423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27E532F-5DAF-4987-8B5D-890CC745D67A}"/>
              </a:ext>
            </a:extLst>
          </p:cNvPr>
          <p:cNvSpPr>
            <a:spLocks xmlns:a="http://schemas.openxmlformats.org/drawingml/2006/main" noGrp="1"/>
          </p:cNvSpPr>
          <p:nvPr>
            <p:ph type="ftr" idx="35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3747FEE-7EDC-4FCE-9DD9-D50B9D21766A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7EEAD98-8182-456F-BC42-0D7E8877C45E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Picture 2">
            <a:extLst xmlns:a="http://schemas.openxmlformats.org/drawingml/2006/main">
              <a:ext uri="{FF2B5EF4-FFF2-40B4-BE49-F238E27FC236}">
                <a16:creationId xmlns:a16="http://schemas.microsoft.com/office/drawing/2014/main" id="{9160E3B9-5EFF-4DCD-A800-E3F17B269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1bbaf29834d3f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3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B0E501C-E33E-4787-B137-D4452E0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F2F7CCA-E718-48A6-8D37-95DE15DF14C2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BDF4FDF-567E-4F5F-ACF4-FB72DAE65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8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8A07CDA-934F-4216-881D-E9E28516D8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8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96F7790-63CD-47FA-8373-717BDCB80064}"/>
              </a:ext>
            </a:extLst>
          </p:cNvPr>
          <p:cNvSpPr>
            <a:spLocks xmlns:a="http://schemas.openxmlformats.org/drawingml/2006/main" noGrp="1"/>
          </p:cNvSpPr>
          <p:nvPr>
            <p:ph type="dt" idx="37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3BAF32E-A72C-406C-A99E-C12A725AC0DD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864C2D6-D58A-4837-A7E9-8D4247BF7D80}"/>
              </a:ext>
            </a:extLst>
          </p:cNvPr>
          <p:cNvSpPr>
            <a:spLocks xmlns:a="http://schemas.openxmlformats.org/drawingml/2006/main" noGrp="1"/>
          </p:cNvSpPr>
          <p:nvPr>
            <p:ph type="ftr" idx="38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5BC6CBFA-E243-4228-BEFE-35CBBE81631E}"/>
              </a:ext>
            </a:extLst>
          </p:cNvPr>
          <p:cNvSpPr>
            <a:spLocks xmlns:a="http://schemas.openxmlformats.org/drawingml/2006/main" noGrp="1"/>
          </p:cNvSpPr>
          <p:nvPr>
            <p:ph type="sldNum" idx="39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CA383B8-0A95-4AA5-A463-417CD73EBB54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9" name="Picture 2">
            <a:extLst xmlns:a="http://schemas.openxmlformats.org/drawingml/2006/main">
              <a:ext uri="{FF2B5EF4-FFF2-40B4-BE49-F238E27FC236}">
                <a16:creationId xmlns:a16="http://schemas.microsoft.com/office/drawing/2014/main" id="{3A7FF776-62CA-4319-9C0B-A6F9A2D6C8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fe0d79dde4103"/>
          <a:stretch xmlns:a="http://schemas.openxmlformats.org/drawingml/2006/main"/>
        </p:blipFill>
        <p:spPr>
          <a:xfrm xmlns:a="http://schemas.openxmlformats.org/drawingml/2006/main">
            <a:off x="-533520" y="-504720"/>
            <a:ext cx="324972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0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64FB227-C7BC-4C34-8A20-01B42CDB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A7A70F6-B120-47C1-BD1B-A11124D94B3A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3E97BA4-C567-4517-9F8B-A02C57BCA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9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00DC91C-EC1B-423D-91ED-CE23C6584D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9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9FC0096-1655-4C76-9BF1-CC9BDAC9075B}"/>
              </a:ext>
            </a:extLst>
          </p:cNvPr>
          <p:cNvSpPr>
            <a:spLocks xmlns:a="http://schemas.openxmlformats.org/drawingml/2006/main" noGrp="1"/>
          </p:cNvSpPr>
          <p:nvPr>
            <p:ph type="dt" idx="40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17802FC-E8E5-4BA7-8D49-EB8055859912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EE72B6B-6857-4CA0-B92E-EE4ADC766BAD}"/>
              </a:ext>
            </a:extLst>
          </p:cNvPr>
          <p:cNvSpPr>
            <a:spLocks xmlns:a="http://schemas.openxmlformats.org/drawingml/2006/main" noGrp="1"/>
          </p:cNvSpPr>
          <p:nvPr>
            <p:ph type="ftr" idx="41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E5D29E3-F4A0-435C-9275-E5641FA27416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0D3BEB5-073E-4942-A1D5-E86410C40029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c320b06500734ec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6" name="Picture 4">
            <a:extLst xmlns:a="http://schemas.openxmlformats.org/drawingml/2006/main">
              <a:ext uri="{FF2B5EF4-FFF2-40B4-BE49-F238E27FC236}">
                <a16:creationId xmlns:a16="http://schemas.microsoft.com/office/drawing/2014/main" id="{ABFE7E17-D75C-400E-8E87-1A8AB3C620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24d8d968c4012"/>
          <a:stretch xmlns:a="http://schemas.openxmlformats.org/drawingml/2006/main"/>
        </p:blipFill>
        <p:spPr>
          <a:xfrm xmlns:a="http://schemas.openxmlformats.org/drawingml/2006/main">
            <a:off x="2567160" y="592200"/>
            <a:ext cx="7610400" cy="100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7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586E18B-0F94-441F-BF80-CF5C4B07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600" y="6356520"/>
            <a:ext cx="108108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6B4BB9A-7DA8-46F6-BA5F-D3279DA6E31F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36A4432-8D85-44FE-AF64-2D64EE614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9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0A2C065-BD58-4320-9B3D-0CA8C60BA14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0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50CBE7E-B553-4D43-86DD-C42C78E05633}"/>
              </a:ext>
            </a:extLst>
          </p:cNvPr>
          <p:cNvSpPr>
            <a:spLocks xmlns:a="http://schemas.openxmlformats.org/drawingml/2006/main" noGrp="1"/>
          </p:cNvSpPr>
          <p:nvPr>
            <p:ph type="dt" idx="43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BFF692-5B50-44EE-BE9B-D1C4B151D7DC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842A0F4-B51D-4BAE-816F-460A46B60DE8}"/>
              </a:ext>
            </a:extLst>
          </p:cNvPr>
          <p:cNvSpPr>
            <a:spLocks xmlns:a="http://schemas.openxmlformats.org/drawingml/2006/main" noGrp="1"/>
          </p:cNvSpPr>
          <p:nvPr>
            <p:ph type="ftr" idx="44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4A15517-DB71-40E4-B033-AEC523E4C067}"/>
              </a:ext>
            </a:extLst>
          </p:cNvPr>
          <p:cNvSpPr>
            <a:spLocks xmlns:a="http://schemas.openxmlformats.org/drawingml/2006/main" noGrp="1"/>
          </p:cNvSpPr>
          <p:nvPr>
            <p:ph type="sldNum" idx="45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AA01515-4EE7-4C36-828E-D54EA72C960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86026cabb92422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3" name="Picture 4">
            <a:extLst xmlns:a="http://schemas.openxmlformats.org/drawingml/2006/main">
              <a:ext uri="{FF2B5EF4-FFF2-40B4-BE49-F238E27FC236}">
                <a16:creationId xmlns:a16="http://schemas.microsoft.com/office/drawing/2014/main" id="{CAC122FE-6B81-49B1-AA9C-183D146FD1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efe5918724eff"/>
          <a:stretch xmlns:a="http://schemas.openxmlformats.org/drawingml/2006/main"/>
        </p:blipFill>
        <p:spPr>
          <a:xfrm xmlns:a="http://schemas.openxmlformats.org/drawingml/2006/main">
            <a:off x="-533520" y="-504720"/>
            <a:ext cx="324972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D2E585A-8F7E-40B9-AA4F-F7CD325A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600" y="6356520"/>
            <a:ext cx="108108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9DF2E4A-96BF-4E4D-8E93-11326B652BF5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F1BD43F-FDAF-465F-897D-BCCABA4456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10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D8C8520-EBAA-43E9-B361-916E0BE426E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0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EDC171E-BE93-4E34-B776-7205D88544FC}"/>
              </a:ext>
            </a:extLst>
          </p:cNvPr>
          <p:cNvSpPr>
            <a:spLocks xmlns:a="http://schemas.openxmlformats.org/drawingml/2006/main" noGrp="1"/>
          </p:cNvSpPr>
          <p:nvPr>
            <p:ph type="dt" idx="46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35A28DE-420D-4748-9789-73B84CD9CB1E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002B1B7-DE80-416F-8A8D-C3466B61117B}"/>
              </a:ext>
            </a:extLst>
          </p:cNvPr>
          <p:cNvSpPr>
            <a:spLocks xmlns:a="http://schemas.openxmlformats.org/drawingml/2006/main" noGrp="1"/>
          </p:cNvSpPr>
          <p:nvPr>
            <p:ph type="ftr" idx="47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E18D0D2-87F4-4D07-8959-095CC1F2F108}"/>
              </a:ext>
            </a:extLst>
          </p:cNvPr>
          <p:cNvSpPr>
            <a:spLocks xmlns:a="http://schemas.openxmlformats.org/drawingml/2006/main" noGrp="1"/>
          </p:cNvSpPr>
          <p:nvPr>
            <p:ph type="sldNum" idx="48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38A753B-7349-4B74-8C4A-4FBF64820C58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d2727239854de7" /><Relationship Type="http://schemas.openxmlformats.org/officeDocument/2006/relationships/notesSlide" Target="/ppt/notesSlides/notesSlide1.xml" Id="Rb9516eb8b8754b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54ae485874f2d" /><Relationship Type="http://schemas.openxmlformats.org/officeDocument/2006/relationships/notesSlide" Target="/ppt/notesSlides/notesSlide2.xml" Id="R25ceb7716af74d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53f34dc5447ee" /><Relationship Type="http://schemas.openxmlformats.org/officeDocument/2006/relationships/notesSlide" Target="/ppt/notesSlides/notesSlide3.xml" Id="R41bd79d93b7248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94e0f905e4220" /><Relationship Type="http://schemas.openxmlformats.org/officeDocument/2006/relationships/notesSlide" Target="/ppt/notesSlides/notesSlide4.xml" Id="R68506f6e5a2441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229f827664cc9" /><Relationship Type="http://schemas.openxmlformats.org/officeDocument/2006/relationships/notesSlide" Target="/ppt/notesSlides/notesSlide5.xml" Id="Refb00c062bf54c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caca0a00f4f5b" /><Relationship Type="http://schemas.openxmlformats.org/officeDocument/2006/relationships/notesSlide" Target="/ppt/notesSlides/notesSlide6.xml" Id="Rd2a090169d7640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de840f94145f8" /><Relationship Type="http://schemas.openxmlformats.org/officeDocument/2006/relationships/notesSlide" Target="/ppt/notesSlides/notesSlide7.xml" Id="R8bedfd00cc0b42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85368131945b2" /><Relationship Type="http://schemas.openxmlformats.org/officeDocument/2006/relationships/notesSlide" Target="/ppt/notesSlides/notesSlide8.xml" Id="R995b81b63ffa4c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1f919fd1a4417" /><Relationship Type="http://schemas.openxmlformats.org/officeDocument/2006/relationships/notesSlide" Target="/ppt/notesSlides/notesSlide9.xml" Id="R76415a0f05b149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a03c104fd4da6" /><Relationship Type="http://schemas.openxmlformats.org/officeDocument/2006/relationships/notesSlide" Target="/ppt/notesSlides/notesSlide10.xml" Id="Reec73208323147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56c9031694c27" /><Relationship Type="http://schemas.openxmlformats.org/officeDocument/2006/relationships/notesSlide" Target="/ppt/notesSlides/notesSlide11.xml" Id="R19db9218d80747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8c2db981e4c21" /><Relationship Type="http://schemas.openxmlformats.org/officeDocument/2006/relationships/notesSlide" Target="/ppt/notesSlides/notesSlide12.xml" Id="R7012f6e2107641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5232e06b0475f" /><Relationship Type="http://schemas.openxmlformats.org/officeDocument/2006/relationships/notesSlide" Target="/ppt/notesSlides/notesSlide13.xml" Id="R97196dc01bb543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c3086b562422f" /><Relationship Type="http://schemas.openxmlformats.org/officeDocument/2006/relationships/notesSlide" Target="/ppt/notesSlides/notesSlide14.xml" Id="R6af9747d1d1149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057e186464fdf" /><Relationship Type="http://schemas.openxmlformats.org/officeDocument/2006/relationships/notesSlide" Target="/ppt/notesSlides/notesSlide15.xml" Id="R5db61be1d90641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625a1f5ed460e" /><Relationship Type="http://schemas.openxmlformats.org/officeDocument/2006/relationships/notesSlide" Target="/ppt/notesSlides/notesSlide16.xml" Id="R617a82b3c618479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1058264a341dc" /><Relationship Type="http://schemas.openxmlformats.org/officeDocument/2006/relationships/image" Target="/ppt/media/image3.png" Id="Rbb52307ccc3f4d46" /><Relationship Type="http://schemas.openxmlformats.org/officeDocument/2006/relationships/notesSlide" Target="/ppt/notesSlides/notesSlide17.xml" Id="Rab43bc92ea8742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1ac3d2bc34f41" /><Relationship Type="http://schemas.openxmlformats.org/officeDocument/2006/relationships/image" Target="/ppt/media/image4.png" Id="Rd80060c9a76a4f7d" /><Relationship Type="http://schemas.openxmlformats.org/officeDocument/2006/relationships/notesSlide" Target="/ppt/notesSlides/notesSlide18.xml" Id="Racf80abad6774c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4de8a43d349ba" /><Relationship Type="http://schemas.openxmlformats.org/officeDocument/2006/relationships/notesSlide" Target="/ppt/notesSlides/notesSlide19.xml" Id="R3c51f6bea2f7473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99e97d1a3457a" /><Relationship Type="http://schemas.openxmlformats.org/officeDocument/2006/relationships/notesSlide" Target="/ppt/notesSlides/notesSlide20.xml" Id="R698a3e754a8e437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d57bb5d734a91" /><Relationship Type="http://schemas.openxmlformats.org/officeDocument/2006/relationships/notesSlide" Target="/ppt/notesSlides/notesSlide21.xml" Id="R97d4d8d2a9df45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Title 1">
            <a:extLst xmlns:a="http://schemas.openxmlformats.org/drawingml/2006/main">
              <a:ext uri="{FF2B5EF4-FFF2-40B4-BE49-F238E27FC236}">
                <a16:creationId xmlns:a16="http://schemas.microsoft.com/office/drawing/2014/main" id="{C36C30DC-4DD0-4191-9D36-FD1AD868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def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pPr>
            <a:r>
              <a:rPr sz="3000" b="1" strike="noStrike" spc="-1">
                <a:solidFill>
                  <a:srgbClr val="21409A"/>
                </a:solidFill>
                <a:latin typeface="Calibri"/>
                <a:ea typeface="Calibri"/>
                <a:cs typeface="Calibri"/>
              </a:rPr>
              <a:t>CampusAI: Intelligent Multi-Department</a:t>
            </a: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pPr>
            <a:r>
              <a:rPr sz="3000" b="1" strike="noStrike" spc="-1">
                <a:solidFill>
                  <a:srgbClr val="21409A"/>
                </a:solidFill>
                <a:latin typeface="Calibri"/>
                <a:ea typeface="Calibri"/>
                <a:cs typeface="Calibri"/>
              </a:rPr>
              <a:t>Academic Helpdesk</a:t>
            </a: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Subtitle 2">
            <a:extLst xmlns:a="http://schemas.openxmlformats.org/drawingml/2006/main">
              <a:ext uri="{FF2B5EF4-FFF2-40B4-BE49-F238E27FC236}">
                <a16:creationId xmlns:a16="http://schemas.microsoft.com/office/drawing/2014/main" id="{FA0AD77F-CD17-43F2-A471-C99386F0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14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>
            <a:def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Team Members: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V. Jaya Sai Krishna  (24B11CS514)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Y. Pavanputra  (24B11CS504)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K. Krishna Vardhan  (24B11CS237)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K. Mohan Vamsi Reddy  (24B11CS197)</a:t>
            </a:r>
          </a:p>
        </p:txBody>
      </p:sp>
    </p:spTree>
    <p:extLst>
      <p:ext uri="{BB962C8B-B14F-4D97-AF65-F5344CB8AC3E}">
        <p14:creationId xmlns:p14="http://schemas.microsoft.com/office/powerpoint/2010/main" val="1049233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Title 1">
            <a:extLst xmlns:a="http://schemas.openxmlformats.org/drawingml/2006/main">
              <a:ext uri="{FF2B5EF4-FFF2-40B4-BE49-F238E27FC236}">
                <a16:creationId xmlns:a16="http://schemas.microsoft.com/office/drawing/2014/main" id="{6A063689-AB34-43C5-8492-835CBD3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ubtitle 2">
            <a:extLst xmlns:a="http://schemas.openxmlformats.org/drawingml/2006/main">
              <a:ext uri="{FF2B5EF4-FFF2-40B4-BE49-F238E27FC236}">
                <a16:creationId xmlns:a16="http://schemas.microsoft.com/office/drawing/2014/main" id="{CC60B2AA-3FA0-4999-B217-6B2A1C2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232072B-DA50-4862-A423-9A7F5BDB7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006666"/>
                </a:solidFill>
                <a:latin typeface="Times New Roman"/>
                <a:ea typeface="Times New Roman"/>
                <a:cs typeface="Times New Roman"/>
              </a:rPr>
              <a:t>CONTENTS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F8DB15A-6438-4480-8F9A-7CA610E48CF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990360"/>
            <a:ext cx="10972800" cy="525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>
              <a:spcAft>
                <a:spcPts val="14"/>
              </a:spcAft>
              <a:buNone/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1. Introduction</a:t>
            </a:r>
          </a:p>
          <a:p xmlns:a="http://schemas.openxmlformats.org/drawingml/2006/main">
            <a:pPr marL="0" indent="0">
              <a:spcAft>
                <a:spcPts val="14"/>
              </a:spcAft>
              <a:buNone/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2. Problem Definition</a:t>
            </a:r>
          </a:p>
          <a:p xmlns:a="http://schemas.openxmlformats.org/drawingml/2006/main">
            <a:pPr marL="0" indent="0">
              <a:spcAft>
                <a:spcPts val="14"/>
              </a:spcAft>
              <a:buNone/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3. Proposed Solution</a:t>
            </a:r>
          </a:p>
          <a:p xmlns:a="http://schemas.openxmlformats.org/drawingml/2006/main">
            <a:pPr marL="0" indent="0">
              <a:spcAft>
                <a:spcPts val="14"/>
              </a:spcAft>
              <a:buNone/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4. Proposed Workflow</a:t>
            </a:r>
          </a:p>
          <a:p xmlns:a="http://schemas.openxmlformats.org/drawingml/2006/main">
            <a:pPr marL="0" indent="0">
              <a:spcAft>
                <a:spcPts val="14"/>
              </a:spcAft>
              <a:buNone/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5. Data Used</a:t>
            </a:r>
          </a:p>
          <a:p xmlns:a="http://schemas.openxmlformats.org/drawingml/2006/main">
            <a:pPr marL="0" indent="0">
              <a:spcAft>
                <a:spcPts val="14"/>
              </a:spcAft>
              <a:buNone/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6. Modules</a:t>
            </a:r>
          </a:p>
          <a:p xmlns:a="http://schemas.openxmlformats.org/drawingml/2006/main">
            <a:pPr marL="0" indent="0">
              <a:spcAft>
                <a:spcPts val="14"/>
              </a:spcAft>
              <a:buNone/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7. Core NLP and ML Algorithms</a:t>
            </a:r>
          </a:p>
          <a:p xmlns:a="http://schemas.openxmlformats.org/drawingml/2006/main">
            <a:pPr marL="0" indent="0">
              <a:spcAft>
                <a:spcPts val="14"/>
              </a:spcAft>
              <a:buNone/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8. Application Output</a:t>
            </a:r>
          </a:p>
          <a:p xmlns:a="http://schemas.openxmlformats.org/drawingml/2006/main">
            <a:pPr marL="0" indent="0">
              <a:spcAft>
                <a:spcPts val="14"/>
              </a:spcAft>
              <a:buNone/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9. Evaluation Results</a:t>
            </a:r>
          </a:p>
          <a:p xmlns:a="http://schemas.openxmlformats.org/drawingml/2006/main">
            <a:pPr marL="0" indent="0">
              <a:spcAft>
                <a:spcPts val="14"/>
              </a:spcAft>
              <a:buNone/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10. Conclusion and Future Scope</a:t>
            </a:r>
          </a:p>
        </p:txBody>
      </p:sp>
    </p:spTree>
    <p:extLst>
      <p:ext uri="{BB962C8B-B14F-4D97-AF65-F5344CB8AC3E}">
        <p14:creationId xmlns:p14="http://schemas.microsoft.com/office/powerpoint/2010/main" val="1436108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Title 1">
            <a:extLst xmlns:a="http://schemas.openxmlformats.org/drawingml/2006/main">
              <a:ext uri="{FF2B5EF4-FFF2-40B4-BE49-F238E27FC236}">
                <a16:creationId xmlns:a16="http://schemas.microsoft.com/office/drawing/2014/main" id="{F55A3750-B085-4B01-A03F-47E1D7C9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E08F5-E2FE-41FE-97EB-BDF333D1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C383718-D97C-4088-8A59-85CBD22A8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991588F-3BA0-4193-A178-464E3FA4495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92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overview: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CampusAI is an academic helpdesk for Aditya University. It interprets student questions and retrieves curriculum evidence with document and page references.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Application domain: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Natural Language Processing and Information Retrieval for B.Tech Curriculum 2024, Version 3.0, across eight engineering departments.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 needs: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can ask about course codes, credits, semester subjects, syllabus units, prerequisites, and academic regulations.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objective: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intent classification, exact database lookup, and hybrid document retrieval to make academic answers easier to find and verify.</a:t>
            </a:r>
          </a:p>
        </p:txBody>
      </p:sp>
    </p:spTree>
    <p:extLst>
      <p:ext uri="{BB962C8B-B14F-4D97-AF65-F5344CB8AC3E}">
        <p14:creationId xmlns:p14="http://schemas.microsoft.com/office/powerpoint/2010/main" val="1127449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Title 1">
            <a:extLst xmlns:a="http://schemas.openxmlformats.org/drawingml/2006/main">
              <a:ext uri="{FF2B5EF4-FFF2-40B4-BE49-F238E27FC236}">
                <a16:creationId xmlns:a16="http://schemas.microsoft.com/office/drawing/2014/main" id="{DC3DF5D5-F66B-4D29-B10A-D4069DBD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Subtitle 2">
            <a:extLst xmlns:a="http://schemas.openxmlformats.org/drawingml/2006/main">
              <a:ext uri="{FF2B5EF4-FFF2-40B4-BE49-F238E27FC236}">
                <a16:creationId xmlns:a16="http://schemas.microsoft.com/office/drawing/2014/main" id="{7075B857-8815-49AD-A169-9C59DA47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0BEF189-67F9-433D-A3FD-294A2C6B0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Problem Definition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2CB8BF5-6851-4439-AD73-6E3D21F8DB4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96908" y="141768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problem: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Academic information spans eight curriculum PDFs containing 6,502 pages. Students must identify the correct department, semester, and source page.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 difficulties: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Abbreviations, paraphrases, and Telugu-English queries can obscure intent. Similar course names also require department context.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Risk of incorrect answers: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Wrong credits, prerequisites, or semester details can mislead academic planning. A fluent answer alone does not establish accuracy.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Affected users: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seeking academic guidance and staff who repeatedly answer curriculum questions.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Required improvement: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Route factual questions to structured records and support descriptive answers with traceable evidence, clarification, or abstention.</a:t>
            </a:r>
          </a:p>
        </p:txBody>
      </p:sp>
    </p:spTree>
    <p:extLst>
      <p:ext uri="{BB962C8B-B14F-4D97-AF65-F5344CB8AC3E}">
        <p14:creationId xmlns:p14="http://schemas.microsoft.com/office/powerpoint/2010/main" val="695622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Title 1">
            <a:extLst xmlns:a="http://schemas.openxmlformats.org/drawingml/2006/main">
              <a:ext uri="{FF2B5EF4-FFF2-40B4-BE49-F238E27FC236}">
                <a16:creationId xmlns:a16="http://schemas.microsoft.com/office/drawing/2014/main" id="{4789B43B-0791-4A72-A69E-7C39E0A9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6215BF0-1DC6-4DA0-BB19-F56C3423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2630532-4A0A-4816-A433-6F087E10B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F127A2C-065B-43F7-A061-A3233068C25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92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 understanding: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Identify language, normalize academic terms, predict one of 30 intents, and extract course, department, semester, and unit entities.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Exact academic facts: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SQL retrieval for structured details such as course codes, credits, and semester offerings.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Syllabus and topic search: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BM25 keyword retrieval with dense semantic search, fuse rankings with RRF, and rerank candidate passages.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Evidence-based responses: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answers from retrieved content, attach document and page references, and request clarification when the query is ambiguous.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 application: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React and TypeScript interface connects to FastAPI for chat, course exploration, semester views, comparisons, and source viewing.</a:t>
            </a:r>
          </a:p>
        </p:txBody>
      </p:sp>
    </p:spTree>
    <p:extLst>
      <p:ext uri="{BB962C8B-B14F-4D97-AF65-F5344CB8AC3E}">
        <p14:creationId xmlns:p14="http://schemas.microsoft.com/office/powerpoint/2010/main" val="1488759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Title 1">
            <a:extLst xmlns:a="http://schemas.openxmlformats.org/drawingml/2006/main">
              <a:ext uri="{FF2B5EF4-FFF2-40B4-BE49-F238E27FC236}">
                <a16:creationId xmlns:a16="http://schemas.microsoft.com/office/drawing/2014/main" id="{23D9E2FA-B247-413D-A620-EAFFE46F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9232B3B-3770-402D-889B-5713885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495A24A-D3C1-48FF-A2E7-0D1862775E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Proposed Workflow (System Architecture)</a:t>
            </a:r>
            <a:endParaRPr sz="40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Rounded Rectangle 200">
            <a:extLst xmlns:a="http://schemas.openxmlformats.org/drawingml/2006/main">
              <a:ext uri="{FF2B5EF4-FFF2-40B4-BE49-F238E27FC236}">
                <a16:creationId xmlns:a16="http://schemas.microsoft.com/office/drawing/2014/main" id="{DFA0B314-CD18-4C2E-A3F8-D0B023C0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148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01" name="Rounded Rectangle 201">
            <a:extLst xmlns:a="http://schemas.openxmlformats.org/drawingml/2006/main">
              <a:ext uri="{FF2B5EF4-FFF2-40B4-BE49-F238E27FC236}">
                <a16:creationId xmlns:a16="http://schemas.microsoft.com/office/drawing/2014/main" id="{C0D9374D-08D0-44AF-829F-D0147670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148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Query Understanding</a:t>
            </a:r>
          </a:p>
        </p:txBody>
      </p:sp>
      <p:sp>
        <p:nvSpPr>
          <p:cNvPr id="202" name="TextBox 202">
            <a:extLst xmlns:a="http://schemas.openxmlformats.org/drawingml/2006/main">
              <a:ext uri="{FF2B5EF4-FFF2-40B4-BE49-F238E27FC236}">
                <a16:creationId xmlns:a16="http://schemas.microsoft.com/office/drawing/2014/main" id="{E307B832-4E28-42CB-943F-B0784A18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148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Detect language, normalize academic terms, extract entities, and resolve context from earlier questions.</a:t>
            </a:r>
          </a:p>
        </p:txBody>
      </p:sp>
      <p:sp>
        <p:nvSpPr>
          <p:cNvPr id="203" name="Rounded Rectangle 203">
            <a:extLst xmlns:a="http://schemas.openxmlformats.org/drawingml/2006/main">
              <a:ext uri="{FF2B5EF4-FFF2-40B4-BE49-F238E27FC236}">
                <a16:creationId xmlns:a16="http://schemas.microsoft.com/office/drawing/2014/main" id="{3188FC6B-096D-45B1-9190-C7D4D270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235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04" name="Rounded Rectangle 204">
            <a:extLst xmlns:a="http://schemas.openxmlformats.org/drawingml/2006/main">
              <a:ext uri="{FF2B5EF4-FFF2-40B4-BE49-F238E27FC236}">
                <a16:creationId xmlns:a16="http://schemas.microsoft.com/office/drawing/2014/main" id="{DE68C690-A6D2-43D7-8DD0-4170328C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235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Intent Classification</a:t>
            </a:r>
          </a:p>
        </p:txBody>
      </p:sp>
      <p:sp>
        <p:nvSpPr>
          <p:cNvPr id="205" name="TextBox 205">
            <a:extLst xmlns:a="http://schemas.openxmlformats.org/drawingml/2006/main">
              <a:ext uri="{FF2B5EF4-FFF2-40B4-BE49-F238E27FC236}">
                <a16:creationId xmlns:a16="http://schemas.microsoft.com/office/drawing/2014/main" id="{97AEF97C-6268-44D4-9968-7157EDA8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235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Word and character TF-IDF features feed a soft-voting ensemble that predicts one of 30 academic and conversational intents.</a:t>
            </a:r>
          </a:p>
        </p:txBody>
      </p:sp>
      <p:sp>
        <p:nvSpPr>
          <p:cNvPr id="206" name="Rounded Rectangle 206">
            <a:extLst xmlns:a="http://schemas.openxmlformats.org/drawingml/2006/main">
              <a:ext uri="{FF2B5EF4-FFF2-40B4-BE49-F238E27FC236}">
                <a16:creationId xmlns:a16="http://schemas.microsoft.com/office/drawing/2014/main" id="{EC8B5B63-C4E1-4736-BAC0-AAF07103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3220000"/>
            <a:ext cx="650000" cy="1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7" name="Rounded Rectangle 207">
            <a:extLst xmlns:a="http://schemas.openxmlformats.org/drawingml/2006/main">
              <a:ext uri="{FF2B5EF4-FFF2-40B4-BE49-F238E27FC236}">
                <a16:creationId xmlns:a16="http://schemas.microsoft.com/office/drawing/2014/main" id="{BF062EF9-E390-4E0C-8CC5-18D7B019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3220000"/>
            <a:ext cx="3000000" cy="1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 and Hybrid Retrieval</a:t>
            </a:r>
          </a:p>
        </p:txBody>
      </p:sp>
      <p:sp>
        <p:nvSpPr>
          <p:cNvPr id="208" name="TextBox 208">
            <a:extLst xmlns:a="http://schemas.openxmlformats.org/drawingml/2006/main">
              <a:ext uri="{FF2B5EF4-FFF2-40B4-BE49-F238E27FC236}">
                <a16:creationId xmlns:a16="http://schemas.microsoft.com/office/drawing/2014/main" id="{E8381F8D-927D-4075-A033-F19293F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3220000"/>
            <a:ext cx="705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Structured facts: 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 academic database records.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Document evidence: 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 BM25 and dense indices, combine results with Reciprocal Rank Fusion, and retain source metadata.</a:t>
            </a:r>
          </a:p>
        </p:txBody>
      </p:sp>
      <p:sp>
        <p:nvSpPr>
          <p:cNvPr id="209" name="Rounded Rectangle 209">
            <a:extLst xmlns:a="http://schemas.openxmlformats.org/drawingml/2006/main">
              <a:ext uri="{FF2B5EF4-FFF2-40B4-BE49-F238E27FC236}">
                <a16:creationId xmlns:a16="http://schemas.microsoft.com/office/drawing/2014/main" id="{315DDDB6-6442-4A02-B655-9D623A7E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453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0" name="Rounded Rectangle 210">
            <a:extLst xmlns:a="http://schemas.openxmlformats.org/drawingml/2006/main">
              <a:ext uri="{FF2B5EF4-FFF2-40B4-BE49-F238E27FC236}">
                <a16:creationId xmlns:a16="http://schemas.microsoft.com/office/drawing/2014/main" id="{10270606-AD00-454F-9894-FA594DC9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453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Ranking and Checks</a:t>
            </a:r>
          </a:p>
        </p:txBody>
      </p:sp>
      <p:sp>
        <p:nvSpPr>
          <p:cNvPr id="211" name="TextBox 211">
            <a:extLst xmlns:a="http://schemas.openxmlformats.org/drawingml/2006/main">
              <a:ext uri="{FF2B5EF4-FFF2-40B4-BE49-F238E27FC236}">
                <a16:creationId xmlns:a16="http://schemas.microsoft.com/office/drawing/2014/main" id="{1806EA6A-47EF-4836-99E5-E4D00676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453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Cross-encoder reranking prioritizes relevant passages. Citation checks and confidence rules support evidence selection.</a:t>
            </a:r>
          </a:p>
        </p:txBody>
      </p:sp>
      <p:sp>
        <p:nvSpPr>
          <p:cNvPr id="212" name="Rounded Rectangle 212">
            <a:extLst xmlns:a="http://schemas.openxmlformats.org/drawingml/2006/main">
              <a:ext uri="{FF2B5EF4-FFF2-40B4-BE49-F238E27FC236}">
                <a16:creationId xmlns:a16="http://schemas.microsoft.com/office/drawing/2014/main" id="{EEC7B0DC-F354-4DD5-BCF2-A3B81AF6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540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13" name="Rounded Rectangle 213">
            <a:extLst xmlns:a="http://schemas.openxmlformats.org/drawingml/2006/main">
              <a:ext uri="{FF2B5EF4-FFF2-40B4-BE49-F238E27FC236}">
                <a16:creationId xmlns:a16="http://schemas.microsoft.com/office/drawing/2014/main" id="{8383A2D6-9B29-4E90-AD02-746E682C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540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 and Source Display</a:t>
            </a:r>
          </a:p>
        </p:txBody>
      </p:sp>
      <p:sp>
        <p:nvSpPr>
          <p:cNvPr id="214" name="TextBox 214">
            <a:extLst xmlns:a="http://schemas.openxmlformats.org/drawingml/2006/main">
              <a:ext uri="{FF2B5EF4-FFF2-40B4-BE49-F238E27FC236}">
                <a16:creationId xmlns:a16="http://schemas.microsoft.com/office/drawing/2014/main" id="{2142C25C-1A59-48D6-9F0C-C236F167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540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Return an answer with document and page references, ask for clarification, or report that sufficient evidence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725826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itle 1">
            <a:extLst xmlns:a="http://schemas.openxmlformats.org/drawingml/2006/main">
              <a:ext uri="{FF2B5EF4-FFF2-40B4-BE49-F238E27FC236}">
                <a16:creationId xmlns:a16="http://schemas.microsoft.com/office/drawing/2014/main" id="{808BCBD3-78ED-4743-B1E2-6F61A33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Subtitle 2">
            <a:extLst xmlns:a="http://schemas.openxmlformats.org/drawingml/2006/main">
              <a:ext uri="{FF2B5EF4-FFF2-40B4-BE49-F238E27FC236}">
                <a16:creationId xmlns:a16="http://schemas.microsoft.com/office/drawing/2014/main" id="{3CE2D669-8F88-483B-B1DA-C3F3A50B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B4E3F02-9E99-451A-8551-A6B4944A0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Data Used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A919D85-8A8A-46F5-A203-AA43190E6D1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09480" y="150657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Official source corpus: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Eight Aditya University B.Tech Curriculum 2024 PDFs, Version 3.0, covering 6,502 pages.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 coverage: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CSE, CSE-DS, IT, ECE, EEE, Civil Engineering, Mining Engineering, and Petroleum Technology.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Structured academic catalog: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569 registered courses, 583 syllabus units, and 1,273 textbook references.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Intent dataset: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1,201 labeled queries across 30 classes. Fields include query, intent, domain, language, course, department, semester, and unit.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 and evaluation: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stratified 80/20 split gives 960 training and 241 test queries. Separate stratified five-fold cross-validation estimates model stability.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formats: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PDF source documents, a CSV query dataset, JSON metadata and indices, and a relational academic database.</a:t>
            </a:r>
          </a:p>
        </p:txBody>
      </p:sp>
    </p:spTree>
    <p:extLst>
      <p:ext uri="{BB962C8B-B14F-4D97-AF65-F5344CB8AC3E}">
        <p14:creationId xmlns:p14="http://schemas.microsoft.com/office/powerpoint/2010/main" val="2043933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Title 1">
            <a:extLst xmlns:a="http://schemas.openxmlformats.org/drawingml/2006/main">
              <a:ext uri="{FF2B5EF4-FFF2-40B4-BE49-F238E27FC236}">
                <a16:creationId xmlns:a16="http://schemas.microsoft.com/office/drawing/2014/main" id="{F9666332-10AC-4AD5-8D2B-8D9D4A59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Subtitle 2">
            <a:extLst xmlns:a="http://schemas.openxmlformats.org/drawingml/2006/main">
              <a:ext uri="{FF2B5EF4-FFF2-40B4-BE49-F238E27FC236}">
                <a16:creationId xmlns:a16="http://schemas.microsoft.com/office/drawing/2014/main" id="{DBA9D6A9-6A29-4B13-86FD-08609D43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8EB0E9-60FC-4B5D-A2B6-CF5C25328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520"/>
            <a:ext cx="10972800" cy="87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Modules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6C1B353-245C-4716-BE97-A4EE5158408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56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Text Preprocessing and Query Understanding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Normalize case, punctuation, and whitespace while preserving course codes, academic acronyms, and Telugu text. Extract entities and handle follow-up or multi-intent questions.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Intent Classification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word and character TF-IDF features with calibrated Linear SVM, Logistic Regression, and Complement Naive Bayes. Confidence and alternative intents support query routing.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Retrieval, Grounding, and Application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Retrieve exact facts through SQL and descriptive evidence through hybrid search. The RAG layer adds citations, while the web app provides chat, course exploration, comparisons, and PDF source viewing.</a:t>
            </a:r>
          </a:p>
        </p:txBody>
      </p:sp>
    </p:spTree>
    <p:extLst>
      <p:ext uri="{BB962C8B-B14F-4D97-AF65-F5344CB8AC3E}">
        <p14:creationId xmlns:p14="http://schemas.microsoft.com/office/powerpoint/2010/main" val="1196370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519D4C6-7A06-4F7A-A315-68FE523B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NLP Query Understanding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897D688-FB9F-4CB3-8FE4-8F7286E2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1. Language and text normalization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584CBA2-4B45-4EF3-9B35-F27CE5B5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Recognize English, Telugu, or mixed queries. Normalize case, punctuation, and whitespace while preserving course codes and academic abbreviations. Lemmatization is optional when language resources are available.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18014C6-599E-49A7-90A3-1A16B5DD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2. Academic entity extraction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7135A5E-368A-435D-AF6E-A8D03DCD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Identify the course, department, semester, and unit independently of intent. For “Explain Unit 3 of Operating Systems in CSE,” the entities specify which syllabus content to retrieve.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2EC12B4-037A-493F-AF0A-606921A0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3. Context and ambiguity handling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E585127-DFE9-4E1E-82B3-6DFAD1A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earlier turns to interpret follow-up questions. Ask for clarification when an abbreviation has multiple meanings, and decompose requests that ask for more than one type of academic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3BB3721-CE02-4B08-8C80-9C5E6897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TF-IDF Feature Extraction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4D1E3EB-D72E-4EDD-92E7-2A8D6B80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Word features: phrases of one to three words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E915D5D-AC14-42A5-81B5-4489ABE4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Word n-grams preserve expressions such as “course credits” and “semester total credits.” TF-IDF reduces the influence of frequent terms and gives more weight to terms that distinguish queries.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CB7F51A-27B3-45F9-AD4E-E32F9DD3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Character features: sequences of two to five characters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E2FA9F3-5DCA-4F0C-89E1-B02783CB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Character n-grams capture fragments within word boundaries. They provide additional signals for spelling variations and related word forms when exact full-word matches differ.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9FBB0F0-F443-4B7C-BA91-940ACB7F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FeatureUnion: one input for all classifiers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5F86280-80ED-4E2C-848E-65770278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pipeline concatenates word and character TF-IDF vectors. Sublinear term frequency reduces the effect of repeated terms. All three classifiers receive this same sparse feature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B7852BE-0F3B-4DEC-861D-408C64E5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Linear SVM Classifier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1CA3B69-2DFA-4C38-B7C0-71006023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How it classifies a query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87E3D2D-CADD-4FDE-BC2E-FAB19A68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 SVM learns separating boundaries between intent classes in TF-IDF feature space. Its margin-based objective balances class separation against training errors.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8A6FCC5-14C1-4767-9C17-754C95D3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Why calibration is required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B0D8F67-99BF-46CF-8E2E-B9465D42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LinearSVC produces decision scores rather than native probabilities. Three-fold probability calibration converts these scores into estimates that can participate in soft voting.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E2211AA-BD24-4F50-B906-E073F342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CampusAI configuration and role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5ACC03C-F7FD-4972-B8C8-D5D28F07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project uses C = 1.5, squared-hinge loss, and L2 regularization. The calibrated SVM receives two of the ensemble’s five weight units. Its standalone accuracy has not been separately reported.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F67DCF0-51B9-44F7-A873-3D9D1E41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Logistic Regression and NB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B8B02D1-49AA-429E-87E3-1B577800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Logistic Regression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8EB83DE-F874-4C09-BA04-3485608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Learns a weighted relationship between TF-IDF features and each intent. It produces class probabilities directly for the ensemble.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5C61651-26B7-4E70-A6E9-950C1C48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Balanced class weights give rarer classes more influence during training. The project uses C = 5.0, the lbfgs solver, and up to 1,000 iterations.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2028A8F-27CC-4B28-9C24-5A5C2110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rPr>
              <a:t>Voting weight: 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CDCA74A-1780-48B6-81CC-C6DCDB9B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76375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Complement Naive Bayes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FB4BB8F-0CED-4570-8B18-FEBDBB41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28825"/>
            <a:ext cx="5124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Uses feature statistics from the other classes to score an intent. It offers a different statistical approach to sparse text classification.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C0E942E-BB7C-466D-B147-7BC351CF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5124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Smoothing reduces the effect of unseen features. CampusAI sets alpha = 0.3 and enables weight normalization with norm = True.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6F78F5D-8B50-477F-9D30-42C17829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76850"/>
            <a:ext cx="512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rPr>
              <a:t>Voting weight: 1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C8F69E5-0C27-4DA2-958E-B044A695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Soft-Voting Ensemble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0543015-E464-4922-93AA-F48AF7B7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Weighted probability combination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A9AF2CA-DA76-405C-AD5E-B029A886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 each intent, the ensemble combines calibrated SVM, Logistic Regression, and Complement Naive Bayes probabilities. The final intent has the highest combined score.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31B0935-0258-4A6B-A114-ED82EEC3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Voting rule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C8D88B3-6C3E-493F-92C5-B67BF0EA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Combined score = (2 × SVM probability + 2 × LR probability + NB probability) / 5. The weights are project settings, not the result of a reported model-comparison study.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C77843C-BB04-4BAA-A7FC-A5DE254B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Illustrative calculation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153142D-5CDE-47E8-A1B8-EAF883C4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the three probabilities for course_credits are 0.80, 0.70, and 0.60, its combined score is 0.72. This explains the voting rule; it is not a measured prediction.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8D82D17-D2C0-4BE0-B5E0-ED82BC8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The 30 Intent Classes</a:t>
            </a:r>
          </a:p>
        </p:txBody>
      </p:sp>
      <p:graphicFrame>
        <p:nvGraphicFrame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64CD012-1D08-4FF2-ABA3-60C1924694CA}"/>
              </a:ext>
            </a:extLst>
          </p:cNvPr>
          <p:cNvGraphicFramePr/>
          <p:nvPr/>
        </p:nvGraphicFramePr>
        <p:xfrm>
          <a:off xmlns:a="http://schemas.openxmlformats.org/drawingml/2006/main" x="704850" y="1428750"/>
          <a:ext xmlns:a="http://schemas.openxmlformats.org/drawingml/2006/main" cx="107823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047750"/>
                <a:gridCol w="7162800"/>
              </a:tblGrid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Intent family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Count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Classes covered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information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Code, credits, category, L-T-P-C, outcomes, prerequisites, full syllabus, textbooks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planning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comparison, degree credits, electives, honours/minors, minor streams, minor courses, semester subjects, semester credits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Rules and regulations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Attendance, grading, internships, promotion, curriculum version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University information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calendar, admissions, exam timetable, institutional leadership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Syllabus detail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Unit syllabus, laboratory experiments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Conversation and scope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Greeting, thanks, out-of-scope queries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B69B5F4-2C6F-45B6-A411-66DAA6E6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Families group the existing labels for explanation. The classifier predicts one of the 30 individual intents.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8949602-909B-44ED-B8E5-E7C7216C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Hybrid Retrieval Algorithms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1F0CF22-2C64-48C0-B286-C2C6FB7E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BM25: match specific academic terms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646F286-4DCD-4ADE-A0D9-6F3814EC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Sparse retrieval scores keyword relevance using term frequency, inverse document frequency, and document length. Exact course names and codes provide useful lexical signals.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C267AEE-C8CF-4A24-B2CC-A9C51409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MiniLM: match semantic meaning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3B2D66F-60AA-4841-8328-A67C3DD8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all-MiniLM-L6-v2 maps queries and document chunks to 384-dimensional vectors. Cosine similarity ranks passages by vector similarity, helping match related wording.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6072294-C1A4-4104-817B-701F14A5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Reciprocal Rank Fusion: combine both lists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87599F3-B50F-404A-8BEC-C0166F88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RRF adds each passage’s contribution from its rank in each result list: weight / (60 + rank). A passage appearing near the top of both lists receives a stronger combined score.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DFBA672-B090-43A5-9589-58BAD795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Reranking and Grounding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F6CD9F2-ECB9-4C67-92D9-19B728B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Cross-encoder reranking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2E16699-BCED-4A16-972B-57415D4D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reranker scores each query and candidate passage together, then selects the highest-ranked evidence. CampusAI uses a MiniLM cross-encoder with a lexical fallback if the model is unavailable.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848D301-9D9A-4EED-815C-78B7B462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Exact lookup and answer generation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7064838-6125-4FAE-A745-1C409ED4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Structured questions use SQL academic records. Descriptive questions use retrieved passages as context for the answer generator. This separates factual lookup from free-text synthesis.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B3CE2AC-26A5-4A11-95DB-EF6D76A2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Citation checks and response boundaries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483F472-E937-43BB-B4F4-05AF0A44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Checks validate source identifiers, page numbers, and mentioned course codes. Missing evidence can trigger abstention or clarification. These checks improve traceability but do not prove every answer claim is correct.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9896B3E-6B17-41E0-90DC-9AEEC538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Output: Academic Chat</a:t>
            </a:r>
          </a:p>
        </p:txBody>
      </p:sp>
      <p:pic>
        <p:nvPic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65853F5-27C3-4A43-83B0-DEE5975509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2307ccc3f4d46"/>
          <a:srcRect xmlns:a="http://schemas.openxmlformats.org/drawingml/2006/main" l="32000" t="16000" r="15000" b="39000"/>
          <a:stretch xmlns:a="http://schemas.openxmlformats.org/drawingml/2006/main"/>
        </p:blipFill>
        <p:spPr>
          <a:xfrm xmlns:a="http://schemas.openxmlformats.org/drawingml/2006/main">
            <a:off x="619125" y="1466850"/>
            <a:ext cx="7600950" cy="4476750"/>
          </a:xfrm>
          <a:prstGeom xmlns:a="http://schemas.openxmlformats.org/drawingml/2006/main" prst="rect">
            <a:avLst/>
          </a:prstGeom>
        </p:spPr>
      </p:pic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9D55014-8F6E-41F0-B26B-BEAA3793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525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Question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FAF0A2D-262D-4CEF-B9E9-B9CAF759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71675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student asks for Operating Systems credits in CSE.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AD526E9-AD5E-45B9-B5AA-A1A735C1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19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Returned output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D8B6956-D94B-4656-9EA2-8AF4D0B2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257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 details, a document ID, and a page reference accompany the answer.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DBF70F7-7192-4CA5-8980-42F4D0E9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Recorded application demo. The source reference supports inspection of the returned academic details.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DF7FAEE-5CD8-4D79-8C48-DB433F5C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Output: Source Inspection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14F5021-B9D4-4F24-82A4-2DC7EC08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rPr>
              <a:t>Original curriculum page: Semester III</a:t>
            </a:r>
          </a:p>
        </p:txBody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AE4B245-671E-427F-A4CF-9D202AD796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060c9a76a4f7d"/>
          <a:srcRect xmlns:a="http://schemas.openxmlformats.org/drawingml/2006/main" l="31500" t="23500" r="31500" b="48400"/>
          <a:stretch xmlns:a="http://schemas.openxmlformats.org/drawingml/2006/main"/>
        </p:blipFill>
        <p:spPr>
          <a:xfrm xmlns:a="http://schemas.openxmlformats.org/drawingml/2006/main">
            <a:off x="704850" y="2047875"/>
            <a:ext cx="6858000" cy="3619500"/>
          </a:xfrm>
          <a:prstGeom xmlns:a="http://schemas.openxmlformats.org/drawingml/2006/main" prst="rect">
            <a:avLst/>
          </a:prstGeom>
        </p:spPr>
      </p:pic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C4481CD-926E-4F10-927E-792AADDA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906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Visible source context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D9A04FE-98F5-4CDB-B7A8-15F39307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66925"/>
            <a:ext cx="3476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linked document opens at page 29. This enlarged excerpt shows its Semester III course table.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8C97DB7-4E7F-4E5D-9E8D-019E5FCB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Verification workflow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E0238EC-9E35-4B25-8161-053D814D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3476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student can inspect the curriculum table and compare the cited course record with the answer.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372B78C-1C8D-4E19-A7D6-3ECB5E8E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Recorded application demo. Page references make source checking possible; users should verify disputed details.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9332A6D-E0DA-4DA3-9150-078272B2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Results: Overall Performance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9F39B11-A7A1-4EC3-A6CD-FD210485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1078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rPr>
              <a:t>1,201 labeled queries    30 intents    960 train / 241 test</a:t>
            </a:r>
          </a:p>
        </p:txBody>
      </p:sp>
      <p:graphicFrame>
        <p:nvGraphicFrame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B698169-CC6E-402B-A5DE-F8846595EE05}"/>
              </a:ext>
            </a:extLst>
          </p:cNvPr>
          <p:cNvGraphicFramePr/>
          <p:nvPr/>
        </p:nvGraphicFramePr>
        <p:xfrm>
          <a:off xmlns:a="http://schemas.openxmlformats.org/drawingml/2006/main" x="704850" y="1990725"/>
          <a:ext xmlns:a="http://schemas.openxmlformats.org/drawingml/2006/main" cx="107823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238375"/>
                <a:gridCol w="5543550"/>
              </a:tblGrid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Metric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Recorded result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Top-1 accuracy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96.27%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232 of 241 test queries classified correctly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Top-3 accuracy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99.17%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Correct intent among the top three for 239 queries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 F1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0.9196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Each intent receives equal weight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Weighted F1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0.9614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Each intent contributes according to test support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Five-fold CV accuracy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96.00% ± 1.17 pp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accuracy and standard deviation across folds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D879F75-56C9-4CC7-8B9F-50601315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Saved evaluation from 22 October 2026. Scores describe intent classification on the project dataset.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923B158-3FA5-4EE5-A5DA-6065B92A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Results: Performance by Intent</a:t>
            </a:r>
          </a:p>
        </p:txBody>
      </p:sp>
      <p:graphicFrame>
        <p:nvGraphicFrame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744CE5B-C863-477E-BFDB-EB3F03B22F30}"/>
              </a:ext>
            </a:extLst>
          </p:cNvPr>
          <p:cNvGraphicFramePr/>
          <p:nvPr/>
        </p:nvGraphicFramePr>
        <p:xfrm>
          <a:off xmlns:a="http://schemas.openxmlformats.org/drawingml/2006/main" x="704850" y="1466850"/>
          <a:ext xmlns:a="http://schemas.openxmlformats.org/drawingml/2006/main" cx="107823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381125"/>
                <a:gridCol w="1381125"/>
                <a:gridCol w="4781550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Selected intent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queries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 score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Interpretation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Unit syllabus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46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Largest test class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Semester subjects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Strong on this test set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Full syllabus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0.9677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precision and recall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credits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0.9600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Some missed credit queries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Admission information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0.5714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more varied examples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Institutional leadership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0.6667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Very small test support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Out-of-scope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0.4000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Priority for improvement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E6AC9E1-F219-41F5-A96D-EEF0A61A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Small class sizes limit confidence. A separate student-query test set is needed to assess real-world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Title 1">
            <a:extLst xmlns:a="http://schemas.openxmlformats.org/drawingml/2006/main">
              <a:ext uri="{FF2B5EF4-FFF2-40B4-BE49-F238E27FC236}">
                <a16:creationId xmlns:a16="http://schemas.microsoft.com/office/drawing/2014/main" id="{77E4A1AA-4ED7-43F6-9B68-B3EB9AE6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0648C2-C9E1-4917-964B-D6349E38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58A3B53-0FF9-49F9-BEEE-11C8BB4F8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CF1B939-8AC2-410C-931C-383407894F0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92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CampusAI integrates NLP query understanding, structured academic lookup, and hybrid evidence retrieval for eight departments. The latest intent classifier reaches 96.27% accuracy on the held-out project test set.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Current Limitations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Coverage centres on Curriculum 2024, Version 3.0. The test set is small for some intents, and out-of-scope detection has an F1 score of 0.40. Retrieval relevance and answer correctness need independent evaluation.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Collect student queries across languages, strengthen low-performing intents, and evaluate retrieval against human relevance labels. Expand verified curriculum coverage and connect approved live academic notices.</a:t>
            </a:r>
          </a:p>
        </p:txBody>
      </p:sp>
    </p:spTree>
    <p:extLst>
      <p:ext uri="{BB962C8B-B14F-4D97-AF65-F5344CB8AC3E}">
        <p14:creationId xmlns:p14="http://schemas.microsoft.com/office/powerpoint/2010/main" val="743461151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2026-10-24T14:08:47.0470000Z</dcterms:created>
  <dcterms:modified xsi:type="dcterms:W3CDTF">2026-10-24T14:08:47.0470000Z</dcterms:modified>
</coreProperties>
</file>