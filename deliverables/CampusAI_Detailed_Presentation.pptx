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Masters/slideMaster5.xml" ContentType="application/vnd.openxmlformats-officedocument.presentationml.slideMaster+xml"/>
  <Override PartName="/ppt/slideMasters/theme/theme6.xml" ContentType="application/vnd.openxmlformats-officedocument.theme+xml"/>
  <Override PartName="/ppt/slideMasters/slideMaster6.xml" ContentType="application/vnd.openxmlformats-officedocument.presentationml.slideMaster+xml"/>
  <Override PartName="/ppt/slideMasters/theme/theme7.xml" ContentType="application/vnd.openxmlformats-officedocument.theme+xml"/>
  <Override PartName="/ppt/slideMasters/slideMaster7.xml" ContentType="application/vnd.openxmlformats-officedocument.presentationml.slideMaster+xml"/>
  <Override PartName="/ppt/slideMasters/theme/theme8.xml" ContentType="application/vnd.openxmlformats-officedocument.theme+xml"/>
  <Override PartName="/ppt/slideMasters/slideMaster8.xml" ContentType="application/vnd.openxmlformats-officedocument.presentationml.slideMaster+xml"/>
  <Override PartName="/ppt/slideMasters/theme/theme9.xml" ContentType="application/vnd.openxmlformats-officedocument.theme+xml"/>
  <Override PartName="/ppt/slideMasters/slideMaster9.xml" ContentType="application/vnd.openxmlformats-officedocument.presentationml.slideMaster+xml"/>
  <Override PartName="/ppt/slideMasters/theme/theme10.xml" ContentType="application/vnd.openxmlformats-officedocument.theme+xml"/>
  <Override PartName="/ppt/slideMasters/slideMaster10.xml" ContentType="application/vnd.openxmlformats-officedocument.presentationml.slideMaster+xml"/>
  <Override PartName="/ppt/slideMasters/theme/theme11.xml" ContentType="application/vnd.openxmlformats-officedocument.theme+xml"/>
  <Override PartName="/ppt/slideMasters/slideMaster11.xml" ContentType="application/vnd.openxmlformats-officedocument.presentationml.slideMaster+xml"/>
  <Override PartName="/ppt/slideMasters/theme/theme12.xml" ContentType="application/vnd.openxmlformats-officedocument.theme+xml"/>
  <Override PartName="/ppt/slideMasters/slideMaster12.xml" ContentType="application/vnd.openxmlformats-officedocument.presentationml.slideMaster+xml"/>
  <Override PartName="/ppt/slideMasters/theme/theme13.xml" ContentType="application/vnd.openxmlformats-officedocument.theme+xml"/>
  <Override PartName="/ppt/slideMasters/slideMaster13.xml" ContentType="application/vnd.openxmlformats-officedocument.presentationml.slideMaster+xml"/>
  <Override PartName="/ppt/slideMasters/theme/theme14.xml" ContentType="application/vnd.openxmlformats-officedocument.theme+xml"/>
  <Override PartName="/ppt/slideMasters/slideMaster14.xml" ContentType="application/vnd.openxmlformats-officedocument.presentationml.slideMaster+xml"/>
  <Override PartName="/ppt/slideMasters/theme/theme15.xml" ContentType="application/vnd.openxmlformats-officedocument.theme+xml"/>
  <Override PartName="/ppt/slideMasters/slideMaster15.xml" ContentType="application/vnd.openxmlformats-officedocument.presentationml.slideMaster+xml"/>
  <Override PartName="/ppt/slideMasters/theme/theme16.xml" ContentType="application/vnd.openxmlformats-officedocument.theme+xml"/>
  <Override PartName="/ppt/slideMasters/slideMaster16.xml" ContentType="application/vnd.openxmlformats-officedocument.presentationml.slideMaster+xml"/>
  <Override PartName="/ppt/slideMasters/theme/theme17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18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21404f25204534" /><Relationship Type="http://schemas.openxmlformats.org/officeDocument/2006/relationships/extended-properties" Target="/docProps/app.xml" Id="Ra691b564a4664cab" /><Relationship Type="http://schemas.openxmlformats.org/officeDocument/2006/relationships/officeDocument" Target="/ppt/presentation.xml" Id="R384956b2ba6a43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02fa9c86d04d10"/>
    <p:sldMasterId xmlns:r="http://schemas.openxmlformats.org/officeDocument/2006/relationships" id="2147483649" r:id="R46bb07c0a07e477e"/>
    <p:sldMasterId xmlns:r="http://schemas.openxmlformats.org/officeDocument/2006/relationships" id="2147483650" r:id="R54b04cc960f14168"/>
    <p:sldMasterId xmlns:r="http://schemas.openxmlformats.org/officeDocument/2006/relationships" id="2147483651" r:id="R1f342c938ce84d8e"/>
    <p:sldMasterId xmlns:r="http://schemas.openxmlformats.org/officeDocument/2006/relationships" id="2147483652" r:id="Rc458a242b4984a4e"/>
    <p:sldMasterId xmlns:r="http://schemas.openxmlformats.org/officeDocument/2006/relationships" id="2147483653" r:id="Rde82b8e48be84b3d"/>
    <p:sldMasterId xmlns:r="http://schemas.openxmlformats.org/officeDocument/2006/relationships" id="2147483654" r:id="R60f54bd4d05a405c"/>
    <p:sldMasterId xmlns:r="http://schemas.openxmlformats.org/officeDocument/2006/relationships" id="2147483655" r:id="Rd1115127d539492f"/>
    <p:sldMasterId xmlns:r="http://schemas.openxmlformats.org/officeDocument/2006/relationships" id="2147483656" r:id="R76fb9711c1874aaa"/>
    <p:sldMasterId xmlns:r="http://schemas.openxmlformats.org/officeDocument/2006/relationships" id="2147483657" r:id="R434d7387b41140de"/>
    <p:sldMasterId xmlns:r="http://schemas.openxmlformats.org/officeDocument/2006/relationships" id="2147483658" r:id="R1e3831df980d4684"/>
    <p:sldMasterId xmlns:r="http://schemas.openxmlformats.org/officeDocument/2006/relationships" id="2147483659" r:id="R728ab98d81bf4a89"/>
    <p:sldMasterId xmlns:r="http://schemas.openxmlformats.org/officeDocument/2006/relationships" id="2147483660" r:id="R353429a940374892"/>
    <p:sldMasterId xmlns:r="http://schemas.openxmlformats.org/officeDocument/2006/relationships" id="2147483661" r:id="R1c4a714e8cc4408a"/>
    <p:sldMasterId xmlns:r="http://schemas.openxmlformats.org/officeDocument/2006/relationships" id="2147483663" r:id="R2049ea3527204ba5"/>
    <p:sldMasterId xmlns:r="http://schemas.openxmlformats.org/officeDocument/2006/relationships" id="2147483665" r:id="R4a35c10075da4742"/>
  </p:sldMasterIdLst>
  <p:notesMasterIdLst>
    <p:notesMasterId xmlns:r="http://schemas.openxmlformats.org/officeDocument/2006/relationships" r:id="R1c5cfc939ec14e95"/>
  </p:notesMasterIdLst>
  <p:sldIdLst>
    <p:sldId xmlns:r="http://schemas.openxmlformats.org/officeDocument/2006/relationships" id="256" r:id="Reb206f1411c548c1"/>
    <p:sldId xmlns:r="http://schemas.openxmlformats.org/officeDocument/2006/relationships" id="257" r:id="R25a189ca35fb4b86"/>
    <p:sldId xmlns:r="http://schemas.openxmlformats.org/officeDocument/2006/relationships" id="258" r:id="R002e8139c9bc4c59"/>
    <p:sldId xmlns:r="http://schemas.openxmlformats.org/officeDocument/2006/relationships" id="259" r:id="R100dd8874f874873"/>
    <p:sldId xmlns:r="http://schemas.openxmlformats.org/officeDocument/2006/relationships" id="260" r:id="R958ff28ab2e6459a"/>
    <p:sldId xmlns:r="http://schemas.openxmlformats.org/officeDocument/2006/relationships" id="261" r:id="R2498d2eda7f246b8"/>
    <p:sldId xmlns:r="http://schemas.openxmlformats.org/officeDocument/2006/relationships" id="262" r:id="Rad5e3fab1f04415a"/>
    <p:sldId xmlns:r="http://schemas.openxmlformats.org/officeDocument/2006/relationships" id="263" r:id="R40a39e659229499e"/>
    <p:sldId xmlns:r="http://schemas.openxmlformats.org/officeDocument/2006/relationships" id="264" r:id="R19afb7ca3a514ad0"/>
    <p:sldId xmlns:r="http://schemas.openxmlformats.org/officeDocument/2006/relationships" id="265" r:id="R801ea7d654d949dd"/>
    <p:sldId xmlns:r="http://schemas.openxmlformats.org/officeDocument/2006/relationships" id="266" r:id="R328ef97bef964bf8"/>
    <p:sldId xmlns:r="http://schemas.openxmlformats.org/officeDocument/2006/relationships" id="267" r:id="R236aa172d6b241d0"/>
    <p:sldId xmlns:r="http://schemas.openxmlformats.org/officeDocument/2006/relationships" id="268" r:id="R7a501fec1301420c"/>
    <p:sldId xmlns:r="http://schemas.openxmlformats.org/officeDocument/2006/relationships" id="269" r:id="Rb07b6f5f2a4c4d05"/>
    <p:sldId xmlns:r="http://schemas.openxmlformats.org/officeDocument/2006/relationships" id="270" r:id="R758b075ae9af4fdc"/>
    <p:sldId xmlns:r="http://schemas.openxmlformats.org/officeDocument/2006/relationships" id="271" r:id="Rcb92c7f138524af2"/>
    <p:sldId xmlns:r="http://schemas.openxmlformats.org/officeDocument/2006/relationships" id="272" r:id="R3f93d7c163cc415d"/>
    <p:sldId xmlns:r="http://schemas.openxmlformats.org/officeDocument/2006/relationships" id="273" r:id="Ra4967babdad14b71"/>
    <p:sldId xmlns:r="http://schemas.openxmlformats.org/officeDocument/2006/relationships" id="274" r:id="R6057f359118847c0"/>
    <p:sldId xmlns:r="http://schemas.openxmlformats.org/officeDocument/2006/relationships" id="275" r:id="R11b1cbb4763a4bab"/>
    <p:sldId xmlns:r="http://schemas.openxmlformats.org/officeDocument/2006/relationships" id="276" r:id="R2d47891da0f442db"/>
  </p:sldIdLst>
  <p:sldSz cx="12193588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a4d46f846b4955" /><Relationship Type="http://schemas.openxmlformats.org/officeDocument/2006/relationships/slideMaster" Target="/ppt/slideMasters/slideMaster1.xml" Id="R8e02fa9c86d04d10" /><Relationship Type="http://schemas.openxmlformats.org/officeDocument/2006/relationships/slideMaster" Target="/ppt/slideMasters/slideMaster2.xml" Id="R46bb07c0a07e477e" /><Relationship Type="http://schemas.openxmlformats.org/officeDocument/2006/relationships/slideMaster" Target="/ppt/slideMasters/slideMaster3.xml" Id="R54b04cc960f14168" /><Relationship Type="http://schemas.openxmlformats.org/officeDocument/2006/relationships/slideMaster" Target="/ppt/slideMasters/slideMaster4.xml" Id="R1f342c938ce84d8e" /><Relationship Type="http://schemas.openxmlformats.org/officeDocument/2006/relationships/slideMaster" Target="/ppt/slideMasters/slideMaster5.xml" Id="Rc458a242b4984a4e" /><Relationship Type="http://schemas.openxmlformats.org/officeDocument/2006/relationships/slideMaster" Target="/ppt/slideMasters/slideMaster6.xml" Id="Rde82b8e48be84b3d" /><Relationship Type="http://schemas.openxmlformats.org/officeDocument/2006/relationships/slideMaster" Target="/ppt/slideMasters/slideMaster7.xml" Id="R60f54bd4d05a405c" /><Relationship Type="http://schemas.openxmlformats.org/officeDocument/2006/relationships/slideMaster" Target="/ppt/slideMasters/slideMaster8.xml" Id="Rd1115127d539492f" /><Relationship Type="http://schemas.openxmlformats.org/officeDocument/2006/relationships/slideMaster" Target="/ppt/slideMasters/slideMaster9.xml" Id="R76fb9711c1874aaa" /><Relationship Type="http://schemas.openxmlformats.org/officeDocument/2006/relationships/slideMaster" Target="/ppt/slideMasters/slideMaster10.xml" Id="R434d7387b41140de" /><Relationship Type="http://schemas.openxmlformats.org/officeDocument/2006/relationships/slideMaster" Target="/ppt/slideMasters/slideMaster11.xml" Id="R1e3831df980d4684" /><Relationship Type="http://schemas.openxmlformats.org/officeDocument/2006/relationships/slideMaster" Target="/ppt/slideMasters/slideMaster12.xml" Id="R728ab98d81bf4a89" /><Relationship Type="http://schemas.openxmlformats.org/officeDocument/2006/relationships/slideMaster" Target="/ppt/slideMasters/slideMaster13.xml" Id="R353429a940374892" /><Relationship Type="http://schemas.openxmlformats.org/officeDocument/2006/relationships/slideMaster" Target="/ppt/slideMasters/slideMaster14.xml" Id="R1c4a714e8cc4408a" /><Relationship Type="http://schemas.openxmlformats.org/officeDocument/2006/relationships/slideMaster" Target="/ppt/slideMasters/slideMaster15.xml" Id="R2049ea3527204ba5" /><Relationship Type="http://schemas.openxmlformats.org/officeDocument/2006/relationships/slideMaster" Target="/ppt/slideMasters/slideMaster16.xml" Id="R4a35c10075da4742" /><Relationship Type="http://schemas.openxmlformats.org/officeDocument/2006/relationships/notesMaster" Target="/ppt/notesMasters/notesMaster1.xml" Id="R1c5cfc939ec14e95" /><Relationship Type="http://schemas.openxmlformats.org/officeDocument/2006/relationships/presProps" Target="/ppt/presProps.xml" Id="R201f5a370af449ae" /><Relationship Type="http://schemas.openxmlformats.org/officeDocument/2006/relationships/viewProps" Target="/ppt/viewProps.xml" Id="R97aac2f2c77e4cea" /><Relationship Type="http://schemas.openxmlformats.org/officeDocument/2006/relationships/tableStyles" Target="/ppt/tableStyles.xml" Id="Rb0f7a1919f954b06" /><Relationship Type="http://schemas.openxmlformats.org/officeDocument/2006/relationships/slide" Target="/ppt/slides/slide1.xml" Id="Reb206f1411c548c1" /><Relationship Type="http://schemas.openxmlformats.org/officeDocument/2006/relationships/slide" Target="/ppt/slides/slide2.xml" Id="R25a189ca35fb4b86" /><Relationship Type="http://schemas.openxmlformats.org/officeDocument/2006/relationships/slide" Target="/ppt/slides/slide3.xml" Id="R002e8139c9bc4c59" /><Relationship Type="http://schemas.openxmlformats.org/officeDocument/2006/relationships/slide" Target="/ppt/slides/slide4.xml" Id="R100dd8874f874873" /><Relationship Type="http://schemas.openxmlformats.org/officeDocument/2006/relationships/slide" Target="/ppt/slides/slide5.xml" Id="R958ff28ab2e6459a" /><Relationship Type="http://schemas.openxmlformats.org/officeDocument/2006/relationships/slide" Target="/ppt/slides/slide6.xml" Id="R2498d2eda7f246b8" /><Relationship Type="http://schemas.openxmlformats.org/officeDocument/2006/relationships/slide" Target="/ppt/slides/slide7.xml" Id="Rad5e3fab1f04415a" /><Relationship Type="http://schemas.openxmlformats.org/officeDocument/2006/relationships/slide" Target="/ppt/slides/slide8.xml" Id="R40a39e659229499e" /><Relationship Type="http://schemas.openxmlformats.org/officeDocument/2006/relationships/slide" Target="/ppt/slides/slide9.xml" Id="R19afb7ca3a514ad0" /><Relationship Type="http://schemas.openxmlformats.org/officeDocument/2006/relationships/slide" Target="/ppt/slides/slide10.xml" Id="R801ea7d654d949dd" /><Relationship Type="http://schemas.openxmlformats.org/officeDocument/2006/relationships/slide" Target="/ppt/slides/slide11.xml" Id="R328ef97bef964bf8" /><Relationship Type="http://schemas.openxmlformats.org/officeDocument/2006/relationships/slide" Target="/ppt/slides/slide12.xml" Id="R236aa172d6b241d0" /><Relationship Type="http://schemas.openxmlformats.org/officeDocument/2006/relationships/slide" Target="/ppt/slides/slide13.xml" Id="R7a501fec1301420c" /><Relationship Type="http://schemas.openxmlformats.org/officeDocument/2006/relationships/slide" Target="/ppt/slides/slide14.xml" Id="Rb07b6f5f2a4c4d05" /><Relationship Type="http://schemas.openxmlformats.org/officeDocument/2006/relationships/slide" Target="/ppt/slides/slide15.xml" Id="R758b075ae9af4fdc" /><Relationship Type="http://schemas.openxmlformats.org/officeDocument/2006/relationships/slide" Target="/ppt/slides/slide16.xml" Id="Rcb92c7f138524af2" /><Relationship Type="http://schemas.openxmlformats.org/officeDocument/2006/relationships/slide" Target="/ppt/slides/slide17.xml" Id="R3f93d7c163cc415d" /><Relationship Type="http://schemas.openxmlformats.org/officeDocument/2006/relationships/slide" Target="/ppt/slides/slide18.xml" Id="Ra4967babdad14b71" /><Relationship Type="http://schemas.openxmlformats.org/officeDocument/2006/relationships/slide" Target="/ppt/slides/slide19.xml" Id="R6057f359118847c0" /><Relationship Type="http://schemas.openxmlformats.org/officeDocument/2006/relationships/slide" Target="/ppt/slides/slide20.xml" Id="R11b1cbb4763a4bab" /><Relationship Type="http://schemas.openxmlformats.org/officeDocument/2006/relationships/slide" Target="/ppt/slides/slide21.xml" Id="R2d47891da0f442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8.xml" Id="R0c170409036949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18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8a46809475473c" /><Relationship Type="http://schemas.openxmlformats.org/officeDocument/2006/relationships/notesMaster" Target="/ppt/notesMasters/notesMaster1.xml" Id="Rab61add325c242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f6051e2b6144af" /><Relationship Type="http://schemas.openxmlformats.org/officeDocument/2006/relationships/notesMaster" Target="/ppt/notesMasters/notesMaster1.xml" Id="R621744a77edf49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93b9f5ae214d80" /><Relationship Type="http://schemas.openxmlformats.org/officeDocument/2006/relationships/notesMaster" Target="/ppt/notesMasters/notesMaster1.xml" Id="R83044cd729954f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975920f71e4175" /><Relationship Type="http://schemas.openxmlformats.org/officeDocument/2006/relationships/notesMaster" Target="/ppt/notesMasters/notesMaster1.xml" Id="R8acf35f70bc542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b07bdb04064572" /><Relationship Type="http://schemas.openxmlformats.org/officeDocument/2006/relationships/notesMaster" Target="/ppt/notesMasters/notesMaster1.xml" Id="Rd1eed7a147de42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b2f31aed8343cf" /><Relationship Type="http://schemas.openxmlformats.org/officeDocument/2006/relationships/notesMaster" Target="/ppt/notesMasters/notesMaster1.xml" Id="Rdf70ec01c00048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9c9453d16242cc" /><Relationship Type="http://schemas.openxmlformats.org/officeDocument/2006/relationships/notesMaster" Target="/ppt/notesMasters/notesMaster1.xml" Id="R2d61a40af37648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c5ada8924c4c33" /><Relationship Type="http://schemas.openxmlformats.org/officeDocument/2006/relationships/notesMaster" Target="/ppt/notesMasters/notesMaster1.xml" Id="R3579ba8d179a44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6468fc714c4d9b" /><Relationship Type="http://schemas.openxmlformats.org/officeDocument/2006/relationships/notesMaster" Target="/ppt/notesMasters/notesMaster1.xml" Id="R56f9c8af531642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41dd507455463a" /><Relationship Type="http://schemas.openxmlformats.org/officeDocument/2006/relationships/notesMaster" Target="/ppt/notesMasters/notesMaster1.xml" Id="Rb107108c6bed4e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03c29d1dd44724" /><Relationship Type="http://schemas.openxmlformats.org/officeDocument/2006/relationships/notesMaster" Target="/ppt/notesMasters/notesMaster1.xml" Id="Ra6c2f077ea304c7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87d4e09bb774c40" /><Relationship Type="http://schemas.openxmlformats.org/officeDocument/2006/relationships/notesMaster" Target="/ppt/notesMasters/notesMaster1.xml" Id="R8506902d4843455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512459aa0424f42" /><Relationship Type="http://schemas.openxmlformats.org/officeDocument/2006/relationships/notesMaster" Target="/ppt/notesMasters/notesMaster1.xml" Id="Re1cb7870bce84e9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8d1490b42f84682" /><Relationship Type="http://schemas.openxmlformats.org/officeDocument/2006/relationships/notesMaster" Target="/ppt/notesMasters/notesMaster1.xml" Id="Rbb14a86c887547d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4a956359a964742" /><Relationship Type="http://schemas.openxmlformats.org/officeDocument/2006/relationships/notesMaster" Target="/ppt/notesMasters/notesMaster1.xml" Id="R682fdd19dd10433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797f736209a4cca" /><Relationship Type="http://schemas.openxmlformats.org/officeDocument/2006/relationships/notesMaster" Target="/ppt/notesMasters/notesMaster1.xml" Id="R37cb73ba51c2411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6628abd9b0d4af2" /><Relationship Type="http://schemas.openxmlformats.org/officeDocument/2006/relationships/notesMaster" Target="/ppt/notesMasters/notesMaster1.xml" Id="R25e4839add0d445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af0ba2b80a94044" /><Relationship Type="http://schemas.openxmlformats.org/officeDocument/2006/relationships/notesMaster" Target="/ppt/notesMasters/notesMaster1.xml" Id="Rc1ac94eb569342c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ab4d6cd7d4f4612" /><Relationship Type="http://schemas.openxmlformats.org/officeDocument/2006/relationships/notesMaster" Target="/ppt/notesMasters/notesMaster1.xml" Id="R0aeb2d85652541a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052be8fae884faf" /><Relationship Type="http://schemas.openxmlformats.org/officeDocument/2006/relationships/notesMaster" Target="/ppt/notesMasters/notesMaster1.xml" Id="Rdcf0763fbbba48d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b80d401f0a7440b" /><Relationship Type="http://schemas.openxmlformats.org/officeDocument/2006/relationships/notesMaster" Target="/ppt/notesMasters/notesMaster1.xml" Id="Rc6220440b9d746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CampusAI project presentation. Project name and scope: backend/config.py and README.md. Team names and IDs retained from the supplied CampusNLP_updated.pptx.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The presentation follows the supplied template section order. Modules covers text preprocessing, intent classification, and semantic retrieval and grounding.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Sources: backend/config.py, backend/rag/generator.py, data/structured/resource_catalog.json. Scope: B.Tech Curriculum 2024 Version 3.0.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Sources: data/manifests/source_quality_report.json, backend/nlp/entity_extractor.py, backend/nlp/coreference.py. Corpus counts are manifest values.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Sources: backend/nlp/intent_classifier.py, scripts/train_intent_model.py, backend/rag/retriever.py, backend/rag/generator.py, frontend/src. Capabilities describe implemented components, not guarantees of answer correctness.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backend/nlp/preprocessing.py, backend/nlp/normalizer.py, backend/nlp/entity_extractor.py, backend/rag/retriever.py, backend/rag/reranker.py, backend/rag/generator.py, backend/rag/citation_verifier.py. Reranking and LLM behavior depend on runtime configuration.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Sources: data/manifests/source_quality_report.json (8 PDFs, 6,502 pages), data/structured/resource_catalog.json (catalog counts), data/aditya_university_queries.csv (1,201 rows, 30 intents), scripts/train_intent_model.py (stratified 20% test split, random seed 42), reports/classification_report.txt (241 test samples). The remaining 960 queries form the training split. Cross-validation runs separately over the full dataset. Counts replace the older synthetic CampusFAQ-50K figures in the template.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Sources: backend/nlp/preprocessing.py, scripts/train_intent_model.py, backend/nlp/intent_classifier.py, backend/rag/retriever.py, backend/rag/generator.py, frontend/src. Stopword removal defaults to disabled. Lemmatization is conditional on available NLTK resources.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Sources: backend/nlp/preprocessing.py, backend/nlp/normalizer.py, backend/nlp/entity_extractor.py, backend/nlp/coreference.py, backend/nlp/multi_intent.py. Example illustrates parsing and does not assert a new model prediction.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Sources: scripts/train_intent_model.py and https://scikit-learn.org/stable/modules/generated/sklearn.feature_extraction.text.TfidfVectorizer.html. The character analyzer is char_wb; sublinear_tf=True. This is feature extraction for intent classification, separate from dense retrieval embeddings.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Sources: scripts/train_intent_model.py; https://scikit-learn.org/stable/modules/calibration and https://scikit-learn.org/stable/modules/generated/sklearn.calibration.CalibratedClassifierCV.html. LinearSVC C=1.5, squared_hinge loss, L2 penalty; CalibratedClassifierCV cv=3. No individual SVM benchmark is reported.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Sources: scripts/train_intent_model.py; https://scikit-learn.org/stable/modules/generated/sklearn.linear_model.LogisticRegression.html; https://scikit-learn.org/stable/modules/generated/sklearn.naive_bayes.ComplementNB.html. LR uses C=5, lbfgs, max_iter=1000, class_weight=balanced. ComplementNB uses alpha=0.3 and norm=True. No standalone comparative scores are available.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Sources: scripts/train_intent_model.py; https://scikit-learn.org/stable/modules/generated/sklearn.ensemble.VotingClassifier.html. The arithmetic illustration is hypothetical and not an observed model output. Confidence is not a probability of end-to-end answer correctness.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Source: reports/model_metrics.json classes array. The six families below are explanatory groupings for the presentation, not a new learned hierarchy. All 30 class labels are represented in readable form.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Sources: backend/rag/retriever.py, backend/rag/embeddings.py, data/structured/resource_catalog.json. reciprocal_rank_fusion uses k=60 and rank positions starting at 1. The embedding model and fallback behavior depend on runtime availability.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Sources: backend/rag/reranker.py, backend/rag/citation_verifier.py, backend/rag/prompt_builder.py, backend/rag/generator.py, backend/database/sql_retriever.py. CitationVerifier checks document IDs, positive page numbers, and mentioned course codes; it does not prove every claim is entailed by a source. Reranker uses lexical fallback if model loading or inference fails.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Source screenshot: frontend/qa/screenshots/chat-answer-desktop.png, captured by frontend/qa/verify.mjs from an earlier application UI. This is recorded application output, not a fresh execution. The returned fields and citation demonstrate behavior, not independent factual verification. Screenshot retains the original content.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Source screenshot: frontend/qa/screenshots/source-desktop.png. Recorded earlier application UI. The original PDF shown is page 29 of the CSE Data Science curriculum document. The screenshot documents a PDF viewer interaction, not a fresh validation of all returned facts.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Sources: reports/model_metrics.json, saved 2026-10-22 08:09:45 UTC; reports/classification_report.txt; scripts/train_intent_model.py. 1,201 samples, 960 train, 241 test, stratified split, seed 42. 232/241 = 96.26556%, 239/241 = 99.17012%, inferred integer counts agree with rounded reported scores. CV runs independently over the full dataset. Retrieval constants from backend/evaluation/benchmark_runner.py are excluded.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t>Source: reports/classification_report.txt, saved 2026-10-22. Selected categories show high-support strengths and lower-performing small classes. These are not all 30 intents. Support is held-out test sample count. No model-to-model improvement claim is made.</a:t>
            </a:r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reports/classification_report.txt (out_of_scope F1 0.4000 with support 3; admission_information F1 0.5714 with support 4), docs/LIMITATIONS.md, backend/evaluation/benchmark_runner.py. Future work is proposed work. The project dataset may not represent real student query distributions, and the current split is not an independently collected student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4.xml" Id="R06429779b5a84cf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5.xml" Id="R33ab51a3d5814e5f" /></Relationships>
</file>

<file path=ppt/slideLayouts/slideLayout1.xml><?xml version="1.0" encoding="utf-8"?>
<p:sldLayout xmlns:p="http://schemas.openxmlformats.org/presentationml/2006/main" type="blank" preserve="1">
  <p:cSld name="Title1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FD7C2B8-75F9-4930-A293-E33D50872BBB}"/>
              </a:ext>
            </a:extLst>
          </p:cNvPr>
          <p:cNvSpPr>
            <a:spLocks xmlns:a="http://schemas.openxmlformats.org/drawingml/2006/main" noGrp="1"/>
          </p:cNvSpPr>
          <p:nvPr>
            <p:ph type="ftr" idx="4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Footer</a:t>
            </a: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3D7AE374-229B-4272-B9EB-BB3832D8A5A4}"/>
              </a:ext>
            </a:extLst>
          </p:cNvPr>
          <p:cNvSpPr>
            <a:spLocks xmlns:a="http://schemas.openxmlformats.org/drawingml/2006/main" noGrp="1"/>
          </p:cNvSpPr>
          <p:nvPr>
            <p:ph type="sldNum" idx="4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8032AE1-E181-4279-8F49-E20E4ACDFFF7}" type="slidenum">
              <a:t>‹#›</a:t>
            </a:fld>
            <a:endParaRPr/>
          </a:p>
        </p:txBody>
      </p:sp>
      <p:sp>
        <p:nvSpPr>
          <p:cNvPr id="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5C8C76E7-2C1E-4B67-AA74-38144346572A}"/>
              </a:ext>
            </a:extLst>
          </p:cNvPr>
          <p:cNvSpPr>
            <a:spLocks xmlns:a="http://schemas.openxmlformats.org/drawingml/2006/main" noGrp="1"/>
          </p:cNvSpPr>
          <p:nvPr>
            <p:ph type="dt" idx="4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blank" preserve="1">
  <p:cSld name="Title1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6AFB3A91-4A01-41B1-8AD0-A2B0F952AACE}"/>
              </a:ext>
            </a:extLst>
          </p:cNvPr>
          <p:cNvSpPr>
            <a:spLocks xmlns:a="http://schemas.openxmlformats.org/drawingml/2006/main" noGrp="1"/>
          </p:cNvSpPr>
          <p:nvPr>
            <p:ph type="ftr" idx="4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Footer</a:t>
            </a:r>
          </a:p>
        </p:txBody>
      </p:sp>
      <p:sp>
        <p:nvSpPr>
          <p:cNvPr id="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684CAFA-C7D5-4C24-9BB8-3B19EBBABD7E}"/>
              </a:ext>
            </a:extLst>
          </p:cNvPr>
          <p:cNvSpPr>
            <a:spLocks xmlns:a="http://schemas.openxmlformats.org/drawingml/2006/main" noGrp="1"/>
          </p:cNvSpPr>
          <p:nvPr>
            <p:ph type="sldNum" idx="4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1F0CFD9-DF3D-47EF-B835-BC322E6F7557}" type="slidenum">
              <a:t>‹#›</a:t>
            </a:fld>
            <a:endParaRPr/>
          </a:p>
        </p:txBody>
      </p:sp>
      <p:sp>
        <p:nvSpPr>
          <p:cNvPr id="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62859AD0-5814-4D4E-AFAF-C9A149CF5E35}"/>
              </a:ext>
            </a:extLst>
          </p:cNvPr>
          <p:cNvSpPr>
            <a:spLocks xmlns:a="http://schemas.openxmlformats.org/drawingml/2006/main" noGrp="1"/>
          </p:cNvSpPr>
          <p:nvPr>
            <p:ph type="dt" idx="4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d9fabefef34cb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80d573b3b029417a" /><Relationship Type="http://schemas.openxmlformats.org/officeDocument/2006/relationships/theme" Target="/ppt/slideMasters/theme/theme3.xml" Id="R65e6fbee933b42a7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image" Target="/ppt/media/image.png" Id="Rcec51ea853594be2" /><Relationship Type="http://schemas.openxmlformats.org/officeDocument/2006/relationships/theme" Target="/ppt/slideMasters/theme/theme4.xml" Id="R4f3098c898a64ae7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image" Target="/ppt/media/image.png" Id="Rad10f73588b44aa7" /><Relationship Type="http://schemas.openxmlformats.org/officeDocument/2006/relationships/theme" Target="/ppt/slideMasters/theme/theme5.xml" Id="R2571a6a4051b44e8" /></Relationships>
</file>

<file path=ppt/slideMasters/_rels/slideMaster5.xml.rels>&#65279;<?xml version="1.0" encoding="utf-8"?><Relationships xmlns="http://schemas.openxmlformats.org/package/2006/relationships"><Relationship Type="http://schemas.openxmlformats.org/officeDocument/2006/relationships/image" Target="/ppt/media/image.png" Id="Rce52b975a930490a" /><Relationship Type="http://schemas.openxmlformats.org/officeDocument/2006/relationships/theme" Target="/ppt/slideMasters/theme/theme6.xml" Id="Rc05531ded1fc4211" /></Relationships>
</file>

<file path=ppt/slideMasters/_rels/slideMaster6.xml.rels>&#65279;<?xml version="1.0" encoding="utf-8"?><Relationships xmlns="http://schemas.openxmlformats.org/package/2006/relationships"><Relationship Type="http://schemas.openxmlformats.org/officeDocument/2006/relationships/image" Target="/ppt/media/image.png" Id="R1c1d9c5ff514490c" /><Relationship Type="http://schemas.openxmlformats.org/officeDocument/2006/relationships/theme" Target="/ppt/slideMasters/theme/theme7.xml" Id="Re5ce57502b8c493d" /></Relationships>
</file>

<file path=ppt/slideMasters/_rels/slideMaster7.xml.rels>&#65279;<?xml version="1.0" encoding="utf-8"?><Relationships xmlns="http://schemas.openxmlformats.org/package/2006/relationships"><Relationship Type="http://schemas.openxmlformats.org/officeDocument/2006/relationships/image" Target="/ppt/media/image.png" Id="R85b9de604780489d" /><Relationship Type="http://schemas.openxmlformats.org/officeDocument/2006/relationships/theme" Target="/ppt/slideMasters/theme/theme8.xml" Id="Re5ca614b6d81404a" /></Relationships>
</file>

<file path=ppt/slideMasters/_rels/slideMaster8.xml.rels>&#65279;<?xml version="1.0" encoding="utf-8"?><Relationships xmlns="http://schemas.openxmlformats.org/package/2006/relationships"><Relationship Type="http://schemas.openxmlformats.org/officeDocument/2006/relationships/image" Target="/ppt/media/image.png" Id="Rffee5f3d8f5d4094" /><Relationship Type="http://schemas.openxmlformats.org/officeDocument/2006/relationships/theme" Target="/ppt/slideMasters/theme/theme9.xml" Id="Rb6e604935c494a2f" /></Relationships>
</file>

<file path=ppt/slideMasters/_rels/slideMaster9.xml.rels>&#65279;<?xml version="1.0" encoding="utf-8"?><Relationships xmlns="http://schemas.openxmlformats.org/package/2006/relationships"><Relationship Type="http://schemas.openxmlformats.org/officeDocument/2006/relationships/image" Target="/ppt/media/image.png" Id="R6e7d08d7fdee4bbe" /><Relationship Type="http://schemas.openxmlformats.org/officeDocument/2006/relationships/theme" Target="/ppt/slideMasters/theme/theme10.xml" Id="R91c0adb57c2c4c7b" /></Relationships>
</file>

<file path=ppt/slideMasters/_rels/slideMaster10.xml.rels>&#65279;<?xml version="1.0" encoding="utf-8"?><Relationships xmlns="http://schemas.openxmlformats.org/package/2006/relationships"><Relationship Type="http://schemas.openxmlformats.org/officeDocument/2006/relationships/image" Target="/ppt/media/image.png" Id="R541dbcad1efa4d91" /><Relationship Type="http://schemas.openxmlformats.org/officeDocument/2006/relationships/theme" Target="/ppt/slideMasters/theme/theme11.xml" Id="R88e9773a09c0450a" /></Relationships>
</file>

<file path=ppt/slideMasters/_rels/slideMaster11.xml.rels>&#65279;<?xml version="1.0" encoding="utf-8"?><Relationships xmlns="http://schemas.openxmlformats.org/package/2006/relationships"><Relationship Type="http://schemas.openxmlformats.org/officeDocument/2006/relationships/image" Target="/ppt/media/image.png" Id="R8de978be463c45a6" /><Relationship Type="http://schemas.openxmlformats.org/officeDocument/2006/relationships/theme" Target="/ppt/slideMasters/theme/theme12.xml" Id="Rf4e0c3298593429b" /></Relationships>
</file>

<file path=ppt/slideMasters/_rels/slideMaster12.xml.rels>&#65279;<?xml version="1.0" encoding="utf-8"?><Relationships xmlns="http://schemas.openxmlformats.org/package/2006/relationships"><Relationship Type="http://schemas.openxmlformats.org/officeDocument/2006/relationships/image" Target="/ppt/media/image.png" Id="R41fd21b40f57490c" /><Relationship Type="http://schemas.openxmlformats.org/officeDocument/2006/relationships/theme" Target="/ppt/slideMasters/theme/theme13.xml" Id="R4d973b197dbf4b64" /></Relationships>
</file>

<file path=ppt/slideMasters/_rels/slideMaster13.xml.rels>&#65279;<?xml version="1.0" encoding="utf-8"?><Relationships xmlns="http://schemas.openxmlformats.org/package/2006/relationships"><Relationship Type="http://schemas.openxmlformats.org/officeDocument/2006/relationships/image" Target="/ppt/media/image.png" Id="R5c45a6e7395448fa" /><Relationship Type="http://schemas.openxmlformats.org/officeDocument/2006/relationships/theme" Target="/ppt/slideMasters/theme/theme14.xml" Id="R7ec481a2d1dd4dd6" /></Relationships>
</file>

<file path=ppt/slideMasters/_rels/slideMaster14.xml.rels>&#65279;<?xml version="1.0" encoding="utf-8"?><Relationships xmlns="http://schemas.openxmlformats.org/package/2006/relationships"><Relationship Type="http://schemas.openxmlformats.org/officeDocument/2006/relationships/image" Target="/ppt/media/image.png" Id="Ra0976757be794917" /><Relationship Type="http://schemas.openxmlformats.org/officeDocument/2006/relationships/theme" Target="/ppt/slideMasters/theme/theme15.xml" Id="Rd2a9a15c66264a71" /><Relationship Type="http://schemas.openxmlformats.org/officeDocument/2006/relationships/slideLayout" Target="/ppt/slideLayouts/slideLayout1.xml" Id="Rbfc75061bef34382" /></Relationships>
</file>

<file path=ppt/slideMasters/_rels/slideMaster15.xml.rels>&#65279;<?xml version="1.0" encoding="utf-8"?><Relationships xmlns="http://schemas.openxmlformats.org/package/2006/relationships"><Relationship Type="http://schemas.openxmlformats.org/officeDocument/2006/relationships/image" Target="/ppt/media/image2.png" Id="Rc026d42cc8504725" /><Relationship Type="http://schemas.openxmlformats.org/officeDocument/2006/relationships/theme" Target="/ppt/slideMasters/theme/theme16.xml" Id="R699e44c94f83474d" /><Relationship Type="http://schemas.openxmlformats.org/officeDocument/2006/relationships/slideLayout" Target="/ppt/slideLayouts/slideLayout2.xml" Id="R54a2a4130861407f" /></Relationships>
</file>

<file path=ppt/slideMasters/_rels/slideMaster16.xml.rels>&#65279;<?xml version="1.0" encoding="utf-8"?><Relationships xmlns="http://schemas.openxmlformats.org/package/2006/relationships"><Relationship Type="http://schemas.openxmlformats.org/officeDocument/2006/relationships/image" Target="/ppt/media/image.png" Id="Rc5d6e989852641c0" /><Relationship Type="http://schemas.openxmlformats.org/officeDocument/2006/relationships/theme" Target="/ppt/slideMasters/theme/theme17.xml" Id="R6c8a138618e54589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039459B6-CDC6-479C-8A20-39124B2C15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65DF7C2-49FB-4ECD-8648-06248820C4C1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2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DEDBC313-8921-4539-8E77-BBB59D2558C6}"/>
              </a:ext>
            </a:extLst>
          </p:cNvPr>
          <p:cNvSpPr>
            <a:spLocks xmlns:a="http://schemas.openxmlformats.org/drawingml/2006/main" noGrp="1"/>
          </p:cNvSpPr>
          <p:nvPr>
            <p:ph type="sldNum" idx="1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388147A-8D8F-45CA-9275-DF715E5F96E7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7E052C96-29D7-4DE3-B988-7921306DA4C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A4E4940-66FA-4F64-A0A6-84914037261F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2CE7C1EF-EEB2-49CF-9966-07E7C34060C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2590560" y="635652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Picture 2">
            <a:extLst xmlns:a="http://schemas.openxmlformats.org/drawingml/2006/main">
              <a:ext uri="{FF2B5EF4-FFF2-40B4-BE49-F238E27FC236}">
                <a16:creationId xmlns:a16="http://schemas.microsoft.com/office/drawing/2014/main" id="{394C1423-8121-474A-8182-BFF16AD511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d573b3b029417a"/>
          <a:stretch xmlns:a="http://schemas.openxmlformats.org/drawingml/2006/main"/>
        </p:blipFill>
        <p:spPr>
          <a:xfrm xmlns:a="http://schemas.openxmlformats.org/drawingml/2006/main">
            <a:off x="-711360" y="-504720"/>
            <a:ext cx="3911760" cy="1800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2128E76-B500-4CB4-92DB-71E29387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040" y="6469200"/>
            <a:ext cx="1441440" cy="23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4FD041DD-32B3-4E15-9DD9-AC9FE414B4A8}" type="slidenum">
              <a:rPr sz="1200" b="0" strike="noStrike" spc="-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6EBEA99-C96A-4D0D-8868-7E6ADC94CC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9F66F9AC-CB16-4AAF-B31A-0412F6DADE7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489F099F-986D-4A3B-B4FA-679E389164E5}"/>
              </a:ext>
            </a:extLst>
          </p:cNvPr>
          <p:cNvSpPr>
            <a:spLocks xmlns:a="http://schemas.openxmlformats.org/drawingml/2006/main" noGrp="1"/>
          </p:cNvSpPr>
          <p:nvPr>
            <p:ph type="dt" idx="4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72B925D-2BE4-430C-951B-009C4D1FA01B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32E25037-A6A0-45C2-BEA2-ED14D8DFD935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>
          <a:xfrm xmlns:a="http://schemas.openxmlformats.org/drawingml/2006/main">
            <a:off x="2590560" y="633888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73E63AB7-63C1-4334-B587-EDEE4C154A67}"/>
              </a:ext>
            </a:extLst>
          </p:cNvPr>
          <p:cNvSpPr>
            <a:spLocks xmlns:a="http://schemas.openxmlformats.org/drawingml/2006/main" noGrp="1"/>
          </p:cNvSpPr>
          <p:nvPr>
            <p:ph type="sldNum" idx="6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71A8C36-55B5-4CBB-9234-D67EBAD73F36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2">
            <a:extLst xmlns:a="http://schemas.openxmlformats.org/drawingml/2006/main">
              <a:ext uri="{FF2B5EF4-FFF2-40B4-BE49-F238E27FC236}">
                <a16:creationId xmlns:a16="http://schemas.microsoft.com/office/drawing/2014/main" id="{9127CF06-CE13-4DA4-B562-A969B989A9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c51ea853594be2"/>
          <a:stretch xmlns:a="http://schemas.openxmlformats.org/drawingml/2006/main"/>
        </p:blipFill>
        <p:spPr>
          <a:xfrm xmlns:a="http://schemas.openxmlformats.org/drawingml/2006/main">
            <a:off x="-711360" y="-504720"/>
            <a:ext cx="3911760" cy="1800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3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7FC6D85-9DD6-4079-855E-3DDB1D9C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040" y="6469200"/>
            <a:ext cx="1441440" cy="23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1A09AB24-F4C3-48CF-993F-7B6D6D85EA52}" type="slidenum">
              <a:rPr sz="1200" b="0" strike="noStrike" spc="-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5B3AACE-8B52-4E90-9244-7A66DD15B8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1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AFEA04AE-EF7D-4E9A-A704-BF8F324F1DD8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16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72C21A2A-A17E-4F39-B584-1C433E3AB13D}"/>
              </a:ext>
            </a:extLst>
          </p:cNvPr>
          <p:cNvSpPr>
            <a:spLocks xmlns:a="http://schemas.openxmlformats.org/drawingml/2006/main" noGrp="1"/>
          </p:cNvSpPr>
          <p:nvPr>
            <p:ph type="dt" idx="7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48B9CE0-3FF5-4C09-AEFE-635DA5CF2857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7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49ACE81A-C8BF-4419-84A1-D1F64A09586F}"/>
              </a:ext>
            </a:extLst>
          </p:cNvPr>
          <p:cNvSpPr>
            <a:spLocks xmlns:a="http://schemas.openxmlformats.org/drawingml/2006/main" noGrp="1"/>
          </p:cNvSpPr>
          <p:nvPr>
            <p:ph type="ftr" idx="8"/>
          </p:nvPr>
        </p:nvSpPr>
        <p:spPr>
          <a:xfrm xmlns:a="http://schemas.openxmlformats.org/drawingml/2006/main">
            <a:off x="2590560" y="635652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8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31EEAB51-A007-43AD-B3ED-E01CB7B21F05}"/>
              </a:ext>
            </a:extLst>
          </p:cNvPr>
          <p:cNvSpPr>
            <a:spLocks xmlns:a="http://schemas.openxmlformats.org/drawingml/2006/main" noGrp="1"/>
          </p:cNvSpPr>
          <p:nvPr>
            <p:ph type="sldNum" idx="9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FD49AF7-72EA-4AC8-B039-6783F2691A1E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Picture 2">
            <a:extLst xmlns:a="http://schemas.openxmlformats.org/drawingml/2006/main">
              <a:ext uri="{FF2B5EF4-FFF2-40B4-BE49-F238E27FC236}">
                <a16:creationId xmlns:a16="http://schemas.microsoft.com/office/drawing/2014/main" id="{A2FF4DF3-9114-4B58-A8D8-19723DB696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10f73588b44aa7"/>
          <a:stretch xmlns:a="http://schemas.openxmlformats.org/drawingml/2006/main"/>
        </p:blipFill>
        <p:spPr>
          <a:xfrm xmlns:a="http://schemas.openxmlformats.org/drawingml/2006/main">
            <a:off x="-711360" y="-504720"/>
            <a:ext cx="3911760" cy="1800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0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814A6B5-7934-4251-8C93-66EF305D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040" y="6469200"/>
            <a:ext cx="1441440" cy="23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0123890E-C7D8-4766-AA54-B6E2139771FD}" type="slidenum">
              <a:rPr sz="1200" b="0" strike="noStrike" spc="-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F5EB151-9A15-49B0-912B-EFE7FB3035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2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D4EF0C97-8B1D-456E-912C-1505AD10A77A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23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DBD95CD0-9B55-446C-94AE-A3068F99DC4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9E2AF2C-7866-4B54-B91B-B67EF290981F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4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00876569-A039-473A-B1E5-14E3328CD7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2590560" y="635652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5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1DA29C3B-F96B-409F-8BA5-B37D6A24D0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CD47C53-6F26-4C2A-B6CD-D5638FB575C1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Picture 2">
            <a:extLst xmlns:a="http://schemas.openxmlformats.org/drawingml/2006/main">
              <a:ext uri="{FF2B5EF4-FFF2-40B4-BE49-F238E27FC236}">
                <a16:creationId xmlns:a16="http://schemas.microsoft.com/office/drawing/2014/main" id="{95977FE3-7094-4993-844B-70BD42F9A6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52b975a930490a"/>
          <a:stretch xmlns:a="http://schemas.openxmlformats.org/drawingml/2006/main"/>
        </p:blipFill>
        <p:spPr>
          <a:xfrm xmlns:a="http://schemas.openxmlformats.org/drawingml/2006/main">
            <a:off x="-711360" y="-504720"/>
            <a:ext cx="3911760" cy="1800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27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86E88AC-FD03-4171-AD97-F6B888C9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040" y="6469200"/>
            <a:ext cx="1441440" cy="23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BC1BD30B-28A1-4C4D-9114-D1676A3DF211}" type="slidenum">
              <a:rPr sz="1200" b="0" strike="noStrike" spc="-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4D9C7BD-A51E-4279-B246-E7CA2C099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29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D976A3EE-6818-4DAF-8162-2601DAF3396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30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40124946-5ECC-4A05-917F-E71E1DFFCEFF}"/>
              </a:ext>
            </a:extLst>
          </p:cNvPr>
          <p:cNvSpPr>
            <a:spLocks xmlns:a="http://schemas.openxmlformats.org/drawingml/2006/main" noGrp="1"/>
          </p:cNvSpPr>
          <p:nvPr>
            <p:ph type="dt" idx="13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8671B73-7ED4-4A23-978F-959BBF7E3B7A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1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A8A4A70B-5194-493E-B3E8-75AA836F8FFC}"/>
              </a:ext>
            </a:extLst>
          </p:cNvPr>
          <p:cNvSpPr>
            <a:spLocks xmlns:a="http://schemas.openxmlformats.org/drawingml/2006/main" noGrp="1"/>
          </p:cNvSpPr>
          <p:nvPr>
            <p:ph type="ftr" idx="14"/>
          </p:nvPr>
        </p:nvSpPr>
        <p:spPr>
          <a:xfrm xmlns:a="http://schemas.openxmlformats.org/drawingml/2006/main">
            <a:off x="2590560" y="635652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2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35587CEE-AB79-4A22-B5B9-2F0128600407}"/>
              </a:ext>
            </a:extLst>
          </p:cNvPr>
          <p:cNvSpPr>
            <a:spLocks xmlns:a="http://schemas.openxmlformats.org/drawingml/2006/main" noGrp="1"/>
          </p:cNvSpPr>
          <p:nvPr>
            <p:ph type="sldNum" idx="15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15C623F-B875-492A-9DC9-B52D81812EB3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Picture 2">
            <a:extLst xmlns:a="http://schemas.openxmlformats.org/drawingml/2006/main">
              <a:ext uri="{FF2B5EF4-FFF2-40B4-BE49-F238E27FC236}">
                <a16:creationId xmlns:a16="http://schemas.microsoft.com/office/drawing/2014/main" id="{D12E2CAB-4EE2-4485-A077-40C0854D94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1d9c5ff514490c"/>
          <a:stretch xmlns:a="http://schemas.openxmlformats.org/drawingml/2006/main"/>
        </p:blipFill>
        <p:spPr>
          <a:xfrm xmlns:a="http://schemas.openxmlformats.org/drawingml/2006/main">
            <a:off x="-711360" y="-504720"/>
            <a:ext cx="3911760" cy="1800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79C2596-8A6B-49BD-BB78-317653DD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040" y="6469200"/>
            <a:ext cx="1441440" cy="23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2147397F-EAA3-4D65-952B-2484FB87D855}" type="slidenum">
              <a:rPr sz="1200" b="0" strike="noStrike" spc="-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4E23C2FA-26AE-4BD3-8CDA-55F7987A58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3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117A09C-91BA-4690-8E7A-86291AC2943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37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DDADE356-5DD0-4EFE-B0E7-B2B5F2B71650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E0721E4-EC95-4102-A551-1D72627EB330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8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5ADDB26C-7514-42D5-9562-33130F764A9B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>
          <a:xfrm xmlns:a="http://schemas.openxmlformats.org/drawingml/2006/main">
            <a:off x="2590560" y="635652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9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7A0B789F-05FB-4F7A-97F4-4A1EABE02080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D2C8B9D-8E00-42CB-B62F-5C6DB4AA9891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Picture 2">
            <a:extLst xmlns:a="http://schemas.openxmlformats.org/drawingml/2006/main">
              <a:ext uri="{FF2B5EF4-FFF2-40B4-BE49-F238E27FC236}">
                <a16:creationId xmlns:a16="http://schemas.microsoft.com/office/drawing/2014/main" id="{5DE2AC74-0789-473F-9532-CA5664585C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b9de604780489d"/>
          <a:stretch xmlns:a="http://schemas.openxmlformats.org/drawingml/2006/main"/>
        </p:blipFill>
        <p:spPr>
          <a:xfrm xmlns:a="http://schemas.openxmlformats.org/drawingml/2006/main">
            <a:off x="-711360" y="-504720"/>
            <a:ext cx="3911760" cy="1800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1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6C92D3D-C6A8-458B-B6A9-DC3F5BBC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040" y="6469200"/>
            <a:ext cx="1441440" cy="23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3E7C04CF-B61C-4FC8-8BAE-FC3338F4CF69}" type="slidenum">
              <a:rPr sz="1200" b="0" strike="noStrike" spc="-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E0CA6E17-3284-4B71-AAAD-07D7246885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43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277CCB6-7529-4C6F-BFD7-487735056431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44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65FC0207-4A51-4B62-80F6-10D7409ADFE5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B82F50C-B1CB-4AFB-A289-0CBC97440549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5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DAE9CCE6-8B3E-40C7-BCAC-1219B7207EFA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>
          <a:xfrm xmlns:a="http://schemas.openxmlformats.org/drawingml/2006/main">
            <a:off x="2590560" y="635652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6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2F0D83C8-1A31-4532-843C-67B3CB748FD4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AB18B6F-7D87-4EE1-AA17-A5CB9951BE00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7" name="Picture 2">
            <a:extLst xmlns:a="http://schemas.openxmlformats.org/drawingml/2006/main">
              <a:ext uri="{FF2B5EF4-FFF2-40B4-BE49-F238E27FC236}">
                <a16:creationId xmlns:a16="http://schemas.microsoft.com/office/drawing/2014/main" id="{C0D30645-2FAF-43FD-8277-0AF89668A6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ee5f3d8f5d4094"/>
          <a:stretch xmlns:a="http://schemas.openxmlformats.org/drawingml/2006/main"/>
        </p:blipFill>
        <p:spPr>
          <a:xfrm xmlns:a="http://schemas.openxmlformats.org/drawingml/2006/main">
            <a:off x="-711360" y="-504720"/>
            <a:ext cx="3911760" cy="1800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8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054CBBD-D930-4C46-81A6-B76AD37D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040" y="6469200"/>
            <a:ext cx="1441440" cy="23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AAEE9729-0104-4C9C-95B7-9C49D8D4451B}" type="slidenum">
              <a:rPr sz="1200" b="0" strike="noStrike" spc="-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CF964A79-5C18-4416-8DF3-751DAD3DBF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5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DF75FADE-D865-4292-8A17-13EEAA44831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51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86AF524F-7CB4-4E58-A8B4-4E8C18A10559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4B7E31F-65AE-4FAD-93CB-FF89388DD5B2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2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721E5AFC-494B-41AE-8C32-A8B0874D3683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>
          <a:xfrm xmlns:a="http://schemas.openxmlformats.org/drawingml/2006/main">
            <a:off x="2590560" y="635652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3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748D1D83-C6F6-4DA1-AF0F-F41B55110528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AF83CFA-0CEE-433F-BEA2-312250DBCC51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9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4" name="Picture 2">
            <a:extLst xmlns:a="http://schemas.openxmlformats.org/drawingml/2006/main">
              <a:ext uri="{FF2B5EF4-FFF2-40B4-BE49-F238E27FC236}">
                <a16:creationId xmlns:a16="http://schemas.microsoft.com/office/drawing/2014/main" id="{D188E1B7-3FA1-4E76-8108-D047A69E3C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7d08d7fdee4bbe"/>
          <a:stretch xmlns:a="http://schemas.openxmlformats.org/drawingml/2006/main"/>
        </p:blipFill>
        <p:spPr>
          <a:xfrm xmlns:a="http://schemas.openxmlformats.org/drawingml/2006/main">
            <a:off x="-711360" y="-504720"/>
            <a:ext cx="3911760" cy="1800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55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3682CFE-2607-40B7-8C74-ECB27A68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040" y="6469200"/>
            <a:ext cx="1441440" cy="23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57AB0654-D5EA-44F8-B977-1CA2545CCDCB}" type="slidenum">
              <a:rPr sz="1200" b="0" strike="noStrike" spc="-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6CD471F-B7A5-4440-B998-F7E5145FE7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5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6EB521C0-B3BF-4B9B-80D3-13E8285BD805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58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73418ACA-8EF5-455B-92C1-817B7A8E868E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6E68F2C-7F06-4F9B-A629-1D69D7E514F9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9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DC56F8E3-F2C9-4E0F-9BCF-A93DE5948F5C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>
          <a:xfrm xmlns:a="http://schemas.openxmlformats.org/drawingml/2006/main">
            <a:off x="2590560" y="635652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0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0F7C594C-2F08-4ECF-8022-DDCA56FE51BE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2FA1B9F-B79D-420A-9720-EA8428D33899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0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Picture 2">
            <a:extLst xmlns:a="http://schemas.openxmlformats.org/drawingml/2006/main">
              <a:ext uri="{FF2B5EF4-FFF2-40B4-BE49-F238E27FC236}">
                <a16:creationId xmlns:a16="http://schemas.microsoft.com/office/drawing/2014/main" id="{37DB28BF-68F0-4238-8289-E2A6F8D152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1dbcad1efa4d91"/>
          <a:stretch xmlns:a="http://schemas.openxmlformats.org/drawingml/2006/main"/>
        </p:blipFill>
        <p:spPr>
          <a:xfrm xmlns:a="http://schemas.openxmlformats.org/drawingml/2006/main">
            <a:off x="-711360" y="-504720"/>
            <a:ext cx="3911760" cy="1800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2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1CFB2CA-6D43-42E4-8112-7AEF0DF0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040" y="6469200"/>
            <a:ext cx="1441440" cy="23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74CF96DA-1924-40C6-9275-C8BE2CE8D3B4}" type="slidenum">
              <a:rPr sz="1200" b="0" strike="noStrike" spc="-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83258DD1-A180-478B-AA33-8BC8CB1E15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6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15412BD-4207-480F-9082-62870301AEE3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65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5D6E4677-FD82-4611-9475-F7DADAB53D60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E71D2E0-4425-4842-8CEB-360B753B4F29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6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F28F8AB0-F20D-436F-921C-ACDB5537AB0A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>
          <a:xfrm xmlns:a="http://schemas.openxmlformats.org/drawingml/2006/main">
            <a:off x="2590560" y="635652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7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8C28A3CB-D2C0-4ECE-AB3F-7747C0A783E6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6610677-0B7F-4FDF-8056-18EE591D253F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8" name="Picture 2">
            <a:extLst xmlns:a="http://schemas.openxmlformats.org/drawingml/2006/main">
              <a:ext uri="{FF2B5EF4-FFF2-40B4-BE49-F238E27FC236}">
                <a16:creationId xmlns:a16="http://schemas.microsoft.com/office/drawing/2014/main" id="{BFFF5E03-64C8-4FA6-B196-9AD7698D40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e978be463c45a6"/>
          <a:stretch xmlns:a="http://schemas.openxmlformats.org/drawingml/2006/main"/>
        </p:blipFill>
        <p:spPr>
          <a:xfrm xmlns:a="http://schemas.openxmlformats.org/drawingml/2006/main">
            <a:off x="-711360" y="-504720"/>
            <a:ext cx="3911760" cy="1800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9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05E6D4D-D023-4F3F-9914-6FFDFF8C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040" y="6469200"/>
            <a:ext cx="1441440" cy="23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BD6ED539-CEF6-4318-9873-D6152B61F044}" type="slidenum">
              <a:rPr sz="1200" b="0" strike="noStrike" spc="-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C4B84127-F9B5-4912-B098-8A3CEB4DA8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7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81D62E2-3A9A-4FAE-9DAD-94B821C59C3B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72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A6BE7BD3-0163-48C9-B748-EDFBF7F54A43}"/>
              </a:ext>
            </a:extLst>
          </p:cNvPr>
          <p:cNvSpPr>
            <a:spLocks xmlns:a="http://schemas.openxmlformats.org/drawingml/2006/main" noGrp="1"/>
          </p:cNvSpPr>
          <p:nvPr>
            <p:ph type="dt" idx="31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197E74F-7E91-4DC8-8788-209BD8CA7D43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3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D1623208-F013-41EB-8168-931FB86F8CEF}"/>
              </a:ext>
            </a:extLst>
          </p:cNvPr>
          <p:cNvSpPr>
            <a:spLocks xmlns:a="http://schemas.openxmlformats.org/drawingml/2006/main" noGrp="1"/>
          </p:cNvSpPr>
          <p:nvPr>
            <p:ph type="ftr" idx="32"/>
          </p:nvPr>
        </p:nvSpPr>
        <p:spPr>
          <a:xfrm xmlns:a="http://schemas.openxmlformats.org/drawingml/2006/main">
            <a:off x="2590560" y="635652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4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BFF0B53B-53E0-4396-9311-CA81CFD1BE51}"/>
              </a:ext>
            </a:extLst>
          </p:cNvPr>
          <p:cNvSpPr>
            <a:spLocks xmlns:a="http://schemas.openxmlformats.org/drawingml/2006/main" noGrp="1"/>
          </p:cNvSpPr>
          <p:nvPr>
            <p:ph type="sldNum" idx="33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5C171C4-6F2C-45E6-98A2-A8B9A1F609A0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5" name="Picture 2">
            <a:extLst xmlns:a="http://schemas.openxmlformats.org/drawingml/2006/main">
              <a:ext uri="{FF2B5EF4-FFF2-40B4-BE49-F238E27FC236}">
                <a16:creationId xmlns:a16="http://schemas.microsoft.com/office/drawing/2014/main" id="{78A00F75-8383-4430-BB63-FDD87F2B88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fd21b40f57490c"/>
          <a:stretch xmlns:a="http://schemas.openxmlformats.org/drawingml/2006/main"/>
        </p:blipFill>
        <p:spPr>
          <a:xfrm xmlns:a="http://schemas.openxmlformats.org/drawingml/2006/main">
            <a:off x="-711360" y="-504720"/>
            <a:ext cx="3911760" cy="1800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6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7A14354-3B10-4600-B173-875B8BF9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040" y="6469200"/>
            <a:ext cx="1441440" cy="23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E3BADF6D-E864-4A5E-88B1-C40D7B087A09}" type="slidenum">
              <a:rPr sz="1200" b="0" strike="noStrike" spc="-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1E6D5462-EEFC-4AE4-9340-1EFE05AA07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7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3966938-4B07-498B-953C-2DDE4269D448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7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1669E81E-B048-46B7-B2F0-E2B261E71D02}"/>
              </a:ext>
            </a:extLst>
          </p:cNvPr>
          <p:cNvSpPr>
            <a:spLocks xmlns:a="http://schemas.openxmlformats.org/drawingml/2006/main" noGrp="1"/>
          </p:cNvSpPr>
          <p:nvPr>
            <p:ph type="dt" idx="34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25829AF-D24A-4680-83CF-33B20E786423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0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827E532F-5DAF-4987-8B5D-890CC745D67A}"/>
              </a:ext>
            </a:extLst>
          </p:cNvPr>
          <p:cNvSpPr>
            <a:spLocks xmlns:a="http://schemas.openxmlformats.org/drawingml/2006/main" noGrp="1"/>
          </p:cNvSpPr>
          <p:nvPr>
            <p:ph type="ftr" idx="35"/>
          </p:nvPr>
        </p:nvSpPr>
        <p:spPr>
          <a:xfrm xmlns:a="http://schemas.openxmlformats.org/drawingml/2006/main">
            <a:off x="2590560" y="635652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1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E3747FEE-7EDC-4FCE-9DD9-D50B9D21766A}"/>
              </a:ext>
            </a:extLst>
          </p:cNvPr>
          <p:cNvSpPr>
            <a:spLocks xmlns:a="http://schemas.openxmlformats.org/drawingml/2006/main" noGrp="1"/>
          </p:cNvSpPr>
          <p:nvPr>
            <p:ph type="sldNum" idx="36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7EEAD98-8182-456F-BC42-0D7E8877C45E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3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2" name="Picture 2">
            <a:extLst xmlns:a="http://schemas.openxmlformats.org/drawingml/2006/main">
              <a:ext uri="{FF2B5EF4-FFF2-40B4-BE49-F238E27FC236}">
                <a16:creationId xmlns:a16="http://schemas.microsoft.com/office/drawing/2014/main" id="{9B0A7CE3-0286-42BF-B204-8BBCDBFA85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45a6e7395448fa"/>
          <a:stretch xmlns:a="http://schemas.openxmlformats.org/drawingml/2006/main"/>
        </p:blipFill>
        <p:spPr>
          <a:xfrm xmlns:a="http://schemas.openxmlformats.org/drawingml/2006/main">
            <a:off x="-711360" y="-504720"/>
            <a:ext cx="3911760" cy="1800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83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B0E501C-E33E-4787-B137-D4452E08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040" y="6469200"/>
            <a:ext cx="1441440" cy="23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FF2F7CCA-E718-48A6-8D37-95DE15DF14C2}" type="slidenum">
              <a:rPr sz="1200" b="0" strike="noStrike" spc="-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BDF4FDF-567E-4F5F-ACF4-FB72DAE652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8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A8A07CDA-934F-4216-881D-E9E28516D8B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86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796F7790-63CD-47FA-8373-717BDCB80064}"/>
              </a:ext>
            </a:extLst>
          </p:cNvPr>
          <p:cNvSpPr>
            <a:spLocks xmlns:a="http://schemas.openxmlformats.org/drawingml/2006/main" noGrp="1"/>
          </p:cNvSpPr>
          <p:nvPr>
            <p:ph type="dt" idx="37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3BAF32E-A72C-406C-A99E-C12A725AC0DD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7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3864C2D6-D58A-4837-A7E9-8D4247BF7D80}"/>
              </a:ext>
            </a:extLst>
          </p:cNvPr>
          <p:cNvSpPr>
            <a:spLocks xmlns:a="http://schemas.openxmlformats.org/drawingml/2006/main" noGrp="1"/>
          </p:cNvSpPr>
          <p:nvPr>
            <p:ph type="ftr" idx="38"/>
          </p:nvPr>
        </p:nvSpPr>
        <p:spPr>
          <a:xfrm xmlns:a="http://schemas.openxmlformats.org/drawingml/2006/main">
            <a:off x="2590560" y="635652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8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5BC6CBFA-E243-4228-BEFE-35CBBE81631E}"/>
              </a:ext>
            </a:extLst>
          </p:cNvPr>
          <p:cNvSpPr>
            <a:spLocks xmlns:a="http://schemas.openxmlformats.org/drawingml/2006/main" noGrp="1"/>
          </p:cNvSpPr>
          <p:nvPr>
            <p:ph type="sldNum" idx="39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CA383B8-0A95-4AA5-A463-417CD73EBB54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4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9" name="Picture 2">
            <a:extLst xmlns:a="http://schemas.openxmlformats.org/drawingml/2006/main">
              <a:ext uri="{FF2B5EF4-FFF2-40B4-BE49-F238E27FC236}">
                <a16:creationId xmlns:a16="http://schemas.microsoft.com/office/drawing/2014/main" id="{73E418FB-76D3-433E-8EB2-4667E4AC18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76757be794917"/>
          <a:stretch xmlns:a="http://schemas.openxmlformats.org/drawingml/2006/main"/>
        </p:blipFill>
        <p:spPr>
          <a:xfrm xmlns:a="http://schemas.openxmlformats.org/drawingml/2006/main">
            <a:off x="-533520" y="-504720"/>
            <a:ext cx="3249720" cy="1800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90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64FB227-C7BC-4C34-8A20-01B42CDB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040" y="6469200"/>
            <a:ext cx="1441440" cy="23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EA7A70F6-B120-47C1-BD1B-A11124D94B3A}" type="slidenum">
              <a:rPr sz="1200" b="0" strike="noStrike" spc="-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3E97BA4-C567-4517-9F8B-A02C57BCA5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9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900DC91C-EC1B-423D-91ED-CE23C6584DB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93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A9FC0096-1655-4C76-9BF1-CC9BDAC9075B}"/>
              </a:ext>
            </a:extLst>
          </p:cNvPr>
          <p:cNvSpPr>
            <a:spLocks xmlns:a="http://schemas.openxmlformats.org/drawingml/2006/main" noGrp="1"/>
          </p:cNvSpPr>
          <p:nvPr>
            <p:ph type="dt" idx="40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17802FC-E8E5-4BA7-8D49-EB8055859912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4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1EE72B6B-6857-4CA0-B92E-EE4ADC766BAD}"/>
              </a:ext>
            </a:extLst>
          </p:cNvPr>
          <p:cNvSpPr>
            <a:spLocks xmlns:a="http://schemas.openxmlformats.org/drawingml/2006/main" noGrp="1"/>
          </p:cNvSpPr>
          <p:nvPr>
            <p:ph type="ftr" idx="41"/>
          </p:nvPr>
        </p:nvSpPr>
        <p:spPr>
          <a:xfrm xmlns:a="http://schemas.openxmlformats.org/drawingml/2006/main">
            <a:off x="2590560" y="635652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5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1E5D29E3-F4A0-435C-9275-E5641FA27416}"/>
              </a:ext>
            </a:extLst>
          </p:cNvPr>
          <p:cNvSpPr>
            <a:spLocks xmlns:a="http://schemas.openxmlformats.org/drawingml/2006/main" noGrp="1"/>
          </p:cNvSpPr>
          <p:nvPr>
            <p:ph type="sldNum" idx="42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0D3BEB5-073E-4942-A1D5-E86410C40029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2" r:id="Rbfc75061bef3438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5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6" name="Picture 4">
            <a:extLst xmlns:a="http://schemas.openxmlformats.org/drawingml/2006/main">
              <a:ext uri="{FF2B5EF4-FFF2-40B4-BE49-F238E27FC236}">
                <a16:creationId xmlns:a16="http://schemas.microsoft.com/office/drawing/2014/main" id="{415024F4-C8F7-429D-9FE1-C22948B6A0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26d42cc8504725"/>
          <a:stretch xmlns:a="http://schemas.openxmlformats.org/drawingml/2006/main"/>
        </p:blipFill>
        <p:spPr>
          <a:xfrm xmlns:a="http://schemas.openxmlformats.org/drawingml/2006/main">
            <a:off x="2567160" y="592200"/>
            <a:ext cx="7610400" cy="100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97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586E18B-0F94-441F-BF80-CF5C4B07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2600" y="6356520"/>
            <a:ext cx="108108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46B4BB9A-7DA8-46F6-BA5F-D3279DA6E31F}" type="slidenum">
              <a:rPr sz="1200" b="0" strike="noStrike" spc="-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8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A36A4432-8D85-44FE-AF64-2D64EE614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99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0A2C065-BD58-4320-9B3D-0CA8C60BA145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100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950CBE7E-B553-4D43-86DD-C42C78E05633}"/>
              </a:ext>
            </a:extLst>
          </p:cNvPr>
          <p:cNvSpPr>
            <a:spLocks xmlns:a="http://schemas.openxmlformats.org/drawingml/2006/main" noGrp="1"/>
          </p:cNvSpPr>
          <p:nvPr>
            <p:ph type="dt" idx="43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2BFF692-5B50-44EE-BE9B-D1C4B151D7DC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1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8842A0F4-B51D-4BAE-816F-460A46B60DE8}"/>
              </a:ext>
            </a:extLst>
          </p:cNvPr>
          <p:cNvSpPr>
            <a:spLocks xmlns:a="http://schemas.openxmlformats.org/drawingml/2006/main" noGrp="1"/>
          </p:cNvSpPr>
          <p:nvPr>
            <p:ph type="ftr" idx="44"/>
          </p:nvPr>
        </p:nvSpPr>
        <p:spPr>
          <a:xfrm xmlns:a="http://schemas.openxmlformats.org/drawingml/2006/main">
            <a:off x="2590560" y="635652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2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B4A15517-DB71-40E4-B033-AEC523E4C067}"/>
              </a:ext>
            </a:extLst>
          </p:cNvPr>
          <p:cNvSpPr>
            <a:spLocks xmlns:a="http://schemas.openxmlformats.org/drawingml/2006/main" noGrp="1"/>
          </p:cNvSpPr>
          <p:nvPr>
            <p:ph type="sldNum" idx="45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AA01515-4EE7-4C36-828E-D54EA72C9601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54a2a4130861407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6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3" name="Picture 4">
            <a:extLst xmlns:a="http://schemas.openxmlformats.org/drawingml/2006/main">
              <a:ext uri="{FF2B5EF4-FFF2-40B4-BE49-F238E27FC236}">
                <a16:creationId xmlns:a16="http://schemas.microsoft.com/office/drawing/2014/main" id="{7153B4A9-953B-467D-B6D5-F1F9F6D8FE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d6e989852641c0"/>
          <a:stretch xmlns:a="http://schemas.openxmlformats.org/drawingml/2006/main"/>
        </p:blipFill>
        <p:spPr>
          <a:xfrm xmlns:a="http://schemas.openxmlformats.org/drawingml/2006/main">
            <a:off x="-533520" y="-504720"/>
            <a:ext cx="3249720" cy="1800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10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D2E585A-8F7E-40B9-AA4F-F7CD325A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2600" y="6356520"/>
            <a:ext cx="108108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A9DF2E4A-96BF-4E4D-8E93-11326B652BF5}" type="slidenum">
              <a:rPr sz="1200" b="0" strike="noStrike" spc="-1">
                <a:solidFill>
                  <a:srgbClr val="898989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F1BD43F-FDAF-465F-897D-BCCABA4456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400" b="0" strike="noStrike" spc="-1">
                <a:solidFill>
                  <a:srgbClr val="1F497D"/>
                </a:solidFill>
                <a:latin typeface="Arial"/>
                <a:ea typeface="Arial"/>
                <a:cs typeface="Arial"/>
              </a:rPr>
              <a:t>Click to edit the title text format</a:t>
            </a:r>
          </a:p>
        </p:txBody>
      </p:sp>
      <p:sp>
        <p:nvSpPr>
          <p:cNvPr id="10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BD8C8520-EBAA-43E9-B361-916E0BE426EE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800" cy="3976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Click to edit the outline text format</a:t>
            </a:r>
          </a:p>
          <a:p xmlns:a="http://schemas.openxmlformats.org/drawingml/2006/main"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Second Outline Level</a:t>
            </a:r>
          </a:p>
          <a:p xmlns:a="http://schemas.openxmlformats.org/drawingml/2006/main"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Third Outline Level</a:t>
            </a:r>
          </a:p>
          <a:p xmlns:a="http://schemas.openxmlformats.org/drawingml/2006/main"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Fourth Outline Level</a:t>
            </a:r>
          </a:p>
          <a:p xmlns:a="http://schemas.openxmlformats.org/drawingml/2006/main"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Fifth Outline Level</a:t>
            </a:r>
          </a:p>
          <a:p xmlns:a="http://schemas.openxmlformats.org/drawingml/2006/main"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Sixth Outline Level</a:t>
            </a:r>
          </a:p>
          <a:p xmlns:a="http://schemas.openxmlformats.org/drawingml/2006/main"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800" b="0" strike="noStrike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Seventh Outline Level</a:t>
            </a:r>
          </a:p>
        </p:txBody>
      </p:sp>
      <p:sp>
        <p:nvSpPr>
          <p:cNvPr id="107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DEDC171E-BE93-4E34-B776-7205D88544FC}"/>
              </a:ext>
            </a:extLst>
          </p:cNvPr>
          <p:cNvSpPr>
            <a:spLocks xmlns:a="http://schemas.openxmlformats.org/drawingml/2006/main" noGrp="1"/>
          </p:cNvSpPr>
          <p:nvPr>
            <p:ph type="dt" idx="46"/>
          </p:nvPr>
        </p:nvSpPr>
        <p:spPr>
          <a:xfrm xmlns:a="http://schemas.openxmlformats.org/drawingml/2006/main">
            <a:off x="304920" y="6356520"/>
            <a:ext cx="16761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35A28DE-420D-4748-9789-73B84CD9CB1E}" type="datetime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12-10-2026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8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E002B1B7-DE80-416F-8A8D-C3466B61117B}"/>
              </a:ext>
            </a:extLst>
          </p:cNvPr>
          <p:cNvSpPr>
            <a:spLocks xmlns:a="http://schemas.openxmlformats.org/drawingml/2006/main" noGrp="1"/>
          </p:cNvSpPr>
          <p:nvPr>
            <p:ph type="ftr" idx="47"/>
          </p:nvPr>
        </p:nvSpPr>
        <p:spPr>
          <a:xfrm xmlns:a="http://schemas.openxmlformats.org/drawingml/2006/main">
            <a:off x="2590560" y="6356520"/>
            <a:ext cx="556236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DWDM                                                        T. Sudha Rani Associate Professor</a:t>
            </a:r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9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BE18D0D2-87F4-4D07-8959-095CC1F2F108}"/>
              </a:ext>
            </a:extLst>
          </p:cNvPr>
          <p:cNvSpPr>
            <a:spLocks xmlns:a="http://schemas.openxmlformats.org/drawingml/2006/main" noGrp="1"/>
          </p:cNvSpPr>
          <p:nvPr>
            <p:ph type="sldNum" idx="48"/>
          </p:nvPr>
        </p:nvSpPr>
        <p:spPr>
          <a:xfrm xmlns:a="http://schemas.openxmlformats.org/drawingml/2006/main">
            <a:off x="8610480" y="6356520"/>
            <a:ext cx="2743200" cy="365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 xmlns:a="http://schemas.openxmlformats.org/drawingml/2006/main"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38A753B-7349-4B74-8C4A-4FBF64820C58}" type="slidenum">
              <a:rPr sz="1200" b="0" strike="noStrike" spc="-1">
                <a:solidFill>
                  <a:srgbClr val="898989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 b="0" strike="noStrike" spc="-1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3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4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5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6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7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8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9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10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1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1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13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14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15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16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Masters/theme/theme17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f1892561884af5" /><Relationship Type="http://schemas.openxmlformats.org/officeDocument/2006/relationships/notesSlide" Target="/ppt/notesSlides/notesSlide1.xml" Id="R2a9ce5b46dbd44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a0cfee5494ac1" /><Relationship Type="http://schemas.openxmlformats.org/officeDocument/2006/relationships/notesSlide" Target="/ppt/notesSlides/notesSlide2.xml" Id="R9359d885de0e47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f21b237e14c00" /><Relationship Type="http://schemas.openxmlformats.org/officeDocument/2006/relationships/notesSlide" Target="/ppt/notesSlides/notesSlide3.xml" Id="R795358d68d1341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b24312c0f44ee0" /><Relationship Type="http://schemas.openxmlformats.org/officeDocument/2006/relationships/notesSlide" Target="/ppt/notesSlides/notesSlide4.xml" Id="R34740bcbe86c40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4739cd60e4cc7" /><Relationship Type="http://schemas.openxmlformats.org/officeDocument/2006/relationships/notesSlide" Target="/ppt/notesSlides/notesSlide5.xml" Id="R8824f9049e9a4e4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6b1084c944cc9" /><Relationship Type="http://schemas.openxmlformats.org/officeDocument/2006/relationships/notesSlide" Target="/ppt/notesSlides/notesSlide6.xml" Id="R268ceeae581040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e6e744bac4e7c" /><Relationship Type="http://schemas.openxmlformats.org/officeDocument/2006/relationships/notesSlide" Target="/ppt/notesSlides/notesSlide7.xml" Id="R76e5f063a62647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8864ff5184ec3" /><Relationship Type="http://schemas.openxmlformats.org/officeDocument/2006/relationships/notesSlide" Target="/ppt/notesSlides/notesSlide8.xml" Id="R10c1965b37914a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fddfd58544acf" /><Relationship Type="http://schemas.openxmlformats.org/officeDocument/2006/relationships/notesSlide" Target="/ppt/notesSlides/notesSlide9.xml" Id="R8e3991f12bd040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d482d1cf34f1b" /><Relationship Type="http://schemas.openxmlformats.org/officeDocument/2006/relationships/notesSlide" Target="/ppt/notesSlides/notesSlide10.xml" Id="Rd592b1475ac241b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59ee6e6fa44e8" /><Relationship Type="http://schemas.openxmlformats.org/officeDocument/2006/relationships/notesSlide" Target="/ppt/notesSlides/notesSlide11.xml" Id="R3fc315be638b4a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eb4754dcb04b1a" /><Relationship Type="http://schemas.openxmlformats.org/officeDocument/2006/relationships/notesSlide" Target="/ppt/notesSlides/notesSlide12.xml" Id="R0f3f3e54e8ed46c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de56cd9d64935" /><Relationship Type="http://schemas.openxmlformats.org/officeDocument/2006/relationships/notesSlide" Target="/ppt/notesSlides/notesSlide13.xml" Id="Rb97421a2f7764a0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7e2aa2bc824d14" /><Relationship Type="http://schemas.openxmlformats.org/officeDocument/2006/relationships/notesSlide" Target="/ppt/notesSlides/notesSlide14.xml" Id="Rd4d69aeccd33430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cc45ad0e84a04" /><Relationship Type="http://schemas.openxmlformats.org/officeDocument/2006/relationships/notesSlide" Target="/ppt/notesSlides/notesSlide15.xml" Id="R8a4d4201a24c45d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445ce148284b4b" /><Relationship Type="http://schemas.openxmlformats.org/officeDocument/2006/relationships/notesSlide" Target="/ppt/notesSlides/notesSlide16.xml" Id="Rba299d1241ae49a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2350a02464ea5" /><Relationship Type="http://schemas.openxmlformats.org/officeDocument/2006/relationships/image" Target="/ppt/media/image3.png" Id="R93a787494dfb4751" /><Relationship Type="http://schemas.openxmlformats.org/officeDocument/2006/relationships/notesSlide" Target="/ppt/notesSlides/notesSlide17.xml" Id="R06a2e1c7430046e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4b5ccc6454715" /><Relationship Type="http://schemas.openxmlformats.org/officeDocument/2006/relationships/image" Target="/ppt/media/image4.png" Id="R4283d2e9f0664ead" /><Relationship Type="http://schemas.openxmlformats.org/officeDocument/2006/relationships/notesSlide" Target="/ppt/notesSlides/notesSlide18.xml" Id="R41eab0deacb6409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3fd9234c654f8c" /><Relationship Type="http://schemas.openxmlformats.org/officeDocument/2006/relationships/notesSlide" Target="/ppt/notesSlides/notesSlide19.xml" Id="R5543819d2c374eb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be91a491e4879" /><Relationship Type="http://schemas.openxmlformats.org/officeDocument/2006/relationships/notesSlide" Target="/ppt/notesSlides/notesSlide20.xml" Id="Rc8577adaf5fb4bd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11d98b9b24413" /><Relationship Type="http://schemas.openxmlformats.org/officeDocument/2006/relationships/notesSlide" Target="/ppt/notesSlides/notesSlide21.xml" Id="R9132ac6023b941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7" name="Title 1">
            <a:extLst xmlns:a="http://schemas.openxmlformats.org/drawingml/2006/main">
              <a:ext uri="{FF2B5EF4-FFF2-40B4-BE49-F238E27FC236}">
                <a16:creationId xmlns:a16="http://schemas.microsoft.com/office/drawing/2014/main" id="{C36C30DC-4DD0-4191-9D36-FD1AD868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ctr">
            <a:noAutofit/>
          </a:bodyPr>
          <a:lstStyle xmlns:a="http://schemas.openxmlformats.org/drawingml/2006/main">
            <a:defPPr algn="ctr">
              <a:defRPr b="1">
                <a:solidFill>
                  <a:srgbClr val="21409A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b="1">
                <a:solidFill>
                  <a:srgbClr val="21409A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b="1">
                <a:solidFill>
                  <a:srgbClr val="21409A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b="1">
                <a:solidFill>
                  <a:srgbClr val="21409A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b="1">
                <a:solidFill>
                  <a:srgbClr val="21409A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b="1">
                <a:solidFill>
                  <a:srgbClr val="21409A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b="1">
                <a:solidFill>
                  <a:srgbClr val="21409A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b="1">
                <a:solidFill>
                  <a:srgbClr val="21409A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b="1">
                <a:solidFill>
                  <a:srgbClr val="21409A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b="1">
                <a:solidFill>
                  <a:srgbClr val="21409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b="1">
                <a:solidFill>
                  <a:srgbClr val="21409A"/>
                </a:solidFill>
                <a:latin typeface="Calibri"/>
                <a:ea typeface="Calibri"/>
                <a:cs typeface="Calibri"/>
              </a:defRPr>
            </a:pPr>
            <a:r>
              <a:rPr sz="3000" b="1" strike="noStrike" spc="-1">
                <a:solidFill>
                  <a:srgbClr val="21409A"/>
                </a:solidFill>
                <a:latin typeface="Calibri"/>
                <a:ea typeface="Calibri"/>
                <a:cs typeface="Calibri"/>
              </a:rPr>
              <a:t>CampusAI: Intelligent Multi-Department</a:t>
            </a:r>
            <a:endParaRPr sz="44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b="1">
                <a:solidFill>
                  <a:srgbClr val="21409A"/>
                </a:solidFill>
                <a:latin typeface="Calibri"/>
                <a:ea typeface="Calibri"/>
                <a:cs typeface="Calibri"/>
              </a:defRPr>
            </a:pPr>
            <a:r>
              <a:rPr sz="3000" b="1" strike="noStrike" spc="-1">
                <a:solidFill>
                  <a:srgbClr val="21409A"/>
                </a:solidFill>
                <a:latin typeface="Calibri"/>
                <a:ea typeface="Calibri"/>
                <a:cs typeface="Calibri"/>
              </a:rPr>
              <a:t>Academic Helpdesk</a:t>
            </a:r>
            <a:endParaRPr sz="44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Subtitle 2">
            <a:extLst xmlns:a="http://schemas.openxmlformats.org/drawingml/2006/main">
              <a:ext uri="{FF2B5EF4-FFF2-40B4-BE49-F238E27FC236}">
                <a16:creationId xmlns:a16="http://schemas.microsoft.com/office/drawing/2014/main" id="{FA0AD77F-CD17-43F2-A471-C99386F0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91000"/>
            <a:ext cx="9144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>
            <a:defPPr algn="ctr">
              <a:defRPr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defPPr>
            <a:lvl1pPr algn="ctr">
              <a:buNone/>
              <a:defRPr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1pPr>
            <a:lvl2pPr algn="ctr">
              <a:buNone/>
              <a:defRPr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2pPr>
            <a:lvl3pPr algn="ctr">
              <a:buNone/>
              <a:defRPr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3pPr>
            <a:lvl4pPr algn="ctr">
              <a:buNone/>
              <a:defRPr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4pPr>
            <a:lvl5pPr algn="ctr">
              <a:buNone/>
              <a:defRPr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5pPr>
            <a:lvl6pPr algn="ctr">
              <a:buNone/>
              <a:defRPr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6pPr>
            <a:lvl7pPr algn="ctr">
              <a:buNone/>
              <a:defRPr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7pPr>
            <a:lvl8pPr algn="ctr">
              <a:buNone/>
              <a:defRPr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8pPr>
            <a:lvl9pPr algn="ctr">
              <a:buNone/>
              <a:defRPr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indent="0" algn="ctr">
              <a:lnSpc>
                <a:spcPct val="100000"/>
              </a:lnSpc>
              <a:spcBef>
                <a:spcPts val="300"/>
              </a:spcBef>
              <a:buNone/>
              <a:defRPr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Team Members: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300"/>
              </a:spcBef>
              <a:buNone/>
              <a:defRPr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V. Jaya Sai Krishna  (24B11CS514)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300"/>
              </a:spcBef>
              <a:buNone/>
              <a:defRPr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Y. Pavanputra  (24B11CS504)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300"/>
              </a:spcBef>
              <a:buNone/>
              <a:defRPr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K. Krishna Vardhan  (24B11CS237)</a:t>
            </a:r>
          </a:p>
          <a:p xmlns:a="http://schemas.openxmlformats.org/drawingml/2006/main">
            <a:pPr marL="0" indent="0" algn="ctr">
              <a:lnSpc>
                <a:spcPct val="100000"/>
              </a:lnSpc>
              <a:spcBef>
                <a:spcPts val="300"/>
              </a:spcBef>
              <a:buNone/>
              <a:defRPr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pPr>
            <a:r>
              <a:rPr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K. Mohan Vamsi Reddy  (24B11CS197)</a:t>
            </a:r>
          </a:p>
        </p:txBody>
      </p:sp>
    </p:spTree>
    <p:extLst>
      <p:ext uri="{BB962C8B-B14F-4D97-AF65-F5344CB8AC3E}">
        <p14:creationId xmlns:p14="http://schemas.microsoft.com/office/powerpoint/2010/main" val="10492335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9" name="Title 1">
            <a:extLst xmlns:a="http://schemas.openxmlformats.org/drawingml/2006/main">
              <a:ext uri="{FF2B5EF4-FFF2-40B4-BE49-F238E27FC236}">
                <a16:creationId xmlns:a16="http://schemas.microsoft.com/office/drawing/2014/main" id="{6A063689-AB34-43C5-8492-835CBD30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Subtitle 2">
            <a:extLst xmlns:a="http://schemas.openxmlformats.org/drawingml/2006/main">
              <a:ext uri="{FF2B5EF4-FFF2-40B4-BE49-F238E27FC236}">
                <a16:creationId xmlns:a16="http://schemas.microsoft.com/office/drawing/2014/main" id="{CC60B2AA-3FA0-4999-B217-6B2A1C26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C232072B-DA50-4862-A423-9A7F5BDB76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56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800" b="0" strike="noStrike" spc="-1">
                <a:solidFill>
                  <a:srgbClr val="006666"/>
                </a:solidFill>
                <a:latin typeface="Times New Roman"/>
                <a:ea typeface="Times New Roman"/>
                <a:cs typeface="Times New Roman"/>
              </a:rPr>
              <a:t>CONTENTS</a:t>
            </a:r>
            <a:endParaRPr sz="4800" b="0" strike="noStrike" spc="-1">
              <a:solidFill>
                <a:srgbClr val="1F49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6F8DB15A-6438-4480-8F9A-7CA610E48CF5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631800" y="990360"/>
            <a:ext cx="10972800" cy="525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>
              <a:def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>
              <a:def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>
              <a:def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>
              <a:def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>
              <a:def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>
              <a:def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>
              <a:def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>
              <a:def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>
              <a:def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431640" indent="-323640">
              <a:lnSpc>
                <a:spcPct val="8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 strike="noStrike" spc="-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Introduction</a:t>
            </a:r>
            <a:endParaRPr sz="2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31640" indent="-323640">
              <a:lnSpc>
                <a:spcPct val="8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 strike="noStrike" spc="-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Problem Definition</a:t>
            </a:r>
            <a:endParaRPr sz="2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31640" indent="-323640">
              <a:lnSpc>
                <a:spcPct val="8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 strike="noStrike" spc="-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Proposed Solution</a:t>
            </a:r>
            <a:endParaRPr sz="2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31640" indent="-323640">
              <a:lnSpc>
                <a:spcPct val="8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 strike="noStrike" spc="-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Proposed Workflow</a:t>
            </a:r>
            <a:endParaRPr sz="2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31640" indent="-323640">
              <a:lnSpc>
                <a:spcPct val="8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 strike="noStrike" spc="-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Data Used</a:t>
            </a:r>
            <a:endParaRPr sz="2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31640" indent="-323640">
              <a:lnSpc>
                <a:spcPct val="8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 strike="noStrike" spc="-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Modules</a:t>
            </a:r>
            <a:endParaRPr sz="2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89000" indent="0">
              <a:lnSpc>
                <a:spcPct val="80000"/>
              </a:lnSpc>
              <a:spcBef>
                <a:spcPts val="1412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 strike="noStrike" spc="-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Core NLP and ML Algorithms</a:t>
            </a:r>
            <a:endParaRPr sz="2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89000" indent="0">
              <a:lnSpc>
                <a:spcPct val="80000"/>
              </a:lnSpc>
              <a:spcBef>
                <a:spcPts val="1412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 strike="noStrike" spc="-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    Features, classifiers, intent classes, and retrieval</a:t>
            </a:r>
            <a:endParaRPr sz="2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889000" indent="0">
              <a:lnSpc>
                <a:spcPct val="80000"/>
              </a:lnSpc>
              <a:spcBef>
                <a:spcPts val="1412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 strike="noStrike" spc="-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Application Output</a:t>
            </a:r>
            <a:endParaRPr sz="2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31640" indent="-323640">
              <a:lnSpc>
                <a:spcPct val="8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 strike="noStrike" spc="-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Evaluation Results</a:t>
            </a:r>
            <a:endParaRPr sz="2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431640" indent="-323640">
              <a:lnSpc>
                <a:spcPct val="80000"/>
              </a:lnSpc>
              <a:spcBef>
                <a:spcPts val="1412"/>
              </a:spcBef>
              <a:buClr>
                <a:srgbClr val="000000"/>
              </a:buClr>
              <a:buSzPct val="45000"/>
              <a:buFont typeface="Wingdings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 strike="noStrike" spc="-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Conclusion and Future Scope</a:t>
            </a:r>
            <a:endParaRPr sz="20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361089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3" name="Title 1">
            <a:extLst xmlns:a="http://schemas.openxmlformats.org/drawingml/2006/main">
              <a:ext uri="{FF2B5EF4-FFF2-40B4-BE49-F238E27FC236}">
                <a16:creationId xmlns:a16="http://schemas.microsoft.com/office/drawing/2014/main" id="{F55A3750-B085-4B01-A03F-47E1D7C9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Subtitle 2">
            <a:extLst xmlns:a="http://schemas.openxmlformats.org/drawingml/2006/main">
              <a:ext uri="{FF2B5EF4-FFF2-40B4-BE49-F238E27FC236}">
                <a16:creationId xmlns:a16="http://schemas.microsoft.com/office/drawing/2014/main" id="{F22E08F5-E2FE-41FE-97EB-BDF333D1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7C383718-D97C-4088-8A59-85CBD22A85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800" b="0" strike="noStrike" spc="-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Introduction</a:t>
            </a:r>
            <a:endParaRPr sz="4800" b="0" strike="noStrike" spc="-1">
              <a:solidFill>
                <a:srgbClr val="1F49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991588F-3BA0-4193-A178-464E3FA4495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631800" y="1258920"/>
            <a:ext cx="10972800" cy="49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t">
            <a:noAutofit/>
          </a:bodyPr>
          <a:lstStyle xmlns:a="http://schemas.openxmlformats.org/drawingml/2006/main">
            <a:def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indent="0" algn="l">
              <a:spcAft>
                <a:spcPts val="15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Project overview: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CampusAI is an academic helpdesk for Aditya University. It interprets student questions and retrieves curriculum evidence with document and page references.</a:t>
            </a:r>
          </a:p>
          <a:p xmlns:a="http://schemas.openxmlformats.org/drawingml/2006/main">
            <a:pPr marL="0" indent="0" algn="l">
              <a:spcAft>
                <a:spcPts val="15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Application domain: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Natural Language Processing and Information Retrieval for B.Tech Curriculum 2024, Version 3.0, across eight engineering departments.</a:t>
            </a:r>
          </a:p>
          <a:p xmlns:a="http://schemas.openxmlformats.org/drawingml/2006/main">
            <a:pPr marL="0" indent="0" algn="l">
              <a:spcAft>
                <a:spcPts val="15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Student needs: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Students can ask about course codes, credits, semester subjects, syllabus units, prerequisites, and academic regulations.</a:t>
            </a:r>
          </a:p>
          <a:p xmlns:a="http://schemas.openxmlformats.org/drawingml/2006/main">
            <a:pPr marL="0" indent="0" algn="l">
              <a:spcAft>
                <a:spcPts val="15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Project objective: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Combine intent classification, exact database lookup, and hybrid document retrieval to make academic answers easier to find and verify.</a:t>
            </a:r>
          </a:p>
        </p:txBody>
      </p:sp>
    </p:spTree>
    <p:extLst>
      <p:ext uri="{BB962C8B-B14F-4D97-AF65-F5344CB8AC3E}">
        <p14:creationId xmlns:p14="http://schemas.microsoft.com/office/powerpoint/2010/main" val="11274499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7" name="Title 1">
            <a:extLst xmlns:a="http://schemas.openxmlformats.org/drawingml/2006/main">
              <a:ext uri="{FF2B5EF4-FFF2-40B4-BE49-F238E27FC236}">
                <a16:creationId xmlns:a16="http://schemas.microsoft.com/office/drawing/2014/main" id="{DC3DF5D5-F66B-4D29-B10A-D4069DBD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Subtitle 2">
            <a:extLst xmlns:a="http://schemas.openxmlformats.org/drawingml/2006/main">
              <a:ext uri="{FF2B5EF4-FFF2-40B4-BE49-F238E27FC236}">
                <a16:creationId xmlns:a16="http://schemas.microsoft.com/office/drawing/2014/main" id="{7075B857-8815-49AD-A169-9C59DA47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A0BEF189-67F9-433D-A3FD-294A2C6B01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800" b="0" strike="noStrike" spc="-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Problem Definition</a:t>
            </a:r>
            <a:endParaRPr sz="4800" b="0" strike="noStrike" spc="-1">
              <a:solidFill>
                <a:srgbClr val="1F49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2CB8BF5-6851-4439-AD73-6E3D21F8DB41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596908" y="1417680"/>
            <a:ext cx="10972800" cy="49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t">
            <a:noAutofit/>
          </a:bodyPr>
          <a:lstStyle xmlns:a="http://schemas.openxmlformats.org/drawingml/2006/main">
            <a:def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indent="0" algn="l">
              <a:spcAft>
                <a:spcPts val="14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Existing problem: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Academic information spans eight curriculum PDFs containing 6,502 pages. Students must identify the correct department, semester, and source page.</a:t>
            </a:r>
          </a:p>
          <a:p xmlns:a="http://schemas.openxmlformats.org/drawingml/2006/main">
            <a:pPr marL="0" indent="0" algn="l">
              <a:spcAft>
                <a:spcPts val="14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Search difficulties: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Abbreviations, paraphrases, and Telugu-English queries can obscure intent. Similar course names also require department context.</a:t>
            </a:r>
          </a:p>
          <a:p xmlns:a="http://schemas.openxmlformats.org/drawingml/2006/main">
            <a:pPr marL="0" indent="0" algn="l">
              <a:spcAft>
                <a:spcPts val="14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Risk of incorrect answers: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Wrong credits, prerequisites, or semester details can mislead academic planning. A fluent answer alone does not establish accuracy.</a:t>
            </a:r>
          </a:p>
          <a:p xmlns:a="http://schemas.openxmlformats.org/drawingml/2006/main">
            <a:pPr marL="0" indent="0" algn="l">
              <a:spcAft>
                <a:spcPts val="14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Affected users: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Students seeking academic guidance and staff who repeatedly answer curriculum questions.</a:t>
            </a:r>
          </a:p>
          <a:p xmlns:a="http://schemas.openxmlformats.org/drawingml/2006/main">
            <a:pPr marL="0" indent="0" algn="l">
              <a:spcAft>
                <a:spcPts val="14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Required improvement: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Route factual questions to structured records and support descriptive answers with traceable evidence, clarification, or abstention.</a:t>
            </a:r>
          </a:p>
        </p:txBody>
      </p:sp>
    </p:spTree>
    <p:extLst>
      <p:ext uri="{BB962C8B-B14F-4D97-AF65-F5344CB8AC3E}">
        <p14:creationId xmlns:p14="http://schemas.microsoft.com/office/powerpoint/2010/main" val="6956222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Title 1">
            <a:extLst xmlns:a="http://schemas.openxmlformats.org/drawingml/2006/main">
              <a:ext uri="{FF2B5EF4-FFF2-40B4-BE49-F238E27FC236}">
                <a16:creationId xmlns:a16="http://schemas.microsoft.com/office/drawing/2014/main" id="{4789B43B-0791-4A72-A69E-7C39E0A9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Subtitle 2">
            <a:extLst xmlns:a="http://schemas.openxmlformats.org/drawingml/2006/main">
              <a:ext uri="{FF2B5EF4-FFF2-40B4-BE49-F238E27FC236}">
                <a16:creationId xmlns:a16="http://schemas.microsoft.com/office/drawing/2014/main" id="{36215BF0-1DC6-4DA0-BB19-F56C34232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C2630532-4A0A-4816-A433-6F087E10BF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800" b="0" strike="noStrike" spc="-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Proposed Solution</a:t>
            </a:r>
            <a:endParaRPr sz="4800" b="0" strike="noStrike" spc="-1">
              <a:solidFill>
                <a:srgbClr val="1F49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F127A2C-065B-43F7-A061-A3233068C254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631800" y="1258920"/>
            <a:ext cx="10972800" cy="49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t">
            <a:noAutofit/>
          </a:bodyPr>
          <a:lstStyle xmlns:a="http://schemas.openxmlformats.org/drawingml/2006/main">
            <a:def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indent="0" algn="l">
              <a:spcAft>
                <a:spcPts val="14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Query understanding: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Identify language, normalize academic terms, predict one of 30 intents, and extract course, department, semester, and unit entities.</a:t>
            </a:r>
          </a:p>
          <a:p xmlns:a="http://schemas.openxmlformats.org/drawingml/2006/main">
            <a:pPr marL="0" indent="0" algn="l">
              <a:spcAft>
                <a:spcPts val="14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Exact academic facts: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 SQL retrieval for structured details such as course codes, credits, and semester offerings.</a:t>
            </a:r>
          </a:p>
          <a:p xmlns:a="http://schemas.openxmlformats.org/drawingml/2006/main">
            <a:pPr marL="0" indent="0" algn="l">
              <a:spcAft>
                <a:spcPts val="14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Syllabus and topic search: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Combine BM25 keyword retrieval with dense semantic search, fuse rankings with RRF, and rerank candidate passages.</a:t>
            </a:r>
          </a:p>
          <a:p xmlns:a="http://schemas.openxmlformats.org/drawingml/2006/main">
            <a:pPr marL="0" indent="0" algn="l">
              <a:spcAft>
                <a:spcPts val="14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Evidence-based responses: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Generate answers from retrieved content, attach document and page references, and request clarification when the query is ambiguous.</a:t>
            </a:r>
          </a:p>
          <a:p xmlns:a="http://schemas.openxmlformats.org/drawingml/2006/main">
            <a:pPr marL="0" indent="0" algn="l">
              <a:spcAft>
                <a:spcPts val="14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Student application: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React and TypeScript interface connects to FastAPI for chat, course exploration, semester views, comparisons, and source viewing.</a:t>
            </a:r>
          </a:p>
        </p:txBody>
      </p:sp>
    </p:spTree>
    <p:extLst>
      <p:ext uri="{BB962C8B-B14F-4D97-AF65-F5344CB8AC3E}">
        <p14:creationId xmlns:p14="http://schemas.microsoft.com/office/powerpoint/2010/main" val="14887599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Title 1">
            <a:extLst xmlns:a="http://schemas.openxmlformats.org/drawingml/2006/main">
              <a:ext uri="{FF2B5EF4-FFF2-40B4-BE49-F238E27FC236}">
                <a16:creationId xmlns:a16="http://schemas.microsoft.com/office/drawing/2014/main" id="{23D9E2FA-B247-413D-A620-EAFFE46F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Subtitle 2">
            <a:extLst xmlns:a="http://schemas.openxmlformats.org/drawingml/2006/main">
              <a:ext uri="{FF2B5EF4-FFF2-40B4-BE49-F238E27FC236}">
                <a16:creationId xmlns:a16="http://schemas.microsoft.com/office/drawing/2014/main" id="{09232B3B-3770-402D-889B-5713885E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6495A24A-D3C1-48FF-A2E7-0D1862775E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000" b="0" strike="noStrike" spc="-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Proposed Workflow (System Architecture)</a:t>
            </a:r>
            <a:endParaRPr sz="4000" b="0" strike="noStrike" spc="-1">
              <a:solidFill>
                <a:srgbClr val="1F49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0" name="Rounded Rectangle 200">
            <a:extLst xmlns:a="http://schemas.openxmlformats.org/drawingml/2006/main">
              <a:ext uri="{FF2B5EF4-FFF2-40B4-BE49-F238E27FC236}">
                <a16:creationId xmlns:a16="http://schemas.microsoft.com/office/drawing/2014/main" id="{DFA0B314-CD18-4C2E-A3F8-D0B023C05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00" y="1480000"/>
            <a:ext cx="650000" cy="76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01" name="Rounded Rectangle 201">
            <a:extLst xmlns:a="http://schemas.openxmlformats.org/drawingml/2006/main">
              <a:ext uri="{FF2B5EF4-FFF2-40B4-BE49-F238E27FC236}">
                <a16:creationId xmlns:a16="http://schemas.microsoft.com/office/drawing/2014/main" id="{C0D9374D-08D0-44AF-829F-D0147670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800" y="1480000"/>
            <a:ext cx="3000000" cy="76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1409A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Query Understanding</a:t>
            </a:r>
          </a:p>
        </p:txBody>
      </p:sp>
      <p:sp>
        <p:nvSpPr>
          <p:cNvPr id="202" name="TextBox 202">
            <a:extLst xmlns:a="http://schemas.openxmlformats.org/drawingml/2006/main">
              <a:ext uri="{FF2B5EF4-FFF2-40B4-BE49-F238E27FC236}">
                <a16:creationId xmlns:a16="http://schemas.microsoft.com/office/drawing/2014/main" id="{E307B832-4E28-42CB-943F-B0784A18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000" y="1480000"/>
            <a:ext cx="7050000" cy="7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Detect language, normalize academic terms, extract entities, and resolve context from earlier questions.</a:t>
            </a:r>
          </a:p>
        </p:txBody>
      </p:sp>
      <p:sp>
        <p:nvSpPr>
          <p:cNvPr id="203" name="Rounded Rectangle 203">
            <a:extLst xmlns:a="http://schemas.openxmlformats.org/drawingml/2006/main">
              <a:ext uri="{FF2B5EF4-FFF2-40B4-BE49-F238E27FC236}">
                <a16:creationId xmlns:a16="http://schemas.microsoft.com/office/drawing/2014/main" id="{3188FC6B-096D-45B1-9190-C7D4D270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00" y="2350000"/>
            <a:ext cx="650000" cy="76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04" name="Rounded Rectangle 204">
            <a:extLst xmlns:a="http://schemas.openxmlformats.org/drawingml/2006/main">
              <a:ext uri="{FF2B5EF4-FFF2-40B4-BE49-F238E27FC236}">
                <a16:creationId xmlns:a16="http://schemas.microsoft.com/office/drawing/2014/main" id="{DE68C690-A6D2-43D7-8DD0-4170328C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800" y="2350000"/>
            <a:ext cx="3000000" cy="76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1409A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Intent Classification</a:t>
            </a:r>
          </a:p>
        </p:txBody>
      </p:sp>
      <p:sp>
        <p:nvSpPr>
          <p:cNvPr id="205" name="TextBox 205">
            <a:extLst xmlns:a="http://schemas.openxmlformats.org/drawingml/2006/main">
              <a:ext uri="{FF2B5EF4-FFF2-40B4-BE49-F238E27FC236}">
                <a16:creationId xmlns:a16="http://schemas.microsoft.com/office/drawing/2014/main" id="{97AEF97C-6268-44D4-9968-7157EDA8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000" y="2350000"/>
            <a:ext cx="7050000" cy="7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Word and character TF-IDF features feed a soft-voting ensemble that predicts one of 30 academic and conversational intents.</a:t>
            </a:r>
          </a:p>
        </p:txBody>
      </p:sp>
      <p:sp>
        <p:nvSpPr>
          <p:cNvPr id="206" name="Rounded Rectangle 206">
            <a:extLst xmlns:a="http://schemas.openxmlformats.org/drawingml/2006/main">
              <a:ext uri="{FF2B5EF4-FFF2-40B4-BE49-F238E27FC236}">
                <a16:creationId xmlns:a16="http://schemas.microsoft.com/office/drawing/2014/main" id="{EC8B5B63-C4E1-4736-BAC0-AAF07103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00" y="3220000"/>
            <a:ext cx="650000" cy="120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07" name="Rounded Rectangle 207">
            <a:extLst xmlns:a="http://schemas.openxmlformats.org/drawingml/2006/main">
              <a:ext uri="{FF2B5EF4-FFF2-40B4-BE49-F238E27FC236}">
                <a16:creationId xmlns:a16="http://schemas.microsoft.com/office/drawing/2014/main" id="{BF062EF9-E390-4E0C-8CC5-18D7B019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800" y="3220000"/>
            <a:ext cx="3000000" cy="120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1409A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SQL and Hybrid Retrieval</a:t>
            </a:r>
          </a:p>
        </p:txBody>
      </p:sp>
      <p:sp>
        <p:nvSpPr>
          <p:cNvPr id="208" name="TextBox 208">
            <a:extLst xmlns:a="http://schemas.openxmlformats.org/drawingml/2006/main">
              <a:ext uri="{FF2B5EF4-FFF2-40B4-BE49-F238E27FC236}">
                <a16:creationId xmlns:a16="http://schemas.microsoft.com/office/drawing/2014/main" id="{E8381F8D-927D-4075-A033-F19293F4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000" y="3220000"/>
            <a:ext cx="7050000" cy="1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47625" rIns="76200" bIns="47625" anchor="t">
            <a:noAutofit/>
          </a:bodyPr>
          <a:lstStyle xmlns:a="http://schemas.openxmlformats.org/drawingml/2006/main">
            <a:def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indent="0" algn="l">
              <a:spcAft>
                <a:spcPts val="5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Structured facts: </a:t>
            </a: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Query academic database records.</a:t>
            </a:r>
          </a:p>
          <a:p xmlns:a="http://schemas.openxmlformats.org/drawingml/2006/main">
            <a:pPr marL="0" indent="0" algn="l">
              <a:spcAft>
                <a:spcPts val="5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Document evidence: </a:t>
            </a:r>
            <a:r>
              <a:rPr sz="16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Search BM25 and dense indices, combine results with Reciprocal Rank Fusion, and retain source metadata.</a:t>
            </a:r>
          </a:p>
        </p:txBody>
      </p:sp>
      <p:sp>
        <p:nvSpPr>
          <p:cNvPr id="209" name="Rounded Rectangle 209">
            <a:extLst xmlns:a="http://schemas.openxmlformats.org/drawingml/2006/main">
              <a:ext uri="{FF2B5EF4-FFF2-40B4-BE49-F238E27FC236}">
                <a16:creationId xmlns:a16="http://schemas.microsoft.com/office/drawing/2014/main" id="{315DDDB6-6442-4A02-B655-9D623A7E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00" y="4530000"/>
            <a:ext cx="650000" cy="76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0" name="Rounded Rectangle 210">
            <a:extLst xmlns:a="http://schemas.openxmlformats.org/drawingml/2006/main">
              <a:ext uri="{FF2B5EF4-FFF2-40B4-BE49-F238E27FC236}">
                <a16:creationId xmlns:a16="http://schemas.microsoft.com/office/drawing/2014/main" id="{10270606-AD00-454F-9894-FA594DC9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800" y="4530000"/>
            <a:ext cx="3000000" cy="76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1409A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Evidence Ranking and Checks</a:t>
            </a:r>
          </a:p>
        </p:txBody>
      </p:sp>
      <p:sp>
        <p:nvSpPr>
          <p:cNvPr id="211" name="TextBox 211">
            <a:extLst xmlns:a="http://schemas.openxmlformats.org/drawingml/2006/main">
              <a:ext uri="{FF2B5EF4-FFF2-40B4-BE49-F238E27FC236}">
                <a16:creationId xmlns:a16="http://schemas.microsoft.com/office/drawing/2014/main" id="{1806EA6A-47EF-4836-99E5-E4D00676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000" y="4530000"/>
            <a:ext cx="7050000" cy="7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Cross-encoder reranking prioritizes relevant passages. Citation checks and confidence rules support evidence selection.</a:t>
            </a:r>
          </a:p>
        </p:txBody>
      </p:sp>
      <p:sp>
        <p:nvSpPr>
          <p:cNvPr id="212" name="Rounded Rectangle 212">
            <a:extLst xmlns:a="http://schemas.openxmlformats.org/drawingml/2006/main">
              <a:ext uri="{FF2B5EF4-FFF2-40B4-BE49-F238E27FC236}">
                <a16:creationId xmlns:a16="http://schemas.microsoft.com/office/drawing/2014/main" id="{EEC7B0DC-F354-4DD5-BCF2-A3B81AF6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00" y="5400000"/>
            <a:ext cx="650000" cy="76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0000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13" name="Rounded Rectangle 213">
            <a:extLst xmlns:a="http://schemas.openxmlformats.org/drawingml/2006/main">
              <a:ext uri="{FF2B5EF4-FFF2-40B4-BE49-F238E27FC236}">
                <a16:creationId xmlns:a16="http://schemas.microsoft.com/office/drawing/2014/main" id="{8383A2D6-9B29-4E90-AD02-746E682C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800" y="5400000"/>
            <a:ext cx="3000000" cy="760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1409A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91440" tIns="45720" rIns="91440" bIns="4572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Answer and Source Display</a:t>
            </a:r>
          </a:p>
        </p:txBody>
      </p:sp>
      <p:sp>
        <p:nvSpPr>
          <p:cNvPr id="214" name="TextBox 214">
            <a:extLst xmlns:a="http://schemas.openxmlformats.org/drawingml/2006/main">
              <a:ext uri="{FF2B5EF4-FFF2-40B4-BE49-F238E27FC236}">
                <a16:creationId xmlns:a16="http://schemas.microsoft.com/office/drawing/2014/main" id="{2142C25C-1A59-48D6-9F0C-C236F167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000" y="5400000"/>
            <a:ext cx="7050000" cy="7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Return an answer with document and page references, ask for clarification, or report that sufficient evidence is unavailable.</a:t>
            </a:r>
          </a:p>
        </p:txBody>
      </p:sp>
    </p:spTree>
    <p:extLst>
      <p:ext uri="{BB962C8B-B14F-4D97-AF65-F5344CB8AC3E}">
        <p14:creationId xmlns:p14="http://schemas.microsoft.com/office/powerpoint/2010/main" val="7258264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5" name="Title 1">
            <a:extLst xmlns:a="http://schemas.openxmlformats.org/drawingml/2006/main">
              <a:ext uri="{FF2B5EF4-FFF2-40B4-BE49-F238E27FC236}">
                <a16:creationId xmlns:a16="http://schemas.microsoft.com/office/drawing/2014/main" id="{808BCBD3-78ED-4743-B1E2-6F61A33B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Subtitle 2">
            <a:extLst xmlns:a="http://schemas.openxmlformats.org/drawingml/2006/main">
              <a:ext uri="{FF2B5EF4-FFF2-40B4-BE49-F238E27FC236}">
                <a16:creationId xmlns:a16="http://schemas.microsoft.com/office/drawing/2014/main" id="{3CE2D669-8F88-483B-B1DA-C3F3A50B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B4E3F02-9E99-451A-8551-A6B4944A0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800" b="0" strike="noStrike" spc="-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Data Used</a:t>
            </a:r>
            <a:endParaRPr sz="4800" b="0" strike="noStrike" spc="-1">
              <a:solidFill>
                <a:srgbClr val="1F49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A919D85-8A8A-46F5-A203-AA43190E6D18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609480" y="1506570"/>
            <a:ext cx="10972800" cy="49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t">
            <a:noAutofit/>
          </a:bodyPr>
          <a:lstStyle xmlns:a="http://schemas.openxmlformats.org/drawingml/2006/main">
            <a:defPPr algn="l"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indent="0" algn="l">
              <a:spcAft>
                <a:spcPts val="12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Official source corpus: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Eight Aditya University B.Tech Curriculum 2024 PDFs, Version 3.0, covering 6,502 pages.</a:t>
            </a:r>
          </a:p>
          <a:p xmlns:a="http://schemas.openxmlformats.org/drawingml/2006/main">
            <a:pPr marL="0" indent="0" algn="l">
              <a:spcAft>
                <a:spcPts val="12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Department coverage: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CSE, CSE-DS, IT, ECE, EEE, Civil Engineering, Mining Engineering, and Petroleum Technology.</a:t>
            </a:r>
          </a:p>
          <a:p xmlns:a="http://schemas.openxmlformats.org/drawingml/2006/main">
            <a:pPr marL="0" indent="0" algn="l">
              <a:spcAft>
                <a:spcPts val="12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Structured academic catalog: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569 registered courses, 583 syllabus units, and 1,273 textbook references.</a:t>
            </a:r>
          </a:p>
          <a:p xmlns:a="http://schemas.openxmlformats.org/drawingml/2006/main">
            <a:pPr marL="0" indent="0" algn="l">
              <a:spcAft>
                <a:spcPts val="12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Intent dataset: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1,201 labeled queries across 30 classes. Fields include query, intent, domain, language, course, department, semester, and unit.</a:t>
            </a:r>
          </a:p>
          <a:p xmlns:a="http://schemas.openxmlformats.org/drawingml/2006/main">
            <a:pPr marL="0" indent="0" algn="l">
              <a:spcAft>
                <a:spcPts val="12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Training and evaluation: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stratified 80/20 split gives 960 training and 241 test queries. Separate stratified five-fold cross-validation estimates model stability.</a:t>
            </a:r>
          </a:p>
          <a:p xmlns:a="http://schemas.openxmlformats.org/drawingml/2006/main">
            <a:pPr marL="0" indent="0" algn="l">
              <a:spcAft>
                <a:spcPts val="12"/>
              </a:spcAft>
              <a:buNone/>
              <a:defRPr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 formats: 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PDF source documents, a CSV query dataset, JSON metadata and indices, and a relational academic database.</a:t>
            </a:r>
          </a:p>
        </p:txBody>
      </p:sp>
    </p:spTree>
    <p:extLst>
      <p:ext uri="{BB962C8B-B14F-4D97-AF65-F5344CB8AC3E}">
        <p14:creationId xmlns:p14="http://schemas.microsoft.com/office/powerpoint/2010/main" val="20439334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9" name="Title 1">
            <a:extLst xmlns:a="http://schemas.openxmlformats.org/drawingml/2006/main">
              <a:ext uri="{FF2B5EF4-FFF2-40B4-BE49-F238E27FC236}">
                <a16:creationId xmlns:a16="http://schemas.microsoft.com/office/drawing/2014/main" id="{F9666332-10AC-4AD5-8D2B-8D9D4A59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Subtitle 2">
            <a:extLst xmlns:a="http://schemas.openxmlformats.org/drawingml/2006/main">
              <a:ext uri="{FF2B5EF4-FFF2-40B4-BE49-F238E27FC236}">
                <a16:creationId xmlns:a16="http://schemas.microsoft.com/office/drawing/2014/main" id="{DBA9D6A9-6A29-4B13-86FD-08609D43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8EB0E9-60FC-4B5D-A2B6-CF5C25328C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520"/>
            <a:ext cx="10972800" cy="87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800" b="0" strike="noStrike" spc="-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Modules</a:t>
            </a:r>
            <a:endParaRPr sz="4800" b="0" strike="noStrike" spc="-1">
              <a:solidFill>
                <a:srgbClr val="1F49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6C1B353-245C-4716-BE97-A4EE51584084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631800" y="1258560"/>
            <a:ext cx="10972800" cy="49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t">
            <a:noAutofit/>
          </a:bodyPr>
          <a:lstStyle xmlns:a="http://schemas.openxmlformats.org/drawingml/2006/main">
            <a:defPPr algn="l">
              <a:defRPr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indent="0" algn="l">
              <a:spcAft>
                <a:spcPts val="5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Text Preprocessing and Query Understanding</a:t>
            </a:r>
          </a:p>
          <a:p xmlns:a="http://schemas.openxmlformats.org/drawingml/2006/main">
            <a:pPr marL="0" indent="0" algn="l">
              <a:spcAft>
                <a:spcPts val="18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Normalize case, punctuation, and whitespace while preserving course codes, academic acronyms, and Telugu text. Extract entities and handle follow-up or multi-intent questions.</a:t>
            </a:r>
          </a:p>
          <a:p xmlns:a="http://schemas.openxmlformats.org/drawingml/2006/main">
            <a:pPr marL="0" indent="0" algn="l">
              <a:spcAft>
                <a:spcPts val="5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Intent Classification</a:t>
            </a:r>
          </a:p>
          <a:p xmlns:a="http://schemas.openxmlformats.org/drawingml/2006/main">
            <a:pPr marL="0" indent="0" algn="l">
              <a:spcAft>
                <a:spcPts val="18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Combine word and character TF-IDF features with calibrated Linear SVM, Logistic Regression, and Complement Naive Bayes. Confidence and alternative intents support query routing.</a:t>
            </a:r>
          </a:p>
          <a:p xmlns:a="http://schemas.openxmlformats.org/drawingml/2006/main">
            <a:pPr marL="0" indent="0" algn="l">
              <a:spcAft>
                <a:spcPts val="5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Retrieval, Grounding, and Application</a:t>
            </a:r>
          </a:p>
          <a:p xmlns:a="http://schemas.openxmlformats.org/drawingml/2006/main">
            <a:pPr marL="0" indent="0" algn="l">
              <a:spcAft>
                <a:spcPts val="18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Retrieve exact facts through SQL and descriptive evidence through hybrid search. The RAG layer adds citations, while the web app provides chat, course exploration, comparisons, and PDF source viewing.</a:t>
            </a:r>
          </a:p>
        </p:txBody>
      </p:sp>
    </p:spTree>
    <p:extLst>
      <p:ext uri="{BB962C8B-B14F-4D97-AF65-F5344CB8AC3E}">
        <p14:creationId xmlns:p14="http://schemas.microsoft.com/office/powerpoint/2010/main" val="11963704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Title 1">
            <a:extLst xmlns:a="http://schemas.openxmlformats.org/drawingml/2006/main">
              <a:ext uri="{FF2B5EF4-FFF2-40B4-BE49-F238E27FC236}">
                <a16:creationId xmlns:a16="http://schemas.microsoft.com/office/drawing/2014/main" id="{F6B38301-2430-4ABE-BC0A-3F82661C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Subtitle 2">
            <a:extLst xmlns:a="http://schemas.openxmlformats.org/drawingml/2006/main">
              <a:ext uri="{FF2B5EF4-FFF2-40B4-BE49-F238E27FC236}">
                <a16:creationId xmlns:a16="http://schemas.microsoft.com/office/drawing/2014/main" id="{F8F3DDA8-DFE5-4074-BF57-316B45DB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3F38FF53-E12A-427D-8F25-FD189D96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2900"/>
            <a:ext cx="942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NLP Query Understanding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07F60B55-1F85-4E35-8D6B-8461B7F7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76375"/>
            <a:ext cx="1078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1. Language and text normalization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C72E7050-4AC0-497E-A8EB-1AB19CC8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10782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Recognize English, Telugu, or mixed queries. Normalize case, punctuation, and whitespace while preserving course codes and academic abbreviations. Lemmatization is optional when language resources are available.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13746FE-BD86-4358-8F7A-62592B45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1078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2. Academic entity extraction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9CEAFC8F-96FF-436C-9210-F5E9B398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10782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Identify the course, department, semester, and unit independently of intent. For “Explain Unit 3 of Operating Systems in CSE,” the entities specify which syllabus content to retrieve.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AA7F3907-E776-4DC4-B675-F923AC9B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86275"/>
            <a:ext cx="1078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3. Context and ambiguity handling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6D7BDBDD-FE8E-4D53-BB94-92660C89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10782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 earlier turns to interpret follow-up questions. Ask for clarification when an abbreviation has multiple meanings, and decompose requests that ask for more than one type of academic information.</a:t>
            </a:r>
          </a:p>
        </p:txBody>
      </p:sp>
    </p:spTree>
    <p:extLst>
      <p:ext uri="{BB962C8B-B14F-4D97-AF65-F5344CB8AC3E}">
        <p14:creationId xmlns:p14="http://schemas.microsoft.com/office/powerpoint/2010/main" val="13475056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Title 1">
            <a:extLst xmlns:a="http://schemas.openxmlformats.org/drawingml/2006/main">
              <a:ext uri="{FF2B5EF4-FFF2-40B4-BE49-F238E27FC236}">
                <a16:creationId xmlns:a16="http://schemas.microsoft.com/office/drawing/2014/main" id="{F6B38301-2430-4ABE-BC0A-3F82661C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Subtitle 2">
            <a:extLst xmlns:a="http://schemas.openxmlformats.org/drawingml/2006/main">
              <a:ext uri="{FF2B5EF4-FFF2-40B4-BE49-F238E27FC236}">
                <a16:creationId xmlns:a16="http://schemas.microsoft.com/office/drawing/2014/main" id="{F8F3DDA8-DFE5-4074-BF57-316B45DB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AE20F594-6C35-470A-875E-29DEA2DD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2900"/>
            <a:ext cx="942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TF-IDF Feature Extraction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C7A8F965-A58C-44F9-8029-C52A3DAC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76375"/>
            <a:ext cx="1078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Word features: phrases of one to three words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7F3415B9-A3B6-4F97-8135-49476B2C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10782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Word n-grams preserve expressions such as “course credits” and “semester total credits.” TF-IDF reduces the influence of frequent terms and gives more weight to terms that distinguish queries.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321B3FEF-E553-4E6E-B7AB-7434A63F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1078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Character features: sequences of two to five characters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D9F543E2-0C71-4168-8F93-D6D127C0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10782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Character n-grams capture fragments within word boundaries. They provide additional signals for spelling variations and related word forms when exact full-word matches differ.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DB1F256E-DD8E-450A-B596-022F14D2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86275"/>
            <a:ext cx="1078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FeatureUnion: one input for all classifiers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4844F330-D837-4CB1-8630-6747F146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10782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pipeline concatenates word and character TF-IDF vectors. Sublinear term frequency reduces the effect of repeated terms. All three classifiers receive this same sparse feature representation.</a:t>
            </a:r>
          </a:p>
        </p:txBody>
      </p:sp>
    </p:spTree>
    <p:extLst>
      <p:ext uri="{BB962C8B-B14F-4D97-AF65-F5344CB8AC3E}">
        <p14:creationId xmlns:p14="http://schemas.microsoft.com/office/powerpoint/2010/main" val="13475056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Title 1">
            <a:extLst xmlns:a="http://schemas.openxmlformats.org/drawingml/2006/main">
              <a:ext uri="{FF2B5EF4-FFF2-40B4-BE49-F238E27FC236}">
                <a16:creationId xmlns:a16="http://schemas.microsoft.com/office/drawing/2014/main" id="{F6B38301-2430-4ABE-BC0A-3F82661C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Subtitle 2">
            <a:extLst xmlns:a="http://schemas.openxmlformats.org/drawingml/2006/main">
              <a:ext uri="{FF2B5EF4-FFF2-40B4-BE49-F238E27FC236}">
                <a16:creationId xmlns:a16="http://schemas.microsoft.com/office/drawing/2014/main" id="{F8F3DDA8-DFE5-4074-BF57-316B45DB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7923FD7D-D845-4F52-A26F-9C5CB9FB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2900"/>
            <a:ext cx="942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Linear SVM Classifier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EB895FAE-9F11-43CB-B3DC-BE56EEF3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76375"/>
            <a:ext cx="1078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How it classifies a query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9491B965-3193-4602-AE7A-537BB864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10782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Linear SVM learns separating boundaries between intent classes in TF-IDF feature space. Its margin-based objective balances class separation against training errors.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325237A2-6278-4033-A9D2-D2D27885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1078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Why calibration is required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4116E8D0-6481-4B58-BD78-1E4D2F43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10782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LinearSVC produces decision scores rather than native probabilities. Three-fold probability calibration converts these scores into estimates that can participate in soft voting.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1D5FA269-7CEB-4E78-9EA4-93201475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86275"/>
            <a:ext cx="1078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CampusAI configuration and role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F2763796-CC45-4357-BFC3-E7611D29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10782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project uses C = 1.5, squared-hinge loss, and L2 regularization. The calibrated SVM receives two of the ensemble’s five weight units. Its standalone accuracy has not been separately reported.</a:t>
            </a:r>
          </a:p>
        </p:txBody>
      </p:sp>
    </p:spTree>
    <p:extLst>
      <p:ext uri="{BB962C8B-B14F-4D97-AF65-F5344CB8AC3E}">
        <p14:creationId xmlns:p14="http://schemas.microsoft.com/office/powerpoint/2010/main" val="13475056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Title 1">
            <a:extLst xmlns:a="http://schemas.openxmlformats.org/drawingml/2006/main">
              <a:ext uri="{FF2B5EF4-FFF2-40B4-BE49-F238E27FC236}">
                <a16:creationId xmlns:a16="http://schemas.microsoft.com/office/drawing/2014/main" id="{F6B38301-2430-4ABE-BC0A-3F82661C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Subtitle 2">
            <a:extLst xmlns:a="http://schemas.openxmlformats.org/drawingml/2006/main">
              <a:ext uri="{FF2B5EF4-FFF2-40B4-BE49-F238E27FC236}">
                <a16:creationId xmlns:a16="http://schemas.microsoft.com/office/drawing/2014/main" id="{F8F3DDA8-DFE5-4074-BF57-316B45DB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0BFBD21C-0814-405E-AA2C-7CEBC68B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2900"/>
            <a:ext cx="942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Logistic Regression and NB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31DC4435-630F-4C53-95BF-62859F20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7637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Logistic Regression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15D5D973-BFFF-4559-A980-FFD35BFE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28825"/>
            <a:ext cx="5095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Learns a weighted relationship between TF-IDF features and each intent. It produces class probabilities directly for the ensemble.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121D6B30-E40F-4836-B9FF-DD3F4FC6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5095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Balanced class weights give rarer classes more influence during training. The project uses C = 5.0, the lbfgs solver, and up to 1,000 iterations.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A899B64E-2966-43D9-817B-9C77C047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76850"/>
            <a:ext cx="509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rPr>
              <a:t>Voting weight: 2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1180A729-7AA3-4860-8F92-93EFA932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76375"/>
            <a:ext cx="512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Complement Naive Bayes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588908BE-77F0-487A-A90C-6CC6CB5F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28825"/>
            <a:ext cx="51244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Uses feature statistics from the other classes to score an intent. It offers a different statistical approach to sparse text classification.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330115FB-916D-48E4-99E1-15B2F630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05200"/>
            <a:ext cx="51244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Smoothing reduces the effect of unseen features. CampusAI sets alpha = 0.3 and enables weight normalization with norm = True.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2DB6A9B3-0F4C-45A8-92D2-756DAA9A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76850"/>
            <a:ext cx="512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rPr>
              <a:t>Voting weight: 1</a:t>
            </a:r>
          </a:p>
        </p:txBody>
      </p:sp>
    </p:spTree>
    <p:extLst>
      <p:ext uri="{BB962C8B-B14F-4D97-AF65-F5344CB8AC3E}">
        <p14:creationId xmlns:p14="http://schemas.microsoft.com/office/powerpoint/2010/main" val="13475056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Title 1">
            <a:extLst xmlns:a="http://schemas.openxmlformats.org/drawingml/2006/main">
              <a:ext uri="{FF2B5EF4-FFF2-40B4-BE49-F238E27FC236}">
                <a16:creationId xmlns:a16="http://schemas.microsoft.com/office/drawing/2014/main" id="{F6B38301-2430-4ABE-BC0A-3F82661C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Subtitle 2">
            <a:extLst xmlns:a="http://schemas.openxmlformats.org/drawingml/2006/main">
              <a:ext uri="{FF2B5EF4-FFF2-40B4-BE49-F238E27FC236}">
                <a16:creationId xmlns:a16="http://schemas.microsoft.com/office/drawing/2014/main" id="{F8F3DDA8-DFE5-4074-BF57-316B45DB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C5F2DCBF-97CB-4E8B-8471-1F30AECB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2900"/>
            <a:ext cx="942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Soft-Voting Ensemble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367D15C5-1D8F-4357-A72F-DDFE40B5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76375"/>
            <a:ext cx="1078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Weighted probability combination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628E0B67-9A7E-4CF7-95B5-255BD623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10782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For each intent, the ensemble combines calibrated SVM, Logistic Regression, and Complement Naive Bayes probabilities. The final intent has the highest combined score.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FD22FE56-8F3D-45C1-8A69-4AEEC593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1078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Voting rule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562DD243-EB51-401B-988F-67A02875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10782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Combined score = (2 × SVM probability + 2 × LR probability + NB probability) / 5. The weights are project settings, not the result of a reported model-comparison study.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A1171725-4334-4881-A78E-9A32485C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86275"/>
            <a:ext cx="1078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Illustrative calculation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EC5E596B-155E-4928-8EA2-8FFA84F5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10782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If the three probabilities for course_credits are 0.80, 0.70, and 0.60, its combined score is 0.72. This explains the voting rule; it is not a measured prediction.</a:t>
            </a:r>
          </a:p>
        </p:txBody>
      </p:sp>
    </p:spTree>
    <p:extLst>
      <p:ext uri="{BB962C8B-B14F-4D97-AF65-F5344CB8AC3E}">
        <p14:creationId xmlns:p14="http://schemas.microsoft.com/office/powerpoint/2010/main" val="13475056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Title 1">
            <a:extLst xmlns:a="http://schemas.openxmlformats.org/drawingml/2006/main">
              <a:ext uri="{FF2B5EF4-FFF2-40B4-BE49-F238E27FC236}">
                <a16:creationId xmlns:a16="http://schemas.microsoft.com/office/drawing/2014/main" id="{F6B38301-2430-4ABE-BC0A-3F82661C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Subtitle 2">
            <a:extLst xmlns:a="http://schemas.openxmlformats.org/drawingml/2006/main">
              <a:ext uri="{FF2B5EF4-FFF2-40B4-BE49-F238E27FC236}">
                <a16:creationId xmlns:a16="http://schemas.microsoft.com/office/drawing/2014/main" id="{F8F3DDA8-DFE5-4074-BF57-316B45DB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E8B0EB8E-BC4F-49FF-8CC0-5E513407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2900"/>
            <a:ext cx="942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The 30 Intent Classes</a:t>
            </a:r>
          </a:p>
        </p:txBody>
      </p:sp>
      <p:graphicFrame>
        <p:nvGraphicFrame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BDB814BB-03B8-460F-A191-F19699132A62}"/>
              </a:ext>
            </a:extLst>
          </p:cNvPr>
          <p:cNvGraphicFramePr/>
          <p:nvPr/>
        </p:nvGraphicFramePr>
        <p:xfrm>
          <a:off xmlns:a="http://schemas.openxmlformats.org/drawingml/2006/main" x="704850" y="1428750"/>
          <a:ext xmlns:a="http://schemas.openxmlformats.org/drawingml/2006/main" cx="10782300" cy="4362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1047750"/>
                <a:gridCol w="7162800"/>
              </a:tblGrid>
              <a:tr h="623207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Intent family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B8C2D4"/>
                      </a:solidFill>
                      <a:prstDash val="solid"/>
                    </a:lnL>
                    <a:lnR w="6668">
                      <a:solidFill>
                        <a:srgbClr val="B8C2D4"/>
                      </a:solidFill>
                      <a:prstDash val="solid"/>
                    </a:lnR>
                    <a:lnT w="6668">
                      <a:solidFill>
                        <a:srgbClr val="B8C2D4"/>
                      </a:solidFill>
                      <a:prstDash val="solid"/>
                    </a:lnT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2140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Count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T w="6668">
                      <a:solidFill>
                        <a:srgbClr val="B8C2D4"/>
                      </a:solidFill>
                      <a:prstDash val="solid"/>
                    </a:lnT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2140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Classes covered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T w="6668">
                      <a:solidFill>
                        <a:srgbClr val="B8C2D4"/>
                      </a:solidFill>
                      <a:prstDash val="solid"/>
                    </a:lnT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21409A"/>
                    </a:solidFill>
                  </a:tcPr>
                </a:tc>
              </a:tr>
              <a:tr h="623207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Course information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B8C2D4"/>
                      </a:solidFill>
                      <a:prstDash val="solid"/>
                    </a:lnL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Code, credits, category, L-T-P-C, outcomes, prerequisites, full syllabus, textbooks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3207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Academic planning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B8C2D4"/>
                      </a:solidFill>
                      <a:prstDash val="solid"/>
                    </a:lnL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8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Course comparison, degree credits, electives, honours/minors, minor streams, minor courses, semester subjects, semester credits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</a:tr>
              <a:tr h="623207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Rules and regulations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B8C2D4"/>
                      </a:solidFill>
                      <a:prstDash val="solid"/>
                    </a:lnL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Attendance, grading, internships, promotion, curriculum version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3207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University information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B8C2D4"/>
                      </a:solidFill>
                      <a:prstDash val="solid"/>
                    </a:lnL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Academic calendar, admissions, exam timetable, institutional leadership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</a:tr>
              <a:tr h="623207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Syllabus detail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B8C2D4"/>
                      </a:solidFill>
                      <a:prstDash val="solid"/>
                    </a:lnL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Unit syllabus, laboratory experiments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3207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Conversation and scope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B8C2D4"/>
                      </a:solidFill>
                      <a:prstDash val="solid"/>
                    </a:lnL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Greeting, thanks, out-of-scope queries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EE7F4DC7-0EEE-4E60-8030-886011BB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1078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Families group the existing labels for explanation. The classifier predicts one of the 30 individual intents.</a:t>
            </a:r>
          </a:p>
        </p:txBody>
      </p:sp>
    </p:spTree>
    <p:extLst>
      <p:ext uri="{BB962C8B-B14F-4D97-AF65-F5344CB8AC3E}">
        <p14:creationId xmlns:p14="http://schemas.microsoft.com/office/powerpoint/2010/main" val="13475056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Title 1">
            <a:extLst xmlns:a="http://schemas.openxmlformats.org/drawingml/2006/main">
              <a:ext uri="{FF2B5EF4-FFF2-40B4-BE49-F238E27FC236}">
                <a16:creationId xmlns:a16="http://schemas.microsoft.com/office/drawing/2014/main" id="{F6B38301-2430-4ABE-BC0A-3F82661C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Subtitle 2">
            <a:extLst xmlns:a="http://schemas.openxmlformats.org/drawingml/2006/main">
              <a:ext uri="{FF2B5EF4-FFF2-40B4-BE49-F238E27FC236}">
                <a16:creationId xmlns:a16="http://schemas.microsoft.com/office/drawing/2014/main" id="{F8F3DDA8-DFE5-4074-BF57-316B45DB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6181A8B1-32F2-4773-95D3-1A4E7FD5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2900"/>
            <a:ext cx="942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Hybrid Retrieval Algorithms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FCB84CE1-D929-48F4-9A88-C09EE7B9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76375"/>
            <a:ext cx="1078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BM25: match specific academic terms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DAE21FA3-3F79-4309-8208-B56CB7AA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10782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Sparse retrieval scores keyword relevance using term frequency, inverse document frequency, and document length. Exact course names and codes provide useful lexical signals.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E9B6374A-FACA-4FB9-9E4A-147D615F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1078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MiniLM: match semantic meaning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AEBC9DAE-DBB8-4174-AEEE-22F65FD1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10782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all-MiniLM-L6-v2 maps queries and document chunks to 384-dimensional vectors. Cosine similarity ranks passages by vector similarity, helping match related wording.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11CF4373-7351-43AD-8B78-E472D07D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86275"/>
            <a:ext cx="1078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Reciprocal Rank Fusion: combine both lists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90FBBD6E-28E6-414A-BEBC-42B4D967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10782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RRF adds each passage’s contribution from its rank in each result list: weight / (60 + rank). A passage appearing near the top of both lists receives a stronger combined score.</a:t>
            </a:r>
          </a:p>
        </p:txBody>
      </p:sp>
    </p:spTree>
    <p:extLst>
      <p:ext uri="{BB962C8B-B14F-4D97-AF65-F5344CB8AC3E}">
        <p14:creationId xmlns:p14="http://schemas.microsoft.com/office/powerpoint/2010/main" val="13475056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Title 1">
            <a:extLst xmlns:a="http://schemas.openxmlformats.org/drawingml/2006/main">
              <a:ext uri="{FF2B5EF4-FFF2-40B4-BE49-F238E27FC236}">
                <a16:creationId xmlns:a16="http://schemas.microsoft.com/office/drawing/2014/main" id="{F6B38301-2430-4ABE-BC0A-3F82661C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Subtitle 2">
            <a:extLst xmlns:a="http://schemas.openxmlformats.org/drawingml/2006/main">
              <a:ext uri="{FF2B5EF4-FFF2-40B4-BE49-F238E27FC236}">
                <a16:creationId xmlns:a16="http://schemas.microsoft.com/office/drawing/2014/main" id="{F8F3DDA8-DFE5-4074-BF57-316B45DB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F342374-8E78-41CC-8C95-A0270932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2900"/>
            <a:ext cx="942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Reranking and Grounding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4CE28931-628F-4D45-9AB8-238976DA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76375"/>
            <a:ext cx="1078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Cross-encoder reranking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7463E984-D347-42F1-B2ED-B61EA024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10782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reranker scores each query and candidate passage together, then selects the highest-ranked evidence. CampusAI uses a MiniLM cross-encoder with a lexical fallback if the model is unavailable.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D2B1EC28-91CF-4988-A54A-C1D34731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1078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Exact lookup and answer generation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F050C895-8782-462B-BC26-2F6988EE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10782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Structured questions use SQL academic records. Descriptive questions use retrieved passages as context for the answer generator. This separates factual lookup from free-text synthesis.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9616BE45-3B79-4590-B5F1-379D68CF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86275"/>
            <a:ext cx="1078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Citation checks and response boundaries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14FFD885-2753-4B17-B5D6-7A3159EA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10782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Checks validate source identifiers, page numbers, and mentioned course codes. Missing evidence can trigger abstention or clarification. These checks improve traceability but do not prove every answer claim is correct.</a:t>
            </a:r>
          </a:p>
        </p:txBody>
      </p:sp>
    </p:spTree>
    <p:extLst>
      <p:ext uri="{BB962C8B-B14F-4D97-AF65-F5344CB8AC3E}">
        <p14:creationId xmlns:p14="http://schemas.microsoft.com/office/powerpoint/2010/main" val="134750562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Title 1">
            <a:extLst xmlns:a="http://schemas.openxmlformats.org/drawingml/2006/main">
              <a:ext uri="{FF2B5EF4-FFF2-40B4-BE49-F238E27FC236}">
                <a16:creationId xmlns:a16="http://schemas.microsoft.com/office/drawing/2014/main" id="{F6B38301-2430-4ABE-BC0A-3F82661C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Subtitle 2">
            <a:extLst xmlns:a="http://schemas.openxmlformats.org/drawingml/2006/main">
              <a:ext uri="{FF2B5EF4-FFF2-40B4-BE49-F238E27FC236}">
                <a16:creationId xmlns:a16="http://schemas.microsoft.com/office/drawing/2014/main" id="{F8F3DDA8-DFE5-4074-BF57-316B45DB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E37C98E5-D898-4F77-A7F1-87DC1268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2900"/>
            <a:ext cx="942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Output: Academic Chat</a:t>
            </a:r>
          </a:p>
        </p:txBody>
      </p:sp>
      <p:pic>
        <p:nvPic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1AD1B5E8-127A-4820-ADE3-457C4E2EF1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a787494dfb4751"/>
          <a:srcRect xmlns:a="http://schemas.openxmlformats.org/drawingml/2006/main" l="32000" t="16000" r="15000" b="39000"/>
          <a:stretch xmlns:a="http://schemas.openxmlformats.org/drawingml/2006/main"/>
        </p:blipFill>
        <p:spPr>
          <a:xfrm xmlns:a="http://schemas.openxmlformats.org/drawingml/2006/main">
            <a:off x="619125" y="1466850"/>
            <a:ext cx="8001000" cy="4714875"/>
          </a:xfrm>
          <a:prstGeom xmlns:a="http://schemas.openxmlformats.org/drawingml/2006/main" prst="rect">
            <a:avLst/>
          </a:prstGeom>
        </p:spPr>
      </p:pic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72D23789-F4E2-4765-91DF-1580987E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55257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Question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A75EE8EF-6520-4DBE-A124-8A754EDE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71675"/>
            <a:ext cx="257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student asks for Operating Systems credits in CSE.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C9C2A207-23F3-46C7-A43D-885A78D0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194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Returned output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92A430B4-F24F-43B2-ADB2-DB3F31C4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38550"/>
            <a:ext cx="2571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Course details, a document ID, and a page reference accompany the answer.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AA649B4B-0425-4BA8-978D-5F847D07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1078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Recorded application demo. The source reference supports inspection of the returned academic details.</a:t>
            </a:r>
          </a:p>
        </p:txBody>
      </p:sp>
    </p:spTree>
    <p:extLst>
      <p:ext uri="{BB962C8B-B14F-4D97-AF65-F5344CB8AC3E}">
        <p14:creationId xmlns:p14="http://schemas.microsoft.com/office/powerpoint/2010/main" val="134750562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Title 1">
            <a:extLst xmlns:a="http://schemas.openxmlformats.org/drawingml/2006/main">
              <a:ext uri="{FF2B5EF4-FFF2-40B4-BE49-F238E27FC236}">
                <a16:creationId xmlns:a16="http://schemas.microsoft.com/office/drawing/2014/main" id="{F6B38301-2430-4ABE-BC0A-3F82661C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Subtitle 2">
            <a:extLst xmlns:a="http://schemas.openxmlformats.org/drawingml/2006/main">
              <a:ext uri="{FF2B5EF4-FFF2-40B4-BE49-F238E27FC236}">
                <a16:creationId xmlns:a16="http://schemas.microsoft.com/office/drawing/2014/main" id="{F8F3DDA8-DFE5-4074-BF57-316B45DB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536C88F3-99D9-4817-8A16-8B1AD3D0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2900"/>
            <a:ext cx="942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Output: Source Inspection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F7E42986-A955-437E-AEBC-53502863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76375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rPr>
              <a:t>Original curriculum page: Semester III</a:t>
            </a:r>
          </a:p>
        </p:txBody>
      </p:sp>
      <p:pic>
        <p:nvPic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5819C0E0-6BBB-4901-93E9-3499EF473D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83d2e9f0664ead"/>
          <a:srcRect xmlns:a="http://schemas.openxmlformats.org/drawingml/2006/main" l="31500" t="23500" r="31500" b="48400"/>
          <a:stretch xmlns:a="http://schemas.openxmlformats.org/drawingml/2006/main"/>
        </p:blipFill>
        <p:spPr>
          <a:xfrm xmlns:a="http://schemas.openxmlformats.org/drawingml/2006/main">
            <a:off x="704850" y="2047875"/>
            <a:ext cx="6858000" cy="3619500"/>
          </a:xfrm>
          <a:prstGeom xmlns:a="http://schemas.openxmlformats.org/drawingml/2006/main" prst="rect">
            <a:avLst/>
          </a:prstGeom>
        </p:spPr>
      </p:pic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4623A82D-F5F8-4DA2-8A8B-A0B3C508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90675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Visible source context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4BF1F533-501B-49A6-BA83-E3170436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66925"/>
            <a:ext cx="3476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The linked document opens at page 29. This enlarged excerpt shows its Semester III course table.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B7BF25BF-65D3-440C-BE21-E642EE0A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76625"/>
            <a:ext cx="347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Verification workflow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F4EAF255-A358-472E-A314-D4CE70B9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62400"/>
            <a:ext cx="347662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 student can inspect the curriculum table and compare the cited course record with the answer.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85EA7BE1-D56F-4046-A50F-B6954CEA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1078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Recorded application demo. Page references make source checking possible; users should verify disputed details.</a:t>
            </a:r>
          </a:p>
        </p:txBody>
      </p:sp>
    </p:spTree>
    <p:extLst>
      <p:ext uri="{BB962C8B-B14F-4D97-AF65-F5344CB8AC3E}">
        <p14:creationId xmlns:p14="http://schemas.microsoft.com/office/powerpoint/2010/main" val="134750562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Title 1">
            <a:extLst xmlns:a="http://schemas.openxmlformats.org/drawingml/2006/main">
              <a:ext uri="{FF2B5EF4-FFF2-40B4-BE49-F238E27FC236}">
                <a16:creationId xmlns:a16="http://schemas.microsoft.com/office/drawing/2014/main" id="{F6B38301-2430-4ABE-BC0A-3F82661C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Subtitle 2">
            <a:extLst xmlns:a="http://schemas.openxmlformats.org/drawingml/2006/main">
              <a:ext uri="{FF2B5EF4-FFF2-40B4-BE49-F238E27FC236}">
                <a16:creationId xmlns:a16="http://schemas.microsoft.com/office/drawing/2014/main" id="{F8F3DDA8-DFE5-4074-BF57-316B45DB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27293019-28B0-4097-A5AD-C95E5440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2900"/>
            <a:ext cx="942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Results: Overall Performance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96FD00E9-512F-4723-A45A-6B4A107B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1078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21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21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21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21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21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21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21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21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21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solidFill>
                  <a:srgbClr val="21409A"/>
                </a:solidFill>
                <a:latin typeface="Times New Roman"/>
                <a:ea typeface="Times New Roman"/>
                <a:cs typeface="Times New Roman"/>
              </a:rPr>
              <a:t>1,201 labeled queries    30 intents    960 train / 241 test</a:t>
            </a:r>
          </a:p>
        </p:txBody>
      </p:sp>
      <p:graphicFrame>
        <p:nvGraphicFrame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A67CFB72-AF82-42DB-9B4E-732D6F2A93CD}"/>
              </a:ext>
            </a:extLst>
          </p:cNvPr>
          <p:cNvGraphicFramePr/>
          <p:nvPr/>
        </p:nvGraphicFramePr>
        <p:xfrm>
          <a:off xmlns:a="http://schemas.openxmlformats.org/drawingml/2006/main" x="704850" y="1990725"/>
          <a:ext xmlns:a="http://schemas.openxmlformats.org/drawingml/2006/main" cx="10782300" cy="3390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238375"/>
                <a:gridCol w="5543550"/>
              </a:tblGrid>
              <a:tr h="5651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Metric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B8C2D4"/>
                      </a:solidFill>
                      <a:prstDash val="solid"/>
                    </a:lnL>
                    <a:lnR w="6668">
                      <a:solidFill>
                        <a:srgbClr val="B8C2D4"/>
                      </a:solidFill>
                      <a:prstDash val="solid"/>
                    </a:lnR>
                    <a:lnT w="6668">
                      <a:solidFill>
                        <a:srgbClr val="B8C2D4"/>
                      </a:solidFill>
                      <a:prstDash val="solid"/>
                    </a:lnT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2140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Recorded result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T w="6668">
                      <a:solidFill>
                        <a:srgbClr val="B8C2D4"/>
                      </a:solidFill>
                      <a:prstDash val="solid"/>
                    </a:lnT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2140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Meaning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T w="6668">
                      <a:solidFill>
                        <a:srgbClr val="B8C2D4"/>
                      </a:solidFill>
                      <a:prstDash val="solid"/>
                    </a:lnT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21409A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Top-1 accuracy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B8C2D4"/>
                      </a:solidFill>
                      <a:prstDash val="solid"/>
                    </a:lnL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96.27%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232 of 241 test queries classified correctly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Top-3 accuracy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B8C2D4"/>
                      </a:solidFill>
                      <a:prstDash val="solid"/>
                    </a:lnL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99.17%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Correct intent among the top three for 239 queries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Macro F1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B8C2D4"/>
                      </a:solidFill>
                      <a:prstDash val="solid"/>
                    </a:lnL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0.9196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Each intent receives equal weight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Weighted F1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B8C2D4"/>
                      </a:solidFill>
                      <a:prstDash val="solid"/>
                    </a:lnL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0.9614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Each intent contributes according to test support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</a:tr>
              <a:tr h="56515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Five-fold CV accuracy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B8C2D4"/>
                      </a:solidFill>
                      <a:prstDash val="solid"/>
                    </a:lnL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96.00% ± 1.17 pp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 accuracy and standard deviation across folds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5187EA8E-FA91-4E18-A667-EE508F3C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1078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Saved evaluation from 22 October 2026. Scores describe intent classification on the project dataset.</a:t>
            </a:r>
          </a:p>
        </p:txBody>
      </p:sp>
    </p:spTree>
    <p:extLst>
      <p:ext uri="{BB962C8B-B14F-4D97-AF65-F5344CB8AC3E}">
        <p14:creationId xmlns:p14="http://schemas.microsoft.com/office/powerpoint/2010/main" val="134750562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3" name="Title 1">
            <a:extLst xmlns:a="http://schemas.openxmlformats.org/drawingml/2006/main">
              <a:ext uri="{FF2B5EF4-FFF2-40B4-BE49-F238E27FC236}">
                <a16:creationId xmlns:a16="http://schemas.microsoft.com/office/drawing/2014/main" id="{F6B38301-2430-4ABE-BC0A-3F82661C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Subtitle 2">
            <a:extLst xmlns:a="http://schemas.openxmlformats.org/drawingml/2006/main">
              <a:ext uri="{FF2B5EF4-FFF2-40B4-BE49-F238E27FC236}">
                <a16:creationId xmlns:a16="http://schemas.microsoft.com/office/drawing/2014/main" id="{F8F3DDA8-DFE5-4074-BF57-316B45DB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96A5E11A-C8FE-43E1-8C3C-BE353786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2900"/>
            <a:ext cx="942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defPPr>
            <a:lvl1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1pPr>
            <a:lvl2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2pPr>
            <a:lvl3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3pPr>
            <a:lvl4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4pPr>
            <a:lvl5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5pPr>
            <a:lvl6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6pPr>
            <a:lvl7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7pPr>
            <a:lvl8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8pPr>
            <a:lvl9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ctr">
              <a:def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50" b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Results: Performance by Intent</a:t>
            </a:r>
          </a:p>
        </p:txBody>
      </p:sp>
      <p:graphicFrame>
        <p:nvGraphicFrame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BA3E4FBA-6948-47A2-9AED-0BC3783AD073}"/>
              </a:ext>
            </a:extLst>
          </p:cNvPr>
          <p:cNvGraphicFramePr/>
          <p:nvPr/>
        </p:nvGraphicFramePr>
        <p:xfrm>
          <a:off xmlns:a="http://schemas.openxmlformats.org/drawingml/2006/main" x="704850" y="1466850"/>
          <a:ext xmlns:a="http://schemas.openxmlformats.org/drawingml/2006/main" cx="10782300" cy="4038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1381125"/>
                <a:gridCol w="1381125"/>
                <a:gridCol w="4781550"/>
              </a:tblGrid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Selected intent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B8C2D4"/>
                      </a:solidFill>
                      <a:prstDash val="solid"/>
                    </a:lnL>
                    <a:lnR w="6668">
                      <a:solidFill>
                        <a:srgbClr val="B8C2D4"/>
                      </a:solidFill>
                      <a:prstDash val="solid"/>
                    </a:lnR>
                    <a:lnT w="6668">
                      <a:solidFill>
                        <a:srgbClr val="B8C2D4"/>
                      </a:solidFill>
                      <a:prstDash val="solid"/>
                    </a:lnT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2140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Test queries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T w="6668">
                      <a:solidFill>
                        <a:srgbClr val="B8C2D4"/>
                      </a:solidFill>
                      <a:prstDash val="solid"/>
                    </a:lnT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2140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F1 score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T w="6668">
                      <a:solidFill>
                        <a:srgbClr val="B8C2D4"/>
                      </a:solidFill>
                      <a:prstDash val="solid"/>
                    </a:lnT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2140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Interpretation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T w="6668">
                      <a:solidFill>
                        <a:srgbClr val="B8C2D4"/>
                      </a:solidFill>
                      <a:prstDash val="solid"/>
                    </a:lnT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21409A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Unit syllabus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B8C2D4"/>
                      </a:solidFill>
                      <a:prstDash val="solid"/>
                    </a:lnL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46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1.0000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Largest test class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Semester subjects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B8C2D4"/>
                      </a:solidFill>
                      <a:prstDash val="solid"/>
                    </a:lnL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39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1.0000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Strong on this test set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Full syllabus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B8C2D4"/>
                      </a:solidFill>
                      <a:prstDash val="solid"/>
                    </a:lnL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0.9677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 precision and recall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Course credits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B8C2D4"/>
                      </a:solidFill>
                      <a:prstDash val="solid"/>
                    </a:lnL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0.9600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Some missed credit queries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Admission information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B8C2D4"/>
                      </a:solidFill>
                      <a:prstDash val="solid"/>
                    </a:lnL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0.5714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Needs more varied examples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Institutional leadership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B8C2D4"/>
                      </a:solidFill>
                      <a:prstDash val="solid"/>
                    </a:lnL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0.6667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Very small test support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1F4F9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Out-of-scope</a:t>
                      </a:r>
                    </a:p>
                  </a:txBody>
                  <a:tcPr marL="114300" marR="114300" marT="76200" marB="76200" anchor="ctr">
                    <a:lnL w="6668">
                      <a:solidFill>
                        <a:srgbClr val="B8C2D4"/>
                      </a:solidFill>
                      <a:prstDash val="solid"/>
                    </a:lnL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0.4000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Priority for improvement</a:t>
                      </a:r>
                    </a:p>
                  </a:txBody>
                  <a:tcPr marL="114300" marR="114300" marT="76200" marB="76200" anchor="ctr">
                    <a:lnR w="6668">
                      <a:solidFill>
                        <a:srgbClr val="B8C2D4"/>
                      </a:solidFill>
                      <a:prstDash val="solid"/>
                    </a:lnR>
                    <a:lnB w="6668">
                      <a:solidFill>
                        <a:srgbClr val="B8C2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BAB53385-79E2-455C-84F6-F24A897D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1078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defPPr>
            <a:lvl1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2pPr>
            <a:lvl3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3pPr>
            <a:lvl4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4pPr>
            <a:lvl5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5pPr>
            <a:lvl6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6pPr>
            <a:lvl7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7pPr>
            <a:lvl8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8pPr>
            <a:lvl9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555555"/>
                </a:solidFill>
                <a:latin typeface="Times New Roman"/>
                <a:ea typeface="Times New Roman"/>
                <a:cs typeface="Times New Roman"/>
              </a:rPr>
              <a:t>Small class sizes limit confidence. A separate student-query test set is needed to assess real-world performance.</a:t>
            </a:r>
          </a:p>
        </p:txBody>
      </p:sp>
    </p:spTree>
    <p:extLst>
      <p:ext uri="{BB962C8B-B14F-4D97-AF65-F5344CB8AC3E}">
        <p14:creationId xmlns:p14="http://schemas.microsoft.com/office/powerpoint/2010/main" val="134750562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3" name="Title 1">
            <a:extLst xmlns:a="http://schemas.openxmlformats.org/drawingml/2006/main">
              <a:ext uri="{FF2B5EF4-FFF2-40B4-BE49-F238E27FC236}">
                <a16:creationId xmlns:a16="http://schemas.microsoft.com/office/drawing/2014/main" id="{77E4A1AA-4ED7-43F6-9B68-B3EB9AE6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0" y="1773360"/>
            <a:ext cx="10696680" cy="1655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Subtitle 2">
            <a:extLst xmlns:a="http://schemas.openxmlformats.org/drawingml/2006/main">
              <a:ext uri="{FF2B5EF4-FFF2-40B4-BE49-F238E27FC236}">
                <a16:creationId xmlns:a16="http://schemas.microsoft.com/office/drawing/2014/main" id="{E20648C2-C9E1-4917-964B-D6349E38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0" y="2895480"/>
            <a:ext cx="10358640" cy="2616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6800" rIns="90000" bIns="46800" anchor="t">
            <a:noAutofit/>
          </a:bodyPr>
          <a:lstStyle xmlns:a="http://schemas.openxmlformats.org/drawingml/2006/main"/>
          <a:p xmlns:a="http://schemas.openxmlformats.org/drawingml/2006/main">
            <a:pPr algn="r">
              <a:spcBef>
                <a:spcPts val="799"/>
              </a:spcBef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sz="1800" b="0" strike="noStrike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58A3B53-0FF9-49F9-BEEE-11C8BB4F8B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2880"/>
            <a:ext cx="1097280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 algn="ct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sz="4800" b="0" strike="noStrike" spc="-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Conclusion and Future Scope</a:t>
            </a:r>
            <a:endParaRPr sz="4800" b="0" strike="noStrike" spc="-1">
              <a:solidFill>
                <a:srgbClr val="1F497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9CF1B939-8AC2-410C-931C-383407894F0E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631800" y="1258920"/>
            <a:ext cx="10972800" cy="49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47625" rIns="76200" bIns="47625" anchor="t">
            <a:noAutofit/>
          </a:bodyPr>
          <a:lstStyle xmlns:a="http://schemas.openxmlformats.org/drawingml/2006/main">
            <a:defPPr algn="l">
              <a:defRPr>
                <a:latin typeface="Times New Roman"/>
                <a:ea typeface="Times New Roman"/>
                <a:cs typeface="Times New Roman"/>
              </a:defRPr>
            </a:defPPr>
            <a:lvl1pPr algn="l">
              <a:buNone/>
              <a:defRPr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>
                <a:latin typeface="Times New Roman"/>
                <a:ea typeface="Times New Roman"/>
                <a:cs typeface="Times New Roman"/>
              </a:defRPr>
            </a:lvl2pPr>
            <a:lvl3pPr algn="l">
              <a:buNone/>
              <a:defRPr>
                <a:latin typeface="Times New Roman"/>
                <a:ea typeface="Times New Roman"/>
                <a:cs typeface="Times New Roman"/>
              </a:defRPr>
            </a:lvl3pPr>
            <a:lvl4pPr algn="l">
              <a:buNone/>
              <a:defRPr>
                <a:latin typeface="Times New Roman"/>
                <a:ea typeface="Times New Roman"/>
                <a:cs typeface="Times New Roman"/>
              </a:defRPr>
            </a:lvl4pPr>
            <a:lvl5pPr algn="l">
              <a:buNone/>
              <a:defRPr>
                <a:latin typeface="Times New Roman"/>
                <a:ea typeface="Times New Roman"/>
                <a:cs typeface="Times New Roman"/>
              </a:defRPr>
            </a:lvl5pPr>
            <a:lvl6pPr algn="l">
              <a:buNone/>
              <a:defRPr>
                <a:latin typeface="Times New Roman"/>
                <a:ea typeface="Times New Roman"/>
                <a:cs typeface="Times New Roman"/>
              </a:defRPr>
            </a:lvl6pPr>
            <a:lvl7pPr algn="l">
              <a:buNone/>
              <a:defRPr>
                <a:latin typeface="Times New Roman"/>
                <a:ea typeface="Times New Roman"/>
                <a:cs typeface="Times New Roman"/>
              </a:defRPr>
            </a:lvl7pPr>
            <a:lvl8pPr algn="l">
              <a:buNone/>
              <a:defRPr>
                <a:latin typeface="Times New Roman"/>
                <a:ea typeface="Times New Roman"/>
                <a:cs typeface="Times New Roman"/>
              </a:defRPr>
            </a:lvl8pPr>
            <a:lvl9pPr algn="l">
              <a:buNone/>
              <a:defRPr>
                <a:latin typeface="Times New Roman"/>
                <a:ea typeface="Times New Roman"/>
                <a:cs typeface="Times New Roman"/>
              </a:defRPr>
            </a:lvl9pPr>
          </a:lstStyle>
          <a:p xmlns:a="http://schemas.openxmlformats.org/drawingml/2006/main">
            <a:pPr marL="0" indent="0" algn="l">
              <a:spcAft>
                <a:spcPts val="5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Conclusion</a:t>
            </a:r>
          </a:p>
          <a:p xmlns:a="http://schemas.openxmlformats.org/drawingml/2006/main">
            <a:pPr marL="0" indent="0" algn="l">
              <a:spcAft>
                <a:spcPts val="18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CampusAI integrates NLP query understanding, structured academic lookup, and hybrid evidence retrieval for eight departments. The latest intent classifier reaches 96.27% accuracy on the held-out project test set.</a:t>
            </a:r>
          </a:p>
          <a:p xmlns:a="http://schemas.openxmlformats.org/drawingml/2006/main">
            <a:pPr marL="0" indent="0" algn="l">
              <a:spcAft>
                <a:spcPts val="5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Current Limitations</a:t>
            </a:r>
          </a:p>
          <a:p xmlns:a="http://schemas.openxmlformats.org/drawingml/2006/main">
            <a:pPr marL="0" indent="0" algn="l">
              <a:spcAft>
                <a:spcPts val="18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Coverage centres on Curriculum 2024, Version 3.0. The test set is small for some intents, and out-of-scope detection has an F1 score of 0.40. Retrieval relevance and answer correctness need independent evaluation.</a:t>
            </a:r>
          </a:p>
          <a:p xmlns:a="http://schemas.openxmlformats.org/drawingml/2006/main">
            <a:pPr marL="0" indent="0" algn="l">
              <a:spcAft>
                <a:spcPts val="5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Future Scope</a:t>
            </a:r>
          </a:p>
          <a:p xmlns:a="http://schemas.openxmlformats.org/drawingml/2006/main">
            <a:pPr marL="0" indent="0" algn="l">
              <a:spcAft>
                <a:spcPts val="18"/>
              </a:spcAft>
              <a:buNone/>
              <a:defRPr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Collect student queries across languages, strengthen low-performing intents, and evaluate retrieval against human relevance labels. Expand verified curriculum coverage and connect approved live academic notices.</a:t>
            </a:r>
          </a:p>
        </p:txBody>
      </p:sp>
    </p:spTree>
    <p:extLst>
      <p:ext uri="{BB962C8B-B14F-4D97-AF65-F5344CB8AC3E}">
        <p14:creationId xmlns:p14="http://schemas.microsoft.com/office/powerpoint/2010/main" val="743461151"/>
      </p:ext>
    </p:extLst>
  </p:cSld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Libre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prstDash val="solid"/>
        </a:ln>
        <a:ln w="6350">
          <a:prstDash val="solid"/>
        </a:ln>
        <a:ln w="63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2026-10-24T14:06:54.8620000Z</dcterms:created>
  <dcterms:modified xsi:type="dcterms:W3CDTF">2026-10-24T14:06:54.8620000Z</dcterms:modified>
</coreProperties>
</file>