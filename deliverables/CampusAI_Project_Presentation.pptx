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theme7.xml" ContentType="application/vnd.openxmlformats-officedocument.theme+xml"/>
  <Override PartName="/ppt/slideMasters/slideMaster7.xml" ContentType="application/vnd.openxmlformats-officedocument.presentationml.slideMaster+xml"/>
  <Override PartName="/ppt/slideMasters/theme/theme8.xml" ContentType="application/vnd.openxmlformats-officedocument.theme+xml"/>
  <Override PartName="/ppt/slideMasters/slideMaster8.xml" ContentType="application/vnd.openxmlformats-officedocument.presentationml.slideMaster+xml"/>
  <Override PartName="/ppt/slideMasters/theme/theme9.xml" ContentType="application/vnd.openxmlformats-officedocument.theme+xml"/>
  <Override PartName="/ppt/slideMasters/slideMaster9.xml" ContentType="application/vnd.openxmlformats-officedocument.presentationml.slideMaster+xml"/>
  <Override PartName="/ppt/slideMasters/theme/theme10.xml" ContentType="application/vnd.openxmlformats-officedocument.theme+xml"/>
  <Override PartName="/ppt/slideMasters/slideMaster10.xml" ContentType="application/vnd.openxmlformats-officedocument.presentationml.slideMaster+xml"/>
  <Override PartName="/ppt/slideMasters/theme/theme11.xml" ContentType="application/vnd.openxmlformats-officedocument.theme+xml"/>
  <Override PartName="/ppt/slideMasters/slideMaster11.xml" ContentType="application/vnd.openxmlformats-officedocument.presentationml.slideMaster+xml"/>
  <Override PartName="/ppt/slideMasters/theme/theme12.xml" ContentType="application/vnd.openxmlformats-officedocument.theme+xml"/>
  <Override PartName="/ppt/slideMasters/slideMaster12.xml" ContentType="application/vnd.openxmlformats-officedocument.presentationml.slideMaster+xml"/>
  <Override PartName="/ppt/slideMasters/theme/theme13.xml" ContentType="application/vnd.openxmlformats-officedocument.theme+xml"/>
  <Override PartName="/ppt/slideMasters/slideMaster13.xml" ContentType="application/vnd.openxmlformats-officedocument.presentationml.slideMaster+xml"/>
  <Override PartName="/ppt/slideMasters/theme/theme14.xml" ContentType="application/vnd.openxmlformats-officedocument.theme+xml"/>
  <Override PartName="/ppt/slideMasters/slideMaster14.xml" ContentType="application/vnd.openxmlformats-officedocument.presentationml.slideMaster+xml"/>
  <Override PartName="/ppt/slideMasters/theme/theme15.xml" ContentType="application/vnd.openxmlformats-officedocument.theme+xml"/>
  <Override PartName="/ppt/slideMasters/slideMaster15.xml" ContentType="application/vnd.openxmlformats-officedocument.presentationml.slideMaster+xml"/>
  <Override PartName="/ppt/slideMasters/theme/theme16.xml" ContentType="application/vnd.openxmlformats-officedocument.theme+xml"/>
  <Override PartName="/ppt/slideMasters/slideMaster16.xml" ContentType="application/vnd.openxmlformats-officedocument.presentationml.slideMaster+xml"/>
  <Override PartName="/ppt/slideMasters/theme/theme17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18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b9799a7ee841ac" /><Relationship Type="http://schemas.openxmlformats.org/officeDocument/2006/relationships/extended-properties" Target="/docProps/app.xml" Id="Ra1b33553f3f341a8" /><Relationship Type="http://schemas.openxmlformats.org/officeDocument/2006/relationships/officeDocument" Target="/ppt/presentation.xml" Id="Ref6140b7d2b444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c75b4ddb034d84"/>
    <p:sldMasterId xmlns:r="http://schemas.openxmlformats.org/officeDocument/2006/relationships" id="2147483649" r:id="R659e57655f8045f2"/>
    <p:sldMasterId xmlns:r="http://schemas.openxmlformats.org/officeDocument/2006/relationships" id="2147483650" r:id="R7ee3623f32934f55"/>
    <p:sldMasterId xmlns:r="http://schemas.openxmlformats.org/officeDocument/2006/relationships" id="2147483651" r:id="R0fc8912245c64822"/>
    <p:sldMasterId xmlns:r="http://schemas.openxmlformats.org/officeDocument/2006/relationships" id="2147483652" r:id="R8653db1a66144961"/>
    <p:sldMasterId xmlns:r="http://schemas.openxmlformats.org/officeDocument/2006/relationships" id="2147483653" r:id="Re2ca22a198214977"/>
    <p:sldMasterId xmlns:r="http://schemas.openxmlformats.org/officeDocument/2006/relationships" id="2147483654" r:id="R26d8207d98a3409d"/>
    <p:sldMasterId xmlns:r="http://schemas.openxmlformats.org/officeDocument/2006/relationships" id="2147483655" r:id="Rb2428315cd9640ef"/>
    <p:sldMasterId xmlns:r="http://schemas.openxmlformats.org/officeDocument/2006/relationships" id="2147483656" r:id="R969cca9db95e48ee"/>
    <p:sldMasterId xmlns:r="http://schemas.openxmlformats.org/officeDocument/2006/relationships" id="2147483657" r:id="R1e4fc827506043be"/>
    <p:sldMasterId xmlns:r="http://schemas.openxmlformats.org/officeDocument/2006/relationships" id="2147483658" r:id="R5b5523344dc74494"/>
    <p:sldMasterId xmlns:r="http://schemas.openxmlformats.org/officeDocument/2006/relationships" id="2147483659" r:id="R49dc53ef82f94a9f"/>
    <p:sldMasterId xmlns:r="http://schemas.openxmlformats.org/officeDocument/2006/relationships" id="2147483660" r:id="R7c07bb0f38ff4f26"/>
    <p:sldMasterId xmlns:r="http://schemas.openxmlformats.org/officeDocument/2006/relationships" id="2147483661" r:id="R20e043004c90428a"/>
    <p:sldMasterId xmlns:r="http://schemas.openxmlformats.org/officeDocument/2006/relationships" id="2147483663" r:id="Ra844821482e54b1d"/>
    <p:sldMasterId xmlns:r="http://schemas.openxmlformats.org/officeDocument/2006/relationships" id="2147483665" r:id="Ref708fa3cec84bfe"/>
  </p:sldMasterIdLst>
  <p:notesMasterIdLst>
    <p:notesMasterId xmlns:r="http://schemas.openxmlformats.org/officeDocument/2006/relationships" r:id="R980322637fe34aa3"/>
  </p:notesMasterIdLst>
  <p:sldIdLst>
    <p:sldId xmlns:r="http://schemas.openxmlformats.org/officeDocument/2006/relationships" id="256" r:id="Rb1e995955227428b"/>
    <p:sldId xmlns:r="http://schemas.openxmlformats.org/officeDocument/2006/relationships" id="257" r:id="Rf1c12358bb49484a"/>
    <p:sldId xmlns:r="http://schemas.openxmlformats.org/officeDocument/2006/relationships" id="258" r:id="Reee258b7bb6e4dfb"/>
    <p:sldId xmlns:r="http://schemas.openxmlformats.org/officeDocument/2006/relationships" id="259" r:id="R582ac0298e7e4ab9"/>
    <p:sldId xmlns:r="http://schemas.openxmlformats.org/officeDocument/2006/relationships" id="260" r:id="Rc22cb3cb658e4ef4"/>
    <p:sldId xmlns:r="http://schemas.openxmlformats.org/officeDocument/2006/relationships" id="261" r:id="R93f96b03fed44e56"/>
    <p:sldId xmlns:r="http://schemas.openxmlformats.org/officeDocument/2006/relationships" id="262" r:id="Rc843130b9ccb4909"/>
    <p:sldId xmlns:r="http://schemas.openxmlformats.org/officeDocument/2006/relationships" id="263" r:id="R74c4dfa8854e4706"/>
    <p:sldId xmlns:r="http://schemas.openxmlformats.org/officeDocument/2006/relationships" id="264" r:id="Rc391e8f2b5c24b4c"/>
    <p:sldId xmlns:r="http://schemas.openxmlformats.org/officeDocument/2006/relationships" id="265" r:id="R98031e63a8314a9c"/>
    <p:sldId xmlns:r="http://schemas.openxmlformats.org/officeDocument/2006/relationships" id="266" r:id="R3caee8e669d9451f"/>
  </p:sldIdLst>
  <p:sldSz cx="12193588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b69aec4285467d" /><Relationship Type="http://schemas.openxmlformats.org/officeDocument/2006/relationships/slideMaster" Target="/ppt/slideMasters/slideMaster1.xml" Id="Rbdc75b4ddb034d84" /><Relationship Type="http://schemas.openxmlformats.org/officeDocument/2006/relationships/slideMaster" Target="/ppt/slideMasters/slideMaster2.xml" Id="R659e57655f8045f2" /><Relationship Type="http://schemas.openxmlformats.org/officeDocument/2006/relationships/slideMaster" Target="/ppt/slideMasters/slideMaster3.xml" Id="R7ee3623f32934f55" /><Relationship Type="http://schemas.openxmlformats.org/officeDocument/2006/relationships/slideMaster" Target="/ppt/slideMasters/slideMaster4.xml" Id="R0fc8912245c64822" /><Relationship Type="http://schemas.openxmlformats.org/officeDocument/2006/relationships/slideMaster" Target="/ppt/slideMasters/slideMaster5.xml" Id="R8653db1a66144961" /><Relationship Type="http://schemas.openxmlformats.org/officeDocument/2006/relationships/slideMaster" Target="/ppt/slideMasters/slideMaster6.xml" Id="Re2ca22a198214977" /><Relationship Type="http://schemas.openxmlformats.org/officeDocument/2006/relationships/slideMaster" Target="/ppt/slideMasters/slideMaster7.xml" Id="R26d8207d98a3409d" /><Relationship Type="http://schemas.openxmlformats.org/officeDocument/2006/relationships/slideMaster" Target="/ppt/slideMasters/slideMaster8.xml" Id="Rb2428315cd9640ef" /><Relationship Type="http://schemas.openxmlformats.org/officeDocument/2006/relationships/slideMaster" Target="/ppt/slideMasters/slideMaster9.xml" Id="R969cca9db95e48ee" /><Relationship Type="http://schemas.openxmlformats.org/officeDocument/2006/relationships/slideMaster" Target="/ppt/slideMasters/slideMaster10.xml" Id="R1e4fc827506043be" /><Relationship Type="http://schemas.openxmlformats.org/officeDocument/2006/relationships/slideMaster" Target="/ppt/slideMasters/slideMaster11.xml" Id="R5b5523344dc74494" /><Relationship Type="http://schemas.openxmlformats.org/officeDocument/2006/relationships/slideMaster" Target="/ppt/slideMasters/slideMaster12.xml" Id="R49dc53ef82f94a9f" /><Relationship Type="http://schemas.openxmlformats.org/officeDocument/2006/relationships/slideMaster" Target="/ppt/slideMasters/slideMaster13.xml" Id="R7c07bb0f38ff4f26" /><Relationship Type="http://schemas.openxmlformats.org/officeDocument/2006/relationships/slideMaster" Target="/ppt/slideMasters/slideMaster14.xml" Id="R20e043004c90428a" /><Relationship Type="http://schemas.openxmlformats.org/officeDocument/2006/relationships/slideMaster" Target="/ppt/slideMasters/slideMaster15.xml" Id="Ra844821482e54b1d" /><Relationship Type="http://schemas.openxmlformats.org/officeDocument/2006/relationships/slideMaster" Target="/ppt/slideMasters/slideMaster16.xml" Id="Ref708fa3cec84bfe" /><Relationship Type="http://schemas.openxmlformats.org/officeDocument/2006/relationships/notesMaster" Target="/ppt/notesMasters/notesMaster1.xml" Id="R980322637fe34aa3" /><Relationship Type="http://schemas.openxmlformats.org/officeDocument/2006/relationships/presProps" Target="/ppt/presProps.xml" Id="Re8a4ddd953794879" /><Relationship Type="http://schemas.openxmlformats.org/officeDocument/2006/relationships/viewProps" Target="/ppt/viewProps.xml" Id="Rf9218cd276e0499f" /><Relationship Type="http://schemas.openxmlformats.org/officeDocument/2006/relationships/tableStyles" Target="/ppt/tableStyles.xml" Id="R5bef183956c9424f" /><Relationship Type="http://schemas.openxmlformats.org/officeDocument/2006/relationships/slide" Target="/ppt/slides/slide1.xml" Id="Rb1e995955227428b" /><Relationship Type="http://schemas.openxmlformats.org/officeDocument/2006/relationships/slide" Target="/ppt/slides/slide2.xml" Id="Rf1c12358bb49484a" /><Relationship Type="http://schemas.openxmlformats.org/officeDocument/2006/relationships/slide" Target="/ppt/slides/slide3.xml" Id="Reee258b7bb6e4dfb" /><Relationship Type="http://schemas.openxmlformats.org/officeDocument/2006/relationships/slide" Target="/ppt/slides/slide4.xml" Id="R582ac0298e7e4ab9" /><Relationship Type="http://schemas.openxmlformats.org/officeDocument/2006/relationships/slide" Target="/ppt/slides/slide5.xml" Id="Rc22cb3cb658e4ef4" /><Relationship Type="http://schemas.openxmlformats.org/officeDocument/2006/relationships/slide" Target="/ppt/slides/slide6.xml" Id="R93f96b03fed44e56" /><Relationship Type="http://schemas.openxmlformats.org/officeDocument/2006/relationships/slide" Target="/ppt/slides/slide7.xml" Id="Rc843130b9ccb4909" /><Relationship Type="http://schemas.openxmlformats.org/officeDocument/2006/relationships/slide" Target="/ppt/slides/slide8.xml" Id="R74c4dfa8854e4706" /><Relationship Type="http://schemas.openxmlformats.org/officeDocument/2006/relationships/slide" Target="/ppt/slides/slide9.xml" Id="Rc391e8f2b5c24b4c" /><Relationship Type="http://schemas.openxmlformats.org/officeDocument/2006/relationships/slide" Target="/ppt/slides/slide10.xml" Id="R98031e63a8314a9c" /><Relationship Type="http://schemas.openxmlformats.org/officeDocument/2006/relationships/slide" Target="/ppt/slides/slide11.xml" Id="R3caee8e669d945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8.xml" Id="Rd174d4a36c8449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18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233595c130482a" /><Relationship Type="http://schemas.openxmlformats.org/officeDocument/2006/relationships/notesMaster" Target="/ppt/notesMasters/notesMaster1.xml" Id="R2534621827e541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bd88546a634e3a" /><Relationship Type="http://schemas.openxmlformats.org/officeDocument/2006/relationships/notesMaster" Target="/ppt/notesMasters/notesMaster1.xml" Id="R9a38c2c4954b4b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dc4ec79b6c42a7" /><Relationship Type="http://schemas.openxmlformats.org/officeDocument/2006/relationships/notesMaster" Target="/ppt/notesMasters/notesMaster1.xml" Id="Rf1dd0e171dc348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ff39517b1a491a" /><Relationship Type="http://schemas.openxmlformats.org/officeDocument/2006/relationships/notesMaster" Target="/ppt/notesMasters/notesMaster1.xml" Id="R3652e44794104a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5a3a65ee3f4429" /><Relationship Type="http://schemas.openxmlformats.org/officeDocument/2006/relationships/notesMaster" Target="/ppt/notesMasters/notesMaster1.xml" Id="Rd8abd3d6f6f148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cd591a531a4847" /><Relationship Type="http://schemas.openxmlformats.org/officeDocument/2006/relationships/notesMaster" Target="/ppt/notesMasters/notesMaster1.xml" Id="Reb2d84932efd47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1ff063e1fb428d" /><Relationship Type="http://schemas.openxmlformats.org/officeDocument/2006/relationships/notesMaster" Target="/ppt/notesMasters/notesMaster1.xml" Id="R149069e8eeef45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7b32bca7ee4764" /><Relationship Type="http://schemas.openxmlformats.org/officeDocument/2006/relationships/notesMaster" Target="/ppt/notesMasters/notesMaster1.xml" Id="R57b6b6def72d46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790a22a6ad4d84" /><Relationship Type="http://schemas.openxmlformats.org/officeDocument/2006/relationships/notesMaster" Target="/ppt/notesMasters/notesMaster1.xml" Id="Rfec47a913f9a47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bba6e3ada240ef" /><Relationship Type="http://schemas.openxmlformats.org/officeDocument/2006/relationships/notesMaster" Target="/ppt/notesMasters/notesMaster1.xml" Id="Rbf8d1622ff4342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88308e45ce4b23" /><Relationship Type="http://schemas.openxmlformats.org/officeDocument/2006/relationships/notesMaster" Target="/ppt/notesMasters/notesMaster1.xml" Id="R3d725bddd61a40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CampusAI project presentation. Project name and scope: backend/config.py and README.md. Team names and IDs retained from the supplied CampusNLP_updated.pptx.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The presentation follows the supplied template section order. Modules covers text preprocessing, intent classification, and semantic retrieval and grounding.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Sources: backend/config.py, backend/rag/generator.py, data/structured/resource_catalog.json. Scope: B.Tech Curriculum 2024 Version 3.0.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Sources: data/manifests/source_quality_report.json, backend/nlp/entity_extractor.py, backend/nlp/coreference.py. Corpus counts are manifest values.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Sources: backend/nlp/intent_classifier.py, scripts/train_intent_model.py, backend/rag/retriever.py, backend/rag/generator.py, frontend/src. Capabilities describe implemented components, not guarantees of answer correctness.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backend/nlp/preprocessing.py, backend/nlp/normalizer.py, backend/nlp/entity_extractor.py, backend/rag/retriever.py, backend/rag/reranker.py, backend/rag/generator.py, backend/rag/citation_verifier.py. Reranking and LLM behavior depend on runtime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Sources: data/manifests/source_quality_report.json (8 PDFs, 6,502 pages), data/structured/resource_catalog.json (catalog counts), data/aditya_university_queries.csv (1,201 rows, 30 intents), scripts/train_intent_model.py (stratified 20% test split, random seed 42), reports/classification_report.txt (241 test samples). The remaining 960 queries form the training split. Cross-validation runs separately over the full dataset. Counts replace the older synthetic CampusFAQ-50K figures in the template.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Sources: backend/nlp/preprocessing.py, scripts/train_intent_model.py, backend/nlp/intent_classifier.py, backend/rag/retriever.py, backend/rag/generator.py, frontend/src. Stopword removal defaults to disabled. Lemmatization is conditional on available NLTK resources.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Sources: scripts/train_intent_model.py (feature ranges, ensemble members and 2:2:1 voting weights), data/structured/resource_catalog.json (384-dimensional MiniLM and retrieval components), backend/rag/retriever.py, backend/rag/citation_verifier.py. The cited ensemble is the latest trained model architecture.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Sources: reports/model_metrics.json, timestamp 2026-10-22 08:09:45 UTC, and reports/classification_report.txt. Dataset: 1,201 queries, 30 intents. Test: 241 queries. Top-1 0.9627, top-3 0.9917, macro F1 0.9196, weighted F1 0.9614, 5-fold CV mean 0.9600 and standard deviation 0.0117. These are saved evaluation results, not a new run. The retrieval metrics in backend/evaluation/benchmark_runner.py are hard-coded constants, so they are excluded as measured outcomes. The older 16-query benchmark uses substring checks for facts and is insufficient to establish general answer accuracy.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reports/classification_report.txt (out_of_scope F1 0.4000 with support 3; admission_information F1 0.5714 with support 4), docs/LIMITATIONS.md, backend/evaluation/benchmark_runner.py. Future work is proposed work. The project dataset may not represent real student query distributions, and the current split is not an independently collected student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4.xml" Id="R195c05f070a24cd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5.xml" Id="R41d3e44fc5b04fa2" /></Relationships>
</file>

<file path=ppt/slideLayouts/slideLayout1.xml><?xml version="1.0" encoding="utf-8"?>
<p:sldLayout xmlns:p="http://schemas.openxmlformats.org/presentationml/2006/main" type="blank" preserve="1">
  <p:cSld name="Title1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FD7C2B8-75F9-4930-A293-E33D50872BBB}"/>
              </a:ext>
            </a:extLst>
          </p:cNvPr>
          <p:cNvSpPr>
            <a:spLocks xmlns:a="http://schemas.openxmlformats.org/drawingml/2006/main" noGrp="1"/>
          </p:cNvSpPr>
          <p:nvPr>
            <p:ph type="ftr" idx="4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Footer</a:t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D7AE374-229B-4272-B9EB-BB3832D8A5A4}"/>
              </a:ext>
            </a:extLst>
          </p:cNvPr>
          <p:cNvSpPr>
            <a:spLocks xmlns:a="http://schemas.openxmlformats.org/drawingml/2006/main" noGrp="1"/>
          </p:cNvSpPr>
          <p:nvPr>
            <p:ph type="sldNum" idx="4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8032AE1-E181-4279-8F49-E20E4ACDFFF7}" type="slidenum">
              <a:t>‹#›</a:t>
            </a:fld>
            <a:endParaRPr/>
          </a:p>
        </p:txBody>
      </p:sp>
      <p:sp>
        <p:nvSpPr>
          <p:cNvPr id="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5C8C76E7-2C1E-4B67-AA74-38144346572A}"/>
              </a:ext>
            </a:extLst>
          </p:cNvPr>
          <p:cNvSpPr>
            <a:spLocks xmlns:a="http://schemas.openxmlformats.org/drawingml/2006/main" noGrp="1"/>
          </p:cNvSpPr>
          <p:nvPr>
            <p:ph type="dt" idx="4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blank" preserve="1">
  <p:cSld name="Title1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AFB3A91-4A01-41B1-8AD0-A2B0F952AACE}"/>
              </a:ext>
            </a:extLst>
          </p:cNvPr>
          <p:cNvSpPr>
            <a:spLocks xmlns:a="http://schemas.openxmlformats.org/drawingml/2006/main" noGrp="1"/>
          </p:cNvSpPr>
          <p:nvPr>
            <p:ph type="ftr" idx="4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Footer</a:t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684CAFA-C7D5-4C24-9BB8-3B19EBBABD7E}"/>
              </a:ext>
            </a:extLst>
          </p:cNvPr>
          <p:cNvSpPr>
            <a:spLocks xmlns:a="http://schemas.openxmlformats.org/drawingml/2006/main" noGrp="1"/>
          </p:cNvSpPr>
          <p:nvPr>
            <p:ph type="sldNum" idx="4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1F0CFD9-DF3D-47EF-B835-BC322E6F7557}" type="slidenum">
              <a:t>‹#›</a:t>
            </a:fld>
            <a:endParaRPr/>
          </a:p>
        </p:txBody>
      </p:sp>
      <p:sp>
        <p:nvSpPr>
          <p:cNvPr id="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62859AD0-5814-4D4E-AFAF-C9A149CF5E35}"/>
              </a:ext>
            </a:extLst>
          </p:cNvPr>
          <p:cNvSpPr>
            <a:spLocks xmlns:a="http://schemas.openxmlformats.org/drawingml/2006/main" noGrp="1"/>
          </p:cNvSpPr>
          <p:nvPr>
            <p:ph type="dt" idx="4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da10c5bdec4cd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36899808199e45c4" /><Relationship Type="http://schemas.openxmlformats.org/officeDocument/2006/relationships/theme" Target="/ppt/slideMasters/theme/theme3.xml" Id="R373995b25cfc4366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image" Target="/ppt/media/image.png" Id="R66cab744b5514811" /><Relationship Type="http://schemas.openxmlformats.org/officeDocument/2006/relationships/theme" Target="/ppt/slideMasters/theme/theme4.xml" Id="R3fec0777c54948c6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image" Target="/ppt/media/image.png" Id="Re576ac68a2ad47ea" /><Relationship Type="http://schemas.openxmlformats.org/officeDocument/2006/relationships/theme" Target="/ppt/slideMasters/theme/theme5.xml" Id="Rb3edb81cbfd94864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image" Target="/ppt/media/image.png" Id="R9d7c41509fd84656" /><Relationship Type="http://schemas.openxmlformats.org/officeDocument/2006/relationships/theme" Target="/ppt/slideMasters/theme/theme6.xml" Id="Rf5389c8296984fdb" /></Relationships>
</file>

<file path=ppt/slideMasters/_rels/slideMaster6.xml.rels>&#65279;<?xml version="1.0" encoding="utf-8"?><Relationships xmlns="http://schemas.openxmlformats.org/package/2006/relationships"><Relationship Type="http://schemas.openxmlformats.org/officeDocument/2006/relationships/image" Target="/ppt/media/image.png" Id="R2b26594c86ba40ec" /><Relationship Type="http://schemas.openxmlformats.org/officeDocument/2006/relationships/theme" Target="/ppt/slideMasters/theme/theme7.xml" Id="Rd7a9c3861ce441aa" /></Relationships>
</file>

<file path=ppt/slideMasters/_rels/slideMaster7.xml.rels>&#65279;<?xml version="1.0" encoding="utf-8"?><Relationships xmlns="http://schemas.openxmlformats.org/package/2006/relationships"><Relationship Type="http://schemas.openxmlformats.org/officeDocument/2006/relationships/image" Target="/ppt/media/image.png" Id="R55c1a7da81f84c81" /><Relationship Type="http://schemas.openxmlformats.org/officeDocument/2006/relationships/theme" Target="/ppt/slideMasters/theme/theme8.xml" Id="Rdb1f13b737094f0a" /></Relationships>
</file>

<file path=ppt/slideMasters/_rels/slideMaster8.xml.rels>&#65279;<?xml version="1.0" encoding="utf-8"?><Relationships xmlns="http://schemas.openxmlformats.org/package/2006/relationships"><Relationship Type="http://schemas.openxmlformats.org/officeDocument/2006/relationships/image" Target="/ppt/media/image.png" Id="R4931db642f3d4113" /><Relationship Type="http://schemas.openxmlformats.org/officeDocument/2006/relationships/theme" Target="/ppt/slideMasters/theme/theme9.xml" Id="R6fdc2d1eba3d4b70" /></Relationships>
</file>

<file path=ppt/slideMasters/_rels/slideMaster9.xml.rels>&#65279;<?xml version="1.0" encoding="utf-8"?><Relationships xmlns="http://schemas.openxmlformats.org/package/2006/relationships"><Relationship Type="http://schemas.openxmlformats.org/officeDocument/2006/relationships/image" Target="/ppt/media/image.png" Id="Raef522e65bd14729" /><Relationship Type="http://schemas.openxmlformats.org/officeDocument/2006/relationships/theme" Target="/ppt/slideMasters/theme/theme10.xml" Id="R02141ee9e3f8449f" /></Relationships>
</file>

<file path=ppt/slideMasters/_rels/slideMaster10.xml.rels>&#65279;<?xml version="1.0" encoding="utf-8"?><Relationships xmlns="http://schemas.openxmlformats.org/package/2006/relationships"><Relationship Type="http://schemas.openxmlformats.org/officeDocument/2006/relationships/image" Target="/ppt/media/image.png" Id="Rc6c82bff92844b79" /><Relationship Type="http://schemas.openxmlformats.org/officeDocument/2006/relationships/theme" Target="/ppt/slideMasters/theme/theme11.xml" Id="R9247a888dd3e4d34" /></Relationships>
</file>

<file path=ppt/slideMasters/_rels/slideMaster11.xml.rels>&#65279;<?xml version="1.0" encoding="utf-8"?><Relationships xmlns="http://schemas.openxmlformats.org/package/2006/relationships"><Relationship Type="http://schemas.openxmlformats.org/officeDocument/2006/relationships/image" Target="/ppt/media/image.png" Id="R292313b2aca4476f" /><Relationship Type="http://schemas.openxmlformats.org/officeDocument/2006/relationships/theme" Target="/ppt/slideMasters/theme/theme12.xml" Id="Ra1efc196b6894684" /></Relationships>
</file>

<file path=ppt/slideMasters/_rels/slideMaster12.xml.rels>&#65279;<?xml version="1.0" encoding="utf-8"?><Relationships xmlns="http://schemas.openxmlformats.org/package/2006/relationships"><Relationship Type="http://schemas.openxmlformats.org/officeDocument/2006/relationships/image" Target="/ppt/media/image.png" Id="R87706193a5694898" /><Relationship Type="http://schemas.openxmlformats.org/officeDocument/2006/relationships/theme" Target="/ppt/slideMasters/theme/theme13.xml" Id="R4b1a757e8a56400c" /></Relationships>
</file>

<file path=ppt/slideMasters/_rels/slideMaster13.xml.rels>&#65279;<?xml version="1.0" encoding="utf-8"?><Relationships xmlns="http://schemas.openxmlformats.org/package/2006/relationships"><Relationship Type="http://schemas.openxmlformats.org/officeDocument/2006/relationships/image" Target="/ppt/media/image.png" Id="R76b679bbe16a4b1d" /><Relationship Type="http://schemas.openxmlformats.org/officeDocument/2006/relationships/theme" Target="/ppt/slideMasters/theme/theme14.xml" Id="R45b3d645073a4981" /></Relationships>
</file>

<file path=ppt/slideMasters/_rels/slideMaster14.xml.rels>&#65279;<?xml version="1.0" encoding="utf-8"?><Relationships xmlns="http://schemas.openxmlformats.org/package/2006/relationships"><Relationship Type="http://schemas.openxmlformats.org/officeDocument/2006/relationships/image" Target="/ppt/media/image.png" Id="Rd2c34a04c1954f01" /><Relationship Type="http://schemas.openxmlformats.org/officeDocument/2006/relationships/theme" Target="/ppt/slideMasters/theme/theme15.xml" Id="R877f7c1113ed4e53" /><Relationship Type="http://schemas.openxmlformats.org/officeDocument/2006/relationships/slideLayout" Target="/ppt/slideLayouts/slideLayout1.xml" Id="Rb7a62f5f49fa4e60" /></Relationships>
</file>

<file path=ppt/slideMasters/_rels/slideMaster15.xml.rels>&#65279;<?xml version="1.0" encoding="utf-8"?><Relationships xmlns="http://schemas.openxmlformats.org/package/2006/relationships"><Relationship Type="http://schemas.openxmlformats.org/officeDocument/2006/relationships/image" Target="/ppt/media/image2.png" Id="Rb1eab42cbe114e83" /><Relationship Type="http://schemas.openxmlformats.org/officeDocument/2006/relationships/theme" Target="/ppt/slideMasters/theme/theme16.xml" Id="R7d405975841e4a1a" /><Relationship Type="http://schemas.openxmlformats.org/officeDocument/2006/relationships/slideLayout" Target="/ppt/slideLayouts/slideLayout2.xml" Id="Raecacc55cc534261" /></Relationships>
</file>

<file path=ppt/slideMasters/_rels/slideMaster16.xml.rels>&#65279;<?xml version="1.0" encoding="utf-8"?><Relationships xmlns="http://schemas.openxmlformats.org/package/2006/relationships"><Relationship Type="http://schemas.openxmlformats.org/officeDocument/2006/relationships/image" Target="/ppt/media/image.png" Id="R7b9ad1ab3fdb4871" /><Relationship Type="http://schemas.openxmlformats.org/officeDocument/2006/relationships/theme" Target="/ppt/slideMasters/theme/theme17.xml" Id="Rbc1da9f1d303414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039459B6-CDC6-479C-8A20-39124B2C15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65DF7C2-49FB-4ECD-8648-06248820C4C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2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DEDBC313-8921-4539-8E77-BBB59D2558C6}"/>
              </a:ext>
            </a:extLst>
          </p:cNvPr>
          <p:cNvSpPr>
            <a:spLocks xmlns:a="http://schemas.openxmlformats.org/drawingml/2006/main" noGrp="1"/>
          </p:cNvSpPr>
          <p:nvPr>
            <p:ph type="sldNum" idx="1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388147A-8D8F-45CA-9275-DF715E5F96E7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7E052C96-29D7-4DE3-B988-7921306DA4C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A4E4940-66FA-4F64-A0A6-84914037261F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2CE7C1EF-EEB2-49CF-9966-07E7C34060C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Picture 2">
            <a:extLst xmlns:a="http://schemas.openxmlformats.org/drawingml/2006/main">
              <a:ext uri="{FF2B5EF4-FFF2-40B4-BE49-F238E27FC236}">
                <a16:creationId xmlns:a16="http://schemas.microsoft.com/office/drawing/2014/main" id="{63C04799-AF6F-4A8D-93FE-BB78F031B1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899808199e45c4"/>
          <a:stretch xmlns:a="http://schemas.openxmlformats.org/drawingml/2006/main"/>
        </p:blipFill>
        <p:spPr>
          <a:xfrm xmlns:a="http://schemas.openxmlformats.org/drawingml/2006/main">
            <a:off x="-711360" y="-504720"/>
            <a:ext cx="391176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2128E76-B500-4CB4-92DB-71E29387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4FD041DD-32B3-4E15-9DD9-AC9FE414B4A8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6EBEA99-C96A-4D0D-8868-7E6ADC94CC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9F66F9AC-CB16-4AAF-B31A-0412F6DADE7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489F099F-986D-4A3B-B4FA-679E389164E5}"/>
              </a:ext>
            </a:extLst>
          </p:cNvPr>
          <p:cNvSpPr>
            <a:spLocks xmlns:a="http://schemas.openxmlformats.org/drawingml/2006/main" noGrp="1"/>
          </p:cNvSpPr>
          <p:nvPr>
            <p:ph type="dt" idx="4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72B925D-2BE4-430C-951B-009C4D1FA01B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32E25037-A6A0-45C2-BEA2-ED14D8DFD935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2590560" y="633888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73E63AB7-63C1-4334-B587-EDEE4C154A67}"/>
              </a:ext>
            </a:extLst>
          </p:cNvPr>
          <p:cNvSpPr>
            <a:spLocks xmlns:a="http://schemas.openxmlformats.org/drawingml/2006/main" noGrp="1"/>
          </p:cNvSpPr>
          <p:nvPr>
            <p:ph type="sldNum" idx="6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71A8C36-55B5-4CBB-9234-D67EBAD73F36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2">
            <a:extLst xmlns:a="http://schemas.openxmlformats.org/drawingml/2006/main">
              <a:ext uri="{FF2B5EF4-FFF2-40B4-BE49-F238E27FC236}">
                <a16:creationId xmlns:a16="http://schemas.microsoft.com/office/drawing/2014/main" id="{35D26493-EAD1-45A9-BE28-64F8762FD1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cab744b5514811"/>
          <a:stretch xmlns:a="http://schemas.openxmlformats.org/drawingml/2006/main"/>
        </p:blipFill>
        <p:spPr>
          <a:xfrm xmlns:a="http://schemas.openxmlformats.org/drawingml/2006/main">
            <a:off x="-711360" y="-504720"/>
            <a:ext cx="391176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3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7FC6D85-9DD6-4079-855E-3DDB1D9C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1A09AB24-F4C3-48CF-993F-7B6D6D85EA52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5B3AACE-8B52-4E90-9244-7A66DD15B8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1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AFEA04AE-EF7D-4E9A-A704-BF8F324F1DD8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1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72C21A2A-A17E-4F39-B584-1C433E3AB13D}"/>
              </a:ext>
            </a:extLst>
          </p:cNvPr>
          <p:cNvSpPr>
            <a:spLocks xmlns:a="http://schemas.openxmlformats.org/drawingml/2006/main" noGrp="1"/>
          </p:cNvSpPr>
          <p:nvPr>
            <p:ph type="dt" idx="7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48B9CE0-3FF5-4C09-AEFE-635DA5CF2857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49ACE81A-C8BF-4419-84A1-D1F64A09586F}"/>
              </a:ext>
            </a:extLst>
          </p:cNvPr>
          <p:cNvSpPr>
            <a:spLocks xmlns:a="http://schemas.openxmlformats.org/drawingml/2006/main" noGrp="1"/>
          </p:cNvSpPr>
          <p:nvPr>
            <p:ph type="ftr" idx="8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31EEAB51-A007-43AD-B3ED-E01CB7B21F05}"/>
              </a:ext>
            </a:extLst>
          </p:cNvPr>
          <p:cNvSpPr>
            <a:spLocks xmlns:a="http://schemas.openxmlformats.org/drawingml/2006/main" noGrp="1"/>
          </p:cNvSpPr>
          <p:nvPr>
            <p:ph type="sldNum" idx="9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FD49AF7-72EA-4AC8-B039-6783F2691A1E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Picture 2">
            <a:extLst xmlns:a="http://schemas.openxmlformats.org/drawingml/2006/main">
              <a:ext uri="{FF2B5EF4-FFF2-40B4-BE49-F238E27FC236}">
                <a16:creationId xmlns:a16="http://schemas.microsoft.com/office/drawing/2014/main" id="{0C937057-515D-4D56-963F-9E9F58B2F7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6ac68a2ad47ea"/>
          <a:stretch xmlns:a="http://schemas.openxmlformats.org/drawingml/2006/main"/>
        </p:blipFill>
        <p:spPr>
          <a:xfrm xmlns:a="http://schemas.openxmlformats.org/drawingml/2006/main">
            <a:off x="-711360" y="-504720"/>
            <a:ext cx="391176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0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814A6B5-7934-4251-8C93-66EF305D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0123890E-C7D8-4766-AA54-B6E2139771FD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F5EB151-9A15-49B0-912B-EFE7FB3035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2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D4EF0C97-8B1D-456E-912C-1505AD10A77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2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DBD95CD0-9B55-446C-94AE-A3068F99DC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9E2AF2C-7866-4B54-B91B-B67EF290981F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4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00876569-A039-473A-B1E5-14E3328CD7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1DA29C3B-F96B-409F-8BA5-B37D6A24D0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CD47C53-6F26-4C2A-B6CD-D5638FB575C1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Picture 2">
            <a:extLst xmlns:a="http://schemas.openxmlformats.org/drawingml/2006/main">
              <a:ext uri="{FF2B5EF4-FFF2-40B4-BE49-F238E27FC236}">
                <a16:creationId xmlns:a16="http://schemas.microsoft.com/office/drawing/2014/main" id="{5558A1BF-AECA-4854-877B-36DD108130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c41509fd84656"/>
          <a:stretch xmlns:a="http://schemas.openxmlformats.org/drawingml/2006/main"/>
        </p:blipFill>
        <p:spPr>
          <a:xfrm xmlns:a="http://schemas.openxmlformats.org/drawingml/2006/main">
            <a:off x="-711360" y="-504720"/>
            <a:ext cx="391176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7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86E88AC-FD03-4171-AD97-F6B888C9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BC1BD30B-28A1-4C4D-9114-D1676A3DF211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4D9C7BD-A51E-4279-B246-E7CA2C099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29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D976A3EE-6818-4DAF-8162-2601DAF3396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30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40124946-5ECC-4A05-917F-E71E1DFFCEFF}"/>
              </a:ext>
            </a:extLst>
          </p:cNvPr>
          <p:cNvSpPr>
            <a:spLocks xmlns:a="http://schemas.openxmlformats.org/drawingml/2006/main" noGrp="1"/>
          </p:cNvSpPr>
          <p:nvPr>
            <p:ph type="dt" idx="13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8671B73-7ED4-4A23-978F-959BBF7E3B7A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1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A8A4A70B-5194-493E-B3E8-75AA836F8FFC}"/>
              </a:ext>
            </a:extLst>
          </p:cNvPr>
          <p:cNvSpPr>
            <a:spLocks xmlns:a="http://schemas.openxmlformats.org/drawingml/2006/main" noGrp="1"/>
          </p:cNvSpPr>
          <p:nvPr>
            <p:ph type="ftr" idx="14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2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35587CEE-AB79-4A22-B5B9-2F0128600407}"/>
              </a:ext>
            </a:extLst>
          </p:cNvPr>
          <p:cNvSpPr>
            <a:spLocks xmlns:a="http://schemas.openxmlformats.org/drawingml/2006/main" noGrp="1"/>
          </p:cNvSpPr>
          <p:nvPr>
            <p:ph type="sldNum" idx="15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15C623F-B875-492A-9DC9-B52D81812EB3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Picture 2">
            <a:extLst xmlns:a="http://schemas.openxmlformats.org/drawingml/2006/main">
              <a:ext uri="{FF2B5EF4-FFF2-40B4-BE49-F238E27FC236}">
                <a16:creationId xmlns:a16="http://schemas.microsoft.com/office/drawing/2014/main" id="{DC0C2E06-B6EA-418A-A0B5-8FED63C797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6594c86ba40ec"/>
          <a:stretch xmlns:a="http://schemas.openxmlformats.org/drawingml/2006/main"/>
        </p:blipFill>
        <p:spPr>
          <a:xfrm xmlns:a="http://schemas.openxmlformats.org/drawingml/2006/main">
            <a:off x="-711360" y="-504720"/>
            <a:ext cx="391176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79C2596-8A6B-49BD-BB78-317653DD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2147397F-EAA3-4D65-952B-2484FB87D855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E23C2FA-26AE-4BD3-8CDA-55F7987A58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3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117A09C-91BA-4690-8E7A-86291AC2943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37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DDADE356-5DD0-4EFE-B0E7-B2B5F2B71650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E0721E4-EC95-4102-A551-1D72627EB330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8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5ADDB26C-7514-42D5-9562-33130F764A9B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9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7A0B789F-05FB-4F7A-97F4-4A1EABE02080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D2C8B9D-8E00-42CB-B62F-5C6DB4AA9891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Picture 2">
            <a:extLst xmlns:a="http://schemas.openxmlformats.org/drawingml/2006/main">
              <a:ext uri="{FF2B5EF4-FFF2-40B4-BE49-F238E27FC236}">
                <a16:creationId xmlns:a16="http://schemas.microsoft.com/office/drawing/2014/main" id="{DE001B75-CBA7-4855-B33D-9746165FC4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1a7da81f84c81"/>
          <a:stretch xmlns:a="http://schemas.openxmlformats.org/drawingml/2006/main"/>
        </p:blipFill>
        <p:spPr>
          <a:xfrm xmlns:a="http://schemas.openxmlformats.org/drawingml/2006/main">
            <a:off x="-711360" y="-504720"/>
            <a:ext cx="391176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1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6C92D3D-C6A8-458B-B6A9-DC3F5BBC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3E7C04CF-B61C-4FC8-8BAE-FC3338F4CF69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0CA6E17-3284-4B71-AAAD-07D7246885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4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277CCB6-7529-4C6F-BFD7-48773505643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4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65FC0207-4A51-4B62-80F6-10D7409ADFE5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B82F50C-B1CB-4AFB-A289-0CBC97440549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5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DAE9CCE6-8B3E-40C7-BCAC-1219B7207EFA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6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2F0D83C8-1A31-4532-843C-67B3CB748FD4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AB18B6F-7D87-4EE1-AA17-A5CB9951BE00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" name="Picture 2">
            <a:extLst xmlns:a="http://schemas.openxmlformats.org/drawingml/2006/main">
              <a:ext uri="{FF2B5EF4-FFF2-40B4-BE49-F238E27FC236}">
                <a16:creationId xmlns:a16="http://schemas.microsoft.com/office/drawing/2014/main" id="{51D5EDB7-5B73-4CF5-AA68-F3B025E88B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31db642f3d4113"/>
          <a:stretch xmlns:a="http://schemas.openxmlformats.org/drawingml/2006/main"/>
        </p:blipFill>
        <p:spPr>
          <a:xfrm xmlns:a="http://schemas.openxmlformats.org/drawingml/2006/main">
            <a:off x="-711360" y="-504720"/>
            <a:ext cx="391176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8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054CBBD-D930-4C46-81A6-B76AD37D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AAEE9729-0104-4C9C-95B7-9C49D8D4451B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F964A79-5C18-4416-8DF3-751DAD3DBF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5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DF75FADE-D865-4292-8A17-13EEAA44831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51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86AF524F-7CB4-4E58-A8B4-4E8C18A10559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4B7E31F-65AE-4FAD-93CB-FF89388DD5B2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2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721E5AFC-494B-41AE-8C32-A8B0874D3683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3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748D1D83-C6F6-4DA1-AF0F-F41B55110528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AF83CFA-0CEE-433F-BEA2-312250DBCC51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4" name="Picture 2">
            <a:extLst xmlns:a="http://schemas.openxmlformats.org/drawingml/2006/main">
              <a:ext uri="{FF2B5EF4-FFF2-40B4-BE49-F238E27FC236}">
                <a16:creationId xmlns:a16="http://schemas.microsoft.com/office/drawing/2014/main" id="{742C6D89-0680-4549-BE1D-1E696072F8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522e65bd14729"/>
          <a:stretch xmlns:a="http://schemas.openxmlformats.org/drawingml/2006/main"/>
        </p:blipFill>
        <p:spPr>
          <a:xfrm xmlns:a="http://schemas.openxmlformats.org/drawingml/2006/main">
            <a:off x="-711360" y="-504720"/>
            <a:ext cx="391176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5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3682CFE-2607-40B7-8C74-ECB27A68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57AB0654-D5EA-44F8-B977-1CA2545CCDCB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6CD471F-B7A5-4440-B998-F7E5145FE7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5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EB521C0-B3BF-4B9B-80D3-13E8285BD80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5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73418ACA-8EF5-455B-92C1-817B7A8E868E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6E68F2C-7F06-4F9B-A629-1D69D7E514F9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9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DC56F8E3-F2C9-4E0F-9BCF-A93DE5948F5C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0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0F7C594C-2F08-4ECF-8022-DDCA56FE51BE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2FA1B9F-B79D-420A-9720-EA8428D33899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Picture 2">
            <a:extLst xmlns:a="http://schemas.openxmlformats.org/drawingml/2006/main">
              <a:ext uri="{FF2B5EF4-FFF2-40B4-BE49-F238E27FC236}">
                <a16:creationId xmlns:a16="http://schemas.microsoft.com/office/drawing/2014/main" id="{9C6F31FA-B69E-4DF0-97D9-FACF4C09DD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c82bff92844b79"/>
          <a:stretch xmlns:a="http://schemas.openxmlformats.org/drawingml/2006/main"/>
        </p:blipFill>
        <p:spPr>
          <a:xfrm xmlns:a="http://schemas.openxmlformats.org/drawingml/2006/main">
            <a:off x="-711360" y="-504720"/>
            <a:ext cx="391176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2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1CFB2CA-6D43-42E4-8112-7AEF0DF0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74CF96DA-1924-40C6-9275-C8BE2CE8D3B4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83258DD1-A180-478B-AA33-8BC8CB1E15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6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15412BD-4207-480F-9082-62870301AEE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65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5D6E4677-FD82-4611-9475-F7DADAB53D60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E71D2E0-4425-4842-8CEB-360B753B4F29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6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F28F8AB0-F20D-436F-921C-ACDB5537AB0A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7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8C28A3CB-D2C0-4ECE-AB3F-7747C0A783E6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6610677-0B7F-4FDF-8056-18EE591D253F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8" name="Picture 2">
            <a:extLst xmlns:a="http://schemas.openxmlformats.org/drawingml/2006/main">
              <a:ext uri="{FF2B5EF4-FFF2-40B4-BE49-F238E27FC236}">
                <a16:creationId xmlns:a16="http://schemas.microsoft.com/office/drawing/2014/main" id="{5180826F-2A1F-4C26-B8DB-0905F2ED35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2313b2aca4476f"/>
          <a:stretch xmlns:a="http://schemas.openxmlformats.org/drawingml/2006/main"/>
        </p:blipFill>
        <p:spPr>
          <a:xfrm xmlns:a="http://schemas.openxmlformats.org/drawingml/2006/main">
            <a:off x="-711360" y="-504720"/>
            <a:ext cx="391176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9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05E6D4D-D023-4F3F-9914-6FFDFF8C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BD6ED539-CEF6-4318-9873-D6152B61F044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4B84127-F9B5-4912-B098-8A3CEB4DA8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7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81D62E2-3A9A-4FAE-9DAD-94B821C59C3B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72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A6BE7BD3-0163-48C9-B748-EDFBF7F54A43}"/>
              </a:ext>
            </a:extLst>
          </p:cNvPr>
          <p:cNvSpPr>
            <a:spLocks xmlns:a="http://schemas.openxmlformats.org/drawingml/2006/main" noGrp="1"/>
          </p:cNvSpPr>
          <p:nvPr>
            <p:ph type="dt" idx="31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197E74F-7E91-4DC8-8788-209BD8CA7D43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3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D1623208-F013-41EB-8168-931FB86F8CEF}"/>
              </a:ext>
            </a:extLst>
          </p:cNvPr>
          <p:cNvSpPr>
            <a:spLocks xmlns:a="http://schemas.openxmlformats.org/drawingml/2006/main" noGrp="1"/>
          </p:cNvSpPr>
          <p:nvPr>
            <p:ph type="ftr" idx="32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4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BFF0B53B-53E0-4396-9311-CA81CFD1BE51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5C171C4-6F2C-45E6-98A2-A8B9A1F609A0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5" name="Picture 2">
            <a:extLst xmlns:a="http://schemas.openxmlformats.org/drawingml/2006/main">
              <a:ext uri="{FF2B5EF4-FFF2-40B4-BE49-F238E27FC236}">
                <a16:creationId xmlns:a16="http://schemas.microsoft.com/office/drawing/2014/main" id="{AC175B46-202E-4DD8-9579-FBBEE6BA04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706193a5694898"/>
          <a:stretch xmlns:a="http://schemas.openxmlformats.org/drawingml/2006/main"/>
        </p:blipFill>
        <p:spPr>
          <a:xfrm xmlns:a="http://schemas.openxmlformats.org/drawingml/2006/main">
            <a:off x="-711360" y="-504720"/>
            <a:ext cx="391176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6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7A14354-3B10-4600-B173-875B8BF9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E3BADF6D-E864-4A5E-88B1-C40D7B087A09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E6D5462-EEFC-4AE4-9340-1EFE05AA07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7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3966938-4B07-498B-953C-2DDE4269D448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7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1669E81E-B048-46B7-B2F0-E2B261E71D02}"/>
              </a:ext>
            </a:extLst>
          </p:cNvPr>
          <p:cNvSpPr>
            <a:spLocks xmlns:a="http://schemas.openxmlformats.org/drawingml/2006/main" noGrp="1"/>
          </p:cNvSpPr>
          <p:nvPr>
            <p:ph type="dt" idx="34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25829AF-D24A-4680-83CF-33B20E786423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0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827E532F-5DAF-4987-8B5D-890CC745D67A}"/>
              </a:ext>
            </a:extLst>
          </p:cNvPr>
          <p:cNvSpPr>
            <a:spLocks xmlns:a="http://schemas.openxmlformats.org/drawingml/2006/main" noGrp="1"/>
          </p:cNvSpPr>
          <p:nvPr>
            <p:ph type="ftr" idx="35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1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E3747FEE-7EDC-4FCE-9DD9-D50B9D21766A}"/>
              </a:ext>
            </a:extLst>
          </p:cNvPr>
          <p:cNvSpPr>
            <a:spLocks xmlns:a="http://schemas.openxmlformats.org/drawingml/2006/main" noGrp="1"/>
          </p:cNvSpPr>
          <p:nvPr>
            <p:ph type="sldNum" idx="36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7EEAD98-8182-456F-BC42-0D7E8877C45E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2" name="Picture 2">
            <a:extLst xmlns:a="http://schemas.openxmlformats.org/drawingml/2006/main">
              <a:ext uri="{FF2B5EF4-FFF2-40B4-BE49-F238E27FC236}">
                <a16:creationId xmlns:a16="http://schemas.microsoft.com/office/drawing/2014/main" id="{7B2CF5DE-9A63-40CD-B598-A209FEA6DE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b679bbe16a4b1d"/>
          <a:stretch xmlns:a="http://schemas.openxmlformats.org/drawingml/2006/main"/>
        </p:blipFill>
        <p:spPr>
          <a:xfrm xmlns:a="http://schemas.openxmlformats.org/drawingml/2006/main">
            <a:off x="-711360" y="-504720"/>
            <a:ext cx="391176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83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B0E501C-E33E-4787-B137-D4452E08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FF2F7CCA-E718-48A6-8D37-95DE15DF14C2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BDF4FDF-567E-4F5F-ACF4-FB72DAE652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8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A8A07CDA-934F-4216-881D-E9E28516D8B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8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796F7790-63CD-47FA-8373-717BDCB80064}"/>
              </a:ext>
            </a:extLst>
          </p:cNvPr>
          <p:cNvSpPr>
            <a:spLocks xmlns:a="http://schemas.openxmlformats.org/drawingml/2006/main" noGrp="1"/>
          </p:cNvSpPr>
          <p:nvPr>
            <p:ph type="dt" idx="37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3BAF32E-A72C-406C-A99E-C12A725AC0DD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7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3864C2D6-D58A-4837-A7E9-8D4247BF7D80}"/>
              </a:ext>
            </a:extLst>
          </p:cNvPr>
          <p:cNvSpPr>
            <a:spLocks xmlns:a="http://schemas.openxmlformats.org/drawingml/2006/main" noGrp="1"/>
          </p:cNvSpPr>
          <p:nvPr>
            <p:ph type="ftr" idx="38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8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5BC6CBFA-E243-4228-BEFE-35CBBE81631E}"/>
              </a:ext>
            </a:extLst>
          </p:cNvPr>
          <p:cNvSpPr>
            <a:spLocks xmlns:a="http://schemas.openxmlformats.org/drawingml/2006/main" noGrp="1"/>
          </p:cNvSpPr>
          <p:nvPr>
            <p:ph type="sldNum" idx="39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CA383B8-0A95-4AA5-A463-417CD73EBB54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9" name="Picture 2">
            <a:extLst xmlns:a="http://schemas.openxmlformats.org/drawingml/2006/main">
              <a:ext uri="{FF2B5EF4-FFF2-40B4-BE49-F238E27FC236}">
                <a16:creationId xmlns:a16="http://schemas.microsoft.com/office/drawing/2014/main" id="{4E0EE9DD-04DF-4561-A5CA-27014A2906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34a04c1954f01"/>
          <a:stretch xmlns:a="http://schemas.openxmlformats.org/drawingml/2006/main"/>
        </p:blipFill>
        <p:spPr>
          <a:xfrm xmlns:a="http://schemas.openxmlformats.org/drawingml/2006/main">
            <a:off x="-533520" y="-504720"/>
            <a:ext cx="324972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90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64FB227-C7BC-4C34-8A20-01B42CDB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EA7A70F6-B120-47C1-BD1B-A11124D94B3A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3E97BA4-C567-4517-9F8B-A02C57BCA5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9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900DC91C-EC1B-423D-91ED-CE23C6584DB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9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A9FC0096-1655-4C76-9BF1-CC9BDAC9075B}"/>
              </a:ext>
            </a:extLst>
          </p:cNvPr>
          <p:cNvSpPr>
            <a:spLocks xmlns:a="http://schemas.openxmlformats.org/drawingml/2006/main" noGrp="1"/>
          </p:cNvSpPr>
          <p:nvPr>
            <p:ph type="dt" idx="40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17802FC-E8E5-4BA7-8D49-EB8055859912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4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1EE72B6B-6857-4CA0-B92E-EE4ADC766BAD}"/>
              </a:ext>
            </a:extLst>
          </p:cNvPr>
          <p:cNvSpPr>
            <a:spLocks xmlns:a="http://schemas.openxmlformats.org/drawingml/2006/main" noGrp="1"/>
          </p:cNvSpPr>
          <p:nvPr>
            <p:ph type="ftr" idx="41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5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1E5D29E3-F4A0-435C-9275-E5641FA27416}"/>
              </a:ext>
            </a:extLst>
          </p:cNvPr>
          <p:cNvSpPr>
            <a:spLocks xmlns:a="http://schemas.openxmlformats.org/drawingml/2006/main" noGrp="1"/>
          </p:cNvSpPr>
          <p:nvPr>
            <p:ph type="sldNum" idx="42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0D3BEB5-073E-4942-A1D5-E86410C40029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2" r:id="Rb7a62f5f49fa4e6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5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6" name="Picture 4">
            <a:extLst xmlns:a="http://schemas.openxmlformats.org/drawingml/2006/main">
              <a:ext uri="{FF2B5EF4-FFF2-40B4-BE49-F238E27FC236}">
                <a16:creationId xmlns:a16="http://schemas.microsoft.com/office/drawing/2014/main" id="{36D389ED-F9C6-4FF6-B92D-9F738119E0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ab42cbe114e83"/>
          <a:stretch xmlns:a="http://schemas.openxmlformats.org/drawingml/2006/main"/>
        </p:blipFill>
        <p:spPr>
          <a:xfrm xmlns:a="http://schemas.openxmlformats.org/drawingml/2006/main">
            <a:off x="2567160" y="592200"/>
            <a:ext cx="7610400" cy="100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97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586E18B-0F94-441F-BF80-CF5C4B07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2600" y="6356520"/>
            <a:ext cx="108108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46B4BB9A-7DA8-46F6-BA5F-D3279DA6E31F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A36A4432-8D85-44FE-AF64-2D64EE614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99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0A2C065-BD58-4320-9B3D-0CA8C60BA14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100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950CBE7E-B553-4D43-86DD-C42C78E05633}"/>
              </a:ext>
            </a:extLst>
          </p:cNvPr>
          <p:cNvSpPr>
            <a:spLocks xmlns:a="http://schemas.openxmlformats.org/drawingml/2006/main" noGrp="1"/>
          </p:cNvSpPr>
          <p:nvPr>
            <p:ph type="dt" idx="43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2BFF692-5B50-44EE-BE9B-D1C4B151D7DC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1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8842A0F4-B51D-4BAE-816F-460A46B60DE8}"/>
              </a:ext>
            </a:extLst>
          </p:cNvPr>
          <p:cNvSpPr>
            <a:spLocks xmlns:a="http://schemas.openxmlformats.org/drawingml/2006/main" noGrp="1"/>
          </p:cNvSpPr>
          <p:nvPr>
            <p:ph type="ftr" idx="44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2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B4A15517-DB71-40E4-B033-AEC523E4C067}"/>
              </a:ext>
            </a:extLst>
          </p:cNvPr>
          <p:cNvSpPr>
            <a:spLocks xmlns:a="http://schemas.openxmlformats.org/drawingml/2006/main" noGrp="1"/>
          </p:cNvSpPr>
          <p:nvPr>
            <p:ph type="sldNum" idx="45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AA01515-4EE7-4C36-828E-D54EA72C9601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aecacc55cc53426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6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3" name="Picture 4">
            <a:extLst xmlns:a="http://schemas.openxmlformats.org/drawingml/2006/main">
              <a:ext uri="{FF2B5EF4-FFF2-40B4-BE49-F238E27FC236}">
                <a16:creationId xmlns:a16="http://schemas.microsoft.com/office/drawing/2014/main" id="{980E75EC-9D61-43C1-B229-46000424A7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9ad1ab3fdb4871"/>
          <a:stretch xmlns:a="http://schemas.openxmlformats.org/drawingml/2006/main"/>
        </p:blipFill>
        <p:spPr>
          <a:xfrm xmlns:a="http://schemas.openxmlformats.org/drawingml/2006/main">
            <a:off x="-533520" y="-504720"/>
            <a:ext cx="324972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0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D2E585A-8F7E-40B9-AA4F-F7CD325A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2600" y="6356520"/>
            <a:ext cx="108108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A9DF2E4A-96BF-4E4D-8E93-11326B652BF5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F1BD43F-FDAF-465F-897D-BCCABA4456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10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D8C8520-EBAA-43E9-B361-916E0BE426E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107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DEDC171E-BE93-4E34-B776-7205D88544FC}"/>
              </a:ext>
            </a:extLst>
          </p:cNvPr>
          <p:cNvSpPr>
            <a:spLocks xmlns:a="http://schemas.openxmlformats.org/drawingml/2006/main" noGrp="1"/>
          </p:cNvSpPr>
          <p:nvPr>
            <p:ph type="dt" idx="46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35A28DE-420D-4748-9789-73B84CD9CB1E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8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E002B1B7-DE80-416F-8A8D-C3466B61117B}"/>
              </a:ext>
            </a:extLst>
          </p:cNvPr>
          <p:cNvSpPr>
            <a:spLocks xmlns:a="http://schemas.openxmlformats.org/drawingml/2006/main" noGrp="1"/>
          </p:cNvSpPr>
          <p:nvPr>
            <p:ph type="ftr" idx="47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9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BE18D0D2-87F4-4D07-8959-095CC1F2F108}"/>
              </a:ext>
            </a:extLst>
          </p:cNvPr>
          <p:cNvSpPr>
            <a:spLocks xmlns:a="http://schemas.openxmlformats.org/drawingml/2006/main" noGrp="1"/>
          </p:cNvSpPr>
          <p:nvPr>
            <p:ph type="sldNum" idx="48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38A753B-7349-4B74-8C4A-4FBF64820C58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4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5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6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7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8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9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10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1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1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1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14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15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16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17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69405143674b3b" /><Relationship Type="http://schemas.openxmlformats.org/officeDocument/2006/relationships/notesSlide" Target="/ppt/notesSlides/notesSlide1.xml" Id="R2a13844b65f644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9d9ef1c2045d6" /><Relationship Type="http://schemas.openxmlformats.org/officeDocument/2006/relationships/notesSlide" Target="/ppt/notesSlides/notesSlide2.xml" Id="Rd1793229e2a64a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3c29bbcac4d3e" /><Relationship Type="http://schemas.openxmlformats.org/officeDocument/2006/relationships/notesSlide" Target="/ppt/notesSlides/notesSlide3.xml" Id="R46f8c721009741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4981fd65c4c6e" /><Relationship Type="http://schemas.openxmlformats.org/officeDocument/2006/relationships/notesSlide" Target="/ppt/notesSlides/notesSlide4.xml" Id="R34f772d0695d47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e39696d3f4844" /><Relationship Type="http://schemas.openxmlformats.org/officeDocument/2006/relationships/notesSlide" Target="/ppt/notesSlides/notesSlide5.xml" Id="Rc1faf2f633af45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a39563ce643b3" /><Relationship Type="http://schemas.openxmlformats.org/officeDocument/2006/relationships/notesSlide" Target="/ppt/notesSlides/notesSlide6.xml" Id="R898a03548d8241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2e63aa1ae42ff" /><Relationship Type="http://schemas.openxmlformats.org/officeDocument/2006/relationships/notesSlide" Target="/ppt/notesSlides/notesSlide7.xml" Id="Ree2742cb3bcb4a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592a2b6de4300" /><Relationship Type="http://schemas.openxmlformats.org/officeDocument/2006/relationships/notesSlide" Target="/ppt/notesSlides/notesSlide8.xml" Id="R4f91147877ab44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dd380a523425e" /><Relationship Type="http://schemas.openxmlformats.org/officeDocument/2006/relationships/notesSlide" Target="/ppt/notesSlides/notesSlide9.xml" Id="Ra7afa06fbba54f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149b603224653" /><Relationship Type="http://schemas.openxmlformats.org/officeDocument/2006/relationships/notesSlide" Target="/ppt/notesSlides/notesSlide10.xml" Id="R8435a2fa18b347f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5370182ee4fb3" /><Relationship Type="http://schemas.openxmlformats.org/officeDocument/2006/relationships/notesSlide" Target="/ppt/notesSlides/notesSlide11.xml" Id="R4884a0e44aa549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7" name="Title 1">
            <a:extLst xmlns:a="http://schemas.openxmlformats.org/drawingml/2006/main">
              <a:ext uri="{FF2B5EF4-FFF2-40B4-BE49-F238E27FC236}">
                <a16:creationId xmlns:a16="http://schemas.microsoft.com/office/drawing/2014/main" id="{C36C30DC-4DD0-4191-9D36-FD1AD868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defPPr algn="ctr">
              <a:defRPr b="1">
                <a:solidFill>
                  <a:srgbClr val="21409A"/>
                </a:solidFill>
                <a:latin typeface="Calibri"/>
                <a:ea typeface="Calibri"/>
                <a:cs typeface="Calibri"/>
              </a:defRPr>
            </a:defPPr>
            <a:lvl1pPr algn="ctr">
              <a:defRPr b="1">
                <a:solidFill>
                  <a:srgbClr val="21409A"/>
                </a:solidFill>
                <a:latin typeface="Calibri"/>
                <a:ea typeface="Calibri"/>
                <a:cs typeface="Calibri"/>
              </a:defRPr>
            </a:lvl1pPr>
            <a:lvl2pPr algn="ctr">
              <a:defRPr b="1">
                <a:solidFill>
                  <a:srgbClr val="21409A"/>
                </a:solidFill>
                <a:latin typeface="Calibri"/>
                <a:ea typeface="Calibri"/>
                <a:cs typeface="Calibri"/>
              </a:defRPr>
            </a:lvl2pPr>
            <a:lvl3pPr algn="ctr">
              <a:defRPr b="1">
                <a:solidFill>
                  <a:srgbClr val="21409A"/>
                </a:solidFill>
                <a:latin typeface="Calibri"/>
                <a:ea typeface="Calibri"/>
                <a:cs typeface="Calibri"/>
              </a:defRPr>
            </a:lvl3pPr>
            <a:lvl4pPr algn="ctr">
              <a:defRPr b="1">
                <a:solidFill>
                  <a:srgbClr val="21409A"/>
                </a:solidFill>
                <a:latin typeface="Calibri"/>
                <a:ea typeface="Calibri"/>
                <a:cs typeface="Calibri"/>
              </a:defRPr>
            </a:lvl4pPr>
            <a:lvl5pPr algn="ctr">
              <a:defRPr b="1">
                <a:solidFill>
                  <a:srgbClr val="21409A"/>
                </a:solidFill>
                <a:latin typeface="Calibri"/>
                <a:ea typeface="Calibri"/>
                <a:cs typeface="Calibri"/>
              </a:defRPr>
            </a:lvl5pPr>
            <a:lvl6pPr algn="ctr">
              <a:defRPr b="1">
                <a:solidFill>
                  <a:srgbClr val="21409A"/>
                </a:solidFill>
                <a:latin typeface="Calibri"/>
                <a:ea typeface="Calibri"/>
                <a:cs typeface="Calibri"/>
              </a:defRPr>
            </a:lvl6pPr>
            <a:lvl7pPr algn="ctr">
              <a:defRPr b="1">
                <a:solidFill>
                  <a:srgbClr val="21409A"/>
                </a:solidFill>
                <a:latin typeface="Calibri"/>
                <a:ea typeface="Calibri"/>
                <a:cs typeface="Calibri"/>
              </a:defRPr>
            </a:lvl7pPr>
            <a:lvl8pPr algn="ctr">
              <a:defRPr b="1">
                <a:solidFill>
                  <a:srgbClr val="21409A"/>
                </a:solidFill>
                <a:latin typeface="Calibri"/>
                <a:ea typeface="Calibri"/>
                <a:cs typeface="Calibri"/>
              </a:defRPr>
            </a:lvl8pPr>
            <a:lvl9pPr algn="ctr">
              <a:defRPr b="1">
                <a:solidFill>
                  <a:srgbClr val="21409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b="1">
                <a:solidFill>
                  <a:srgbClr val="21409A"/>
                </a:solidFill>
                <a:latin typeface="Calibri"/>
                <a:ea typeface="Calibri"/>
                <a:cs typeface="Calibri"/>
              </a:defRPr>
            </a:pPr>
            <a:r>
              <a:rPr sz="3000" b="1" strike="noStrike" spc="-1">
                <a:solidFill>
                  <a:srgbClr val="21409A"/>
                </a:solidFill>
                <a:latin typeface="Calibri"/>
                <a:ea typeface="Calibri"/>
                <a:cs typeface="Calibri"/>
              </a:rPr>
              <a:t>CampusAI: Intelligent Multi-Department</a:t>
            </a:r>
            <a:endParaRPr sz="4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b="1">
                <a:solidFill>
                  <a:srgbClr val="21409A"/>
                </a:solidFill>
                <a:latin typeface="Calibri"/>
                <a:ea typeface="Calibri"/>
                <a:cs typeface="Calibri"/>
              </a:defRPr>
            </a:pPr>
            <a:r>
              <a:rPr sz="3000" b="1" strike="noStrike" spc="-1">
                <a:solidFill>
                  <a:srgbClr val="21409A"/>
                </a:solidFill>
                <a:latin typeface="Calibri"/>
                <a:ea typeface="Calibri"/>
                <a:cs typeface="Calibri"/>
              </a:rPr>
              <a:t>Academic Helpdesk</a:t>
            </a:r>
            <a:endParaRPr sz="4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Subtitle 2">
            <a:extLst xmlns:a="http://schemas.openxmlformats.org/drawingml/2006/main">
              <a:ext uri="{FF2B5EF4-FFF2-40B4-BE49-F238E27FC236}">
                <a16:creationId xmlns:a16="http://schemas.microsoft.com/office/drawing/2014/main" id="{FA0AD77F-CD17-43F2-A471-C99386F0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91000"/>
            <a:ext cx="9144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>
            <a:defPPr algn="ctr"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defPPr>
            <a:lvl1pPr algn="ctr"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1pPr>
            <a:lvl2pPr algn="ctr"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2pPr>
            <a:lvl3pPr algn="ctr"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3pPr>
            <a:lvl4pPr algn="ctr"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4pPr>
            <a:lvl5pPr algn="ctr"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5pPr>
            <a:lvl6pPr algn="ctr"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6pPr>
            <a:lvl7pPr algn="ctr"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7pPr>
            <a:lvl8pPr algn="ctr"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8pPr>
            <a:lvl9pPr algn="ctr"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indent="0" algn="ctr">
              <a:lnSpc>
                <a:spcPct val="100000"/>
              </a:lnSpc>
              <a:spcBef>
                <a:spcPts val="300"/>
              </a:spcBef>
              <a:buNone/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Team Members: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300"/>
              </a:spcBef>
              <a:buNone/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V. Jaya Sai Krishna  (24B11CS514)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300"/>
              </a:spcBef>
              <a:buNone/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Y. Pavanputra  (24B11CS504)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300"/>
              </a:spcBef>
              <a:buNone/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K. Krishna Vardhan  (24B11CS237)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300"/>
              </a:spcBef>
              <a:buNone/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K. Mohan Vamsi Reddy  (24B11CS197)</a:t>
            </a:r>
          </a:p>
        </p:txBody>
      </p:sp>
    </p:spTree>
    <p:extLst>
      <p:ext uri="{BB962C8B-B14F-4D97-AF65-F5344CB8AC3E}">
        <p14:creationId xmlns:p14="http://schemas.microsoft.com/office/powerpoint/2010/main" val="10492335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9" name="Title 1">
            <a:extLst xmlns:a="http://schemas.openxmlformats.org/drawingml/2006/main">
              <a:ext uri="{FF2B5EF4-FFF2-40B4-BE49-F238E27FC236}">
                <a16:creationId xmlns:a16="http://schemas.microsoft.com/office/drawing/2014/main" id="{6A063689-AB34-43C5-8492-835CBD30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Subtitle 2">
            <a:extLst xmlns:a="http://schemas.openxmlformats.org/drawingml/2006/main">
              <a:ext uri="{FF2B5EF4-FFF2-40B4-BE49-F238E27FC236}">
                <a16:creationId xmlns:a16="http://schemas.microsoft.com/office/drawing/2014/main" id="{CC60B2AA-3FA0-4999-B217-6B2A1C26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232072B-DA50-4862-A423-9A7F5BDB76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56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800" b="0" strike="noStrike" spc="-1">
                <a:solidFill>
                  <a:srgbClr val="006666"/>
                </a:solidFill>
                <a:latin typeface="Times New Roman"/>
                <a:ea typeface="Times New Roman"/>
                <a:cs typeface="Times New Roman"/>
              </a:rPr>
              <a:t>CONTENTS</a:t>
            </a:r>
            <a:endParaRPr sz="4800" b="0" strike="noStrike" spc="-1">
              <a:solidFill>
                <a:srgbClr val="1F49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F8DB15A-6438-4480-8F9A-7CA610E48CF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631800" y="990360"/>
            <a:ext cx="10972800" cy="525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lnSpc>
                <a:spcPct val="8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31640" indent="-323640">
              <a:lnSpc>
                <a:spcPct val="8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Problem Definition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31640" indent="-323640">
              <a:lnSpc>
                <a:spcPct val="8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Proposed Solution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31640" indent="-323640">
              <a:lnSpc>
                <a:spcPct val="8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Proposed Workflow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31640" indent="-323640">
              <a:lnSpc>
                <a:spcPct val="8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Data Used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31640" indent="-323640">
              <a:lnSpc>
                <a:spcPct val="8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Modules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89000" indent="0">
              <a:lnSpc>
                <a:spcPct val="80000"/>
              </a:lnSpc>
              <a:spcBef>
                <a:spcPts val="1412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Text Preprocessing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89000" indent="0">
              <a:lnSpc>
                <a:spcPct val="80000"/>
              </a:lnSpc>
              <a:spcBef>
                <a:spcPts val="1412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Intent Classification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89000" indent="0">
              <a:lnSpc>
                <a:spcPct val="80000"/>
              </a:lnSpc>
              <a:spcBef>
                <a:spcPts val="1412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Semantic Retrieval &amp; Grounding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31640" indent="-323640">
              <a:lnSpc>
                <a:spcPct val="8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NLP / ML Algorithm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31640" indent="-323640">
              <a:lnSpc>
                <a:spcPct val="8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Output / Result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31640" indent="-323640">
              <a:lnSpc>
                <a:spcPct val="8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Conclusion and Future Scope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361089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" name="Title 1">
            <a:extLst xmlns:a="http://schemas.openxmlformats.org/drawingml/2006/main">
              <a:ext uri="{FF2B5EF4-FFF2-40B4-BE49-F238E27FC236}">
                <a16:creationId xmlns:a16="http://schemas.microsoft.com/office/drawing/2014/main" id="{F55A3750-B085-4B01-A03F-47E1D7C9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Subtitle 2">
            <a:extLst xmlns:a="http://schemas.openxmlformats.org/drawingml/2006/main">
              <a:ext uri="{FF2B5EF4-FFF2-40B4-BE49-F238E27FC236}">
                <a16:creationId xmlns:a16="http://schemas.microsoft.com/office/drawing/2014/main" id="{F22E08F5-E2FE-41FE-97EB-BDF333D1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C383718-D97C-4088-8A59-85CBD22A85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8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  <a:endParaRPr sz="4800" b="0" strike="noStrike" spc="-1">
              <a:solidFill>
                <a:srgbClr val="1F49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991588F-3BA0-4193-A178-464E3FA4495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631800" y="1258920"/>
            <a:ext cx="10972800" cy="49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t">
            <a:noAutofit/>
          </a:bodyPr>
          <a:lstStyle xmlns:a="http://schemas.openxmlformats.org/drawingml/2006/main">
            <a:def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indent="0" algn="l">
              <a:spcAft>
                <a:spcPts val="15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 overview: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CampusAI is an academic helpdesk for Aditya University. It interprets student questions and retrieves curriculum evidence with document and page references.</a:t>
            </a:r>
          </a:p>
          <a:p xmlns:a="http://schemas.openxmlformats.org/drawingml/2006/main">
            <a:pPr marL="0" indent="0" algn="l">
              <a:spcAft>
                <a:spcPts val="15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Application domain: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Natural Language Processing and Information Retrieval for B.Tech Curriculum 2024, Version 3.0, across eight engineering departments.</a:t>
            </a:r>
          </a:p>
          <a:p xmlns:a="http://schemas.openxmlformats.org/drawingml/2006/main">
            <a:pPr marL="0" indent="0" algn="l">
              <a:spcAft>
                <a:spcPts val="15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Student needs: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Students can ask about course codes, credits, semester subjects, syllabus units, prerequisites, and academic regulations.</a:t>
            </a:r>
          </a:p>
          <a:p xmlns:a="http://schemas.openxmlformats.org/drawingml/2006/main">
            <a:pPr marL="0" indent="0" algn="l">
              <a:spcAft>
                <a:spcPts val="15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 objective: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Combine intent classification, exact database lookup, and hybrid document retrieval to make academic answers easier to find and verify.</a:t>
            </a:r>
          </a:p>
        </p:txBody>
      </p:sp>
    </p:spTree>
    <p:extLst>
      <p:ext uri="{BB962C8B-B14F-4D97-AF65-F5344CB8AC3E}">
        <p14:creationId xmlns:p14="http://schemas.microsoft.com/office/powerpoint/2010/main" val="11274499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" name="Title 1">
            <a:extLst xmlns:a="http://schemas.openxmlformats.org/drawingml/2006/main">
              <a:ext uri="{FF2B5EF4-FFF2-40B4-BE49-F238E27FC236}">
                <a16:creationId xmlns:a16="http://schemas.microsoft.com/office/drawing/2014/main" id="{DC3DF5D5-F66B-4D29-B10A-D4069DBD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Subtitle 2">
            <a:extLst xmlns:a="http://schemas.openxmlformats.org/drawingml/2006/main">
              <a:ext uri="{FF2B5EF4-FFF2-40B4-BE49-F238E27FC236}">
                <a16:creationId xmlns:a16="http://schemas.microsoft.com/office/drawing/2014/main" id="{7075B857-8815-49AD-A169-9C59DA47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A0BEF189-67F9-433D-A3FD-294A2C6B01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8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Problem Definition</a:t>
            </a:r>
            <a:endParaRPr sz="4800" b="0" strike="noStrike" spc="-1">
              <a:solidFill>
                <a:srgbClr val="1F49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2CB8BF5-6851-4439-AD73-6E3D21F8DB41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96908" y="1417680"/>
            <a:ext cx="10972800" cy="49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t">
            <a:noAutofit/>
          </a:bodyPr>
          <a:lstStyle xmlns:a="http://schemas.openxmlformats.org/drawingml/2006/main">
            <a:def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indent="0" algn="l">
              <a:spcAft>
                <a:spcPts val="14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Existing problem: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Academic information spans eight curriculum PDFs containing 6,502 pages. Students must identify the correct department, semester, and source page.</a:t>
            </a:r>
          </a:p>
          <a:p xmlns:a="http://schemas.openxmlformats.org/drawingml/2006/main">
            <a:pPr marL="0" indent="0" algn="l">
              <a:spcAft>
                <a:spcPts val="14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Search difficulties: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Abbreviations, paraphrases, and Telugu-English queries can obscure intent. Similar course names also require department context.</a:t>
            </a:r>
          </a:p>
          <a:p xmlns:a="http://schemas.openxmlformats.org/drawingml/2006/main">
            <a:pPr marL="0" indent="0" algn="l">
              <a:spcAft>
                <a:spcPts val="14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Risk of incorrect answers: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Wrong credits, prerequisites, or semester details can mislead academic planning. A fluent answer alone does not establish accuracy.</a:t>
            </a:r>
          </a:p>
          <a:p xmlns:a="http://schemas.openxmlformats.org/drawingml/2006/main">
            <a:pPr marL="0" indent="0" algn="l">
              <a:spcAft>
                <a:spcPts val="14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Affected users: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Students seeking academic guidance and staff who repeatedly answer curriculum questions.</a:t>
            </a:r>
          </a:p>
          <a:p xmlns:a="http://schemas.openxmlformats.org/drawingml/2006/main">
            <a:pPr marL="0" indent="0" algn="l">
              <a:spcAft>
                <a:spcPts val="14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Required improvement: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Route factual questions to structured records and support descriptive answers with traceable evidence, clarification, or abstention.</a:t>
            </a:r>
          </a:p>
        </p:txBody>
      </p:sp>
    </p:spTree>
    <p:extLst>
      <p:ext uri="{BB962C8B-B14F-4D97-AF65-F5344CB8AC3E}">
        <p14:creationId xmlns:p14="http://schemas.microsoft.com/office/powerpoint/2010/main" val="6956222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Title 1">
            <a:extLst xmlns:a="http://schemas.openxmlformats.org/drawingml/2006/main">
              <a:ext uri="{FF2B5EF4-FFF2-40B4-BE49-F238E27FC236}">
                <a16:creationId xmlns:a16="http://schemas.microsoft.com/office/drawing/2014/main" id="{4789B43B-0791-4A72-A69E-7C39E0A9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Subtitle 2">
            <a:extLst xmlns:a="http://schemas.openxmlformats.org/drawingml/2006/main">
              <a:ext uri="{FF2B5EF4-FFF2-40B4-BE49-F238E27FC236}">
                <a16:creationId xmlns:a16="http://schemas.microsoft.com/office/drawing/2014/main" id="{36215BF0-1DC6-4DA0-BB19-F56C3423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2630532-4A0A-4816-A433-6F087E10BF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8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Proposed Solution</a:t>
            </a:r>
            <a:endParaRPr sz="4800" b="0" strike="noStrike" spc="-1">
              <a:solidFill>
                <a:srgbClr val="1F49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F127A2C-065B-43F7-A061-A3233068C25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631800" y="1258920"/>
            <a:ext cx="10972800" cy="49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t">
            <a:noAutofit/>
          </a:bodyPr>
          <a:lstStyle xmlns:a="http://schemas.openxmlformats.org/drawingml/2006/main">
            <a:def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indent="0" algn="l">
              <a:spcAft>
                <a:spcPts val="14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Query understanding: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Identify language, normalize academic terms, predict one of 30 intents, and extract course, department, semester, and unit entities.</a:t>
            </a:r>
          </a:p>
          <a:p xmlns:a="http://schemas.openxmlformats.org/drawingml/2006/main">
            <a:pPr marL="0" indent="0" algn="l">
              <a:spcAft>
                <a:spcPts val="14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Exact academic facts: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 SQL retrieval for structured details such as course codes, credits, and semester offerings.</a:t>
            </a:r>
          </a:p>
          <a:p xmlns:a="http://schemas.openxmlformats.org/drawingml/2006/main">
            <a:pPr marL="0" indent="0" algn="l">
              <a:spcAft>
                <a:spcPts val="14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Syllabus and topic search: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Combine BM25 keyword retrieval with dense semantic search, fuse rankings with RRF, and rerank candidate passages.</a:t>
            </a:r>
          </a:p>
          <a:p xmlns:a="http://schemas.openxmlformats.org/drawingml/2006/main">
            <a:pPr marL="0" indent="0" algn="l">
              <a:spcAft>
                <a:spcPts val="14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Evidence-based responses: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Generate answers from retrieved content, attach document and page references, and request clarification when the query is ambiguous.</a:t>
            </a:r>
          </a:p>
          <a:p xmlns:a="http://schemas.openxmlformats.org/drawingml/2006/main">
            <a:pPr marL="0" indent="0" algn="l">
              <a:spcAft>
                <a:spcPts val="14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Student application: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React and TypeScript interface connects to FastAPI for chat, course exploration, semester views, comparisons, and source viewing.</a:t>
            </a:r>
          </a:p>
        </p:txBody>
      </p:sp>
    </p:spTree>
    <p:extLst>
      <p:ext uri="{BB962C8B-B14F-4D97-AF65-F5344CB8AC3E}">
        <p14:creationId xmlns:p14="http://schemas.microsoft.com/office/powerpoint/2010/main" val="14887599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Title 1">
            <a:extLst xmlns:a="http://schemas.openxmlformats.org/drawingml/2006/main">
              <a:ext uri="{FF2B5EF4-FFF2-40B4-BE49-F238E27FC236}">
                <a16:creationId xmlns:a16="http://schemas.microsoft.com/office/drawing/2014/main" id="{23D9E2FA-B247-413D-A620-EAFFE46F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Subtitle 2">
            <a:extLst xmlns:a="http://schemas.openxmlformats.org/drawingml/2006/main">
              <a:ext uri="{FF2B5EF4-FFF2-40B4-BE49-F238E27FC236}">
                <a16:creationId xmlns:a16="http://schemas.microsoft.com/office/drawing/2014/main" id="{09232B3B-3770-402D-889B-5713885E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495A24A-D3C1-48FF-A2E7-0D1862775E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0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Proposed Workflow (System Architecture)</a:t>
            </a:r>
            <a:endParaRPr sz="4000" b="0" strike="noStrike" spc="-1">
              <a:solidFill>
                <a:srgbClr val="1F49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0" name="Rounded Rectangle 200">
            <a:extLst xmlns:a="http://schemas.openxmlformats.org/drawingml/2006/main">
              <a:ext uri="{FF2B5EF4-FFF2-40B4-BE49-F238E27FC236}">
                <a16:creationId xmlns:a16="http://schemas.microsoft.com/office/drawing/2014/main" id="{DFA0B314-CD18-4C2E-A3F8-D0B023C0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00" y="1480000"/>
            <a:ext cx="650000" cy="76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01" name="Rounded Rectangle 201">
            <a:extLst xmlns:a="http://schemas.openxmlformats.org/drawingml/2006/main">
              <a:ext uri="{FF2B5EF4-FFF2-40B4-BE49-F238E27FC236}">
                <a16:creationId xmlns:a16="http://schemas.microsoft.com/office/drawing/2014/main" id="{C0D9374D-08D0-44AF-829F-D0147670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800" y="1480000"/>
            <a:ext cx="3000000" cy="76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1409A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Query Understanding</a:t>
            </a:r>
          </a:p>
        </p:txBody>
      </p:sp>
      <p:sp>
        <p:nvSpPr>
          <p:cNvPr id="202" name="TextBox 202">
            <a:extLst xmlns:a="http://schemas.openxmlformats.org/drawingml/2006/main">
              <a:ext uri="{FF2B5EF4-FFF2-40B4-BE49-F238E27FC236}">
                <a16:creationId xmlns:a16="http://schemas.microsoft.com/office/drawing/2014/main" id="{E307B832-4E28-42CB-943F-B0784A18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000" y="1480000"/>
            <a:ext cx="7050000" cy="7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Detect language, normalize academic terms, extract entities, and resolve context from earlier questions.</a:t>
            </a:r>
          </a:p>
        </p:txBody>
      </p:sp>
      <p:sp>
        <p:nvSpPr>
          <p:cNvPr id="203" name="Rounded Rectangle 203">
            <a:extLst xmlns:a="http://schemas.openxmlformats.org/drawingml/2006/main">
              <a:ext uri="{FF2B5EF4-FFF2-40B4-BE49-F238E27FC236}">
                <a16:creationId xmlns:a16="http://schemas.microsoft.com/office/drawing/2014/main" id="{3188FC6B-096D-45B1-9190-C7D4D270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00" y="2350000"/>
            <a:ext cx="650000" cy="76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04" name="Rounded Rectangle 204">
            <a:extLst xmlns:a="http://schemas.openxmlformats.org/drawingml/2006/main">
              <a:ext uri="{FF2B5EF4-FFF2-40B4-BE49-F238E27FC236}">
                <a16:creationId xmlns:a16="http://schemas.microsoft.com/office/drawing/2014/main" id="{DE68C690-A6D2-43D7-8DD0-4170328C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800" y="2350000"/>
            <a:ext cx="3000000" cy="76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1409A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Intent Classification</a:t>
            </a:r>
          </a:p>
        </p:txBody>
      </p:sp>
      <p:sp>
        <p:nvSpPr>
          <p:cNvPr id="205" name="TextBox 205">
            <a:extLst xmlns:a="http://schemas.openxmlformats.org/drawingml/2006/main">
              <a:ext uri="{FF2B5EF4-FFF2-40B4-BE49-F238E27FC236}">
                <a16:creationId xmlns:a16="http://schemas.microsoft.com/office/drawing/2014/main" id="{97AEF97C-6268-44D4-9968-7157EDA8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000" y="2350000"/>
            <a:ext cx="7050000" cy="7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Word and character TF-IDF features feed a soft-voting ensemble that predicts one of 30 academic and conversational intents.</a:t>
            </a:r>
          </a:p>
        </p:txBody>
      </p:sp>
      <p:sp>
        <p:nvSpPr>
          <p:cNvPr id="206" name="Rounded Rectangle 206">
            <a:extLst xmlns:a="http://schemas.openxmlformats.org/drawingml/2006/main">
              <a:ext uri="{FF2B5EF4-FFF2-40B4-BE49-F238E27FC236}">
                <a16:creationId xmlns:a16="http://schemas.microsoft.com/office/drawing/2014/main" id="{EC8B5B63-C4E1-4736-BAC0-AAF07103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00" y="3220000"/>
            <a:ext cx="650000" cy="120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07" name="Rounded Rectangle 207">
            <a:extLst xmlns:a="http://schemas.openxmlformats.org/drawingml/2006/main">
              <a:ext uri="{FF2B5EF4-FFF2-40B4-BE49-F238E27FC236}">
                <a16:creationId xmlns:a16="http://schemas.microsoft.com/office/drawing/2014/main" id="{BF062EF9-E390-4E0C-8CC5-18D7B019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800" y="3220000"/>
            <a:ext cx="3000000" cy="120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1409A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SQL and Hybrid Retrieval</a:t>
            </a:r>
          </a:p>
        </p:txBody>
      </p:sp>
      <p:sp>
        <p:nvSpPr>
          <p:cNvPr id="208" name="TextBox 208">
            <a:extLst xmlns:a="http://schemas.openxmlformats.org/drawingml/2006/main">
              <a:ext uri="{FF2B5EF4-FFF2-40B4-BE49-F238E27FC236}">
                <a16:creationId xmlns:a16="http://schemas.microsoft.com/office/drawing/2014/main" id="{E8381F8D-927D-4075-A033-F19293F4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000" y="3220000"/>
            <a:ext cx="7050000" cy="1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47625" rIns="76200" bIns="47625" anchor="t">
            <a:noAutofit/>
          </a:bodyPr>
          <a:lstStyle xmlns:a="http://schemas.openxmlformats.org/drawingml/2006/main">
            <a:def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indent="0" algn="l">
              <a:spcAft>
                <a:spcPts val="5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Structured facts: </a:t>
            </a: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Query academic database records.</a:t>
            </a:r>
          </a:p>
          <a:p xmlns:a="http://schemas.openxmlformats.org/drawingml/2006/main">
            <a:pPr marL="0" indent="0" algn="l">
              <a:spcAft>
                <a:spcPts val="5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Document evidence: </a:t>
            </a: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Search BM25 and dense indices, combine results with Reciprocal Rank Fusion, and retain source metadata.</a:t>
            </a:r>
          </a:p>
        </p:txBody>
      </p:sp>
      <p:sp>
        <p:nvSpPr>
          <p:cNvPr id="209" name="Rounded Rectangle 209">
            <a:extLst xmlns:a="http://schemas.openxmlformats.org/drawingml/2006/main">
              <a:ext uri="{FF2B5EF4-FFF2-40B4-BE49-F238E27FC236}">
                <a16:creationId xmlns:a16="http://schemas.microsoft.com/office/drawing/2014/main" id="{315DDDB6-6442-4A02-B655-9D623A7E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00" y="4530000"/>
            <a:ext cx="650000" cy="76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0" name="Rounded Rectangle 210">
            <a:extLst xmlns:a="http://schemas.openxmlformats.org/drawingml/2006/main">
              <a:ext uri="{FF2B5EF4-FFF2-40B4-BE49-F238E27FC236}">
                <a16:creationId xmlns:a16="http://schemas.microsoft.com/office/drawing/2014/main" id="{10270606-AD00-454F-9894-FA594DC9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800" y="4530000"/>
            <a:ext cx="3000000" cy="76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1409A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Evidence Ranking and Checks</a:t>
            </a:r>
          </a:p>
        </p:txBody>
      </p:sp>
      <p:sp>
        <p:nvSpPr>
          <p:cNvPr id="211" name="TextBox 211">
            <a:extLst xmlns:a="http://schemas.openxmlformats.org/drawingml/2006/main">
              <a:ext uri="{FF2B5EF4-FFF2-40B4-BE49-F238E27FC236}">
                <a16:creationId xmlns:a16="http://schemas.microsoft.com/office/drawing/2014/main" id="{1806EA6A-47EF-4836-99E5-E4D00676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000" y="4530000"/>
            <a:ext cx="7050000" cy="7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Cross-encoder reranking prioritizes relevant passages. Citation checks and confidence rules support evidence selection.</a:t>
            </a:r>
          </a:p>
        </p:txBody>
      </p:sp>
      <p:sp>
        <p:nvSpPr>
          <p:cNvPr id="212" name="Rounded Rectangle 212">
            <a:extLst xmlns:a="http://schemas.openxmlformats.org/drawingml/2006/main">
              <a:ext uri="{FF2B5EF4-FFF2-40B4-BE49-F238E27FC236}">
                <a16:creationId xmlns:a16="http://schemas.microsoft.com/office/drawing/2014/main" id="{EEC7B0DC-F354-4DD5-BCF2-A3B81AF6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00" y="5400000"/>
            <a:ext cx="650000" cy="76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13" name="Rounded Rectangle 213">
            <a:extLst xmlns:a="http://schemas.openxmlformats.org/drawingml/2006/main">
              <a:ext uri="{FF2B5EF4-FFF2-40B4-BE49-F238E27FC236}">
                <a16:creationId xmlns:a16="http://schemas.microsoft.com/office/drawing/2014/main" id="{8383A2D6-9B29-4E90-AD02-746E682C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800" y="5400000"/>
            <a:ext cx="3000000" cy="76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1409A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Answer and Source Display</a:t>
            </a:r>
          </a:p>
        </p:txBody>
      </p:sp>
      <p:sp>
        <p:nvSpPr>
          <p:cNvPr id="214" name="TextBox 214">
            <a:extLst xmlns:a="http://schemas.openxmlformats.org/drawingml/2006/main">
              <a:ext uri="{FF2B5EF4-FFF2-40B4-BE49-F238E27FC236}">
                <a16:creationId xmlns:a16="http://schemas.microsoft.com/office/drawing/2014/main" id="{2142C25C-1A59-48D6-9F0C-C236F167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000" y="5400000"/>
            <a:ext cx="7050000" cy="7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Return an answer with document and page references, ask for clarification, or report that sufficient evidence is unavailable.</a:t>
            </a:r>
          </a:p>
        </p:txBody>
      </p:sp>
    </p:spTree>
    <p:extLst>
      <p:ext uri="{BB962C8B-B14F-4D97-AF65-F5344CB8AC3E}">
        <p14:creationId xmlns:p14="http://schemas.microsoft.com/office/powerpoint/2010/main" val="7258264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Title 1">
            <a:extLst xmlns:a="http://schemas.openxmlformats.org/drawingml/2006/main">
              <a:ext uri="{FF2B5EF4-FFF2-40B4-BE49-F238E27FC236}">
                <a16:creationId xmlns:a16="http://schemas.microsoft.com/office/drawing/2014/main" id="{808BCBD3-78ED-4743-B1E2-6F61A33B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Subtitle 2">
            <a:extLst xmlns:a="http://schemas.openxmlformats.org/drawingml/2006/main">
              <a:ext uri="{FF2B5EF4-FFF2-40B4-BE49-F238E27FC236}">
                <a16:creationId xmlns:a16="http://schemas.microsoft.com/office/drawing/2014/main" id="{3CE2D669-8F88-483B-B1DA-C3F3A50B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B4E3F02-9E99-451A-8551-A6B4944A0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8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Data Used</a:t>
            </a:r>
            <a:endParaRPr sz="4800" b="0" strike="noStrike" spc="-1">
              <a:solidFill>
                <a:srgbClr val="1F49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A919D85-8A8A-46F5-A203-AA43190E6D18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609480" y="1506570"/>
            <a:ext cx="10972800" cy="49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t">
            <a:noAutofit/>
          </a:bodyPr>
          <a:lstStyle xmlns:a="http://schemas.openxmlformats.org/drawingml/2006/main">
            <a:def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indent="0" algn="l">
              <a:spcAft>
                <a:spcPts val="12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Official source corpus: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Eight Aditya University B.Tech Curriculum 2024 PDFs, Version 3.0, covering 6,502 pages.</a:t>
            </a:r>
          </a:p>
          <a:p xmlns:a="http://schemas.openxmlformats.org/drawingml/2006/main">
            <a:pPr marL="0" indent="0" algn="l">
              <a:spcAft>
                <a:spcPts val="12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Department coverage: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CSE, CSE-DS, IT, ECE, EEE, Civil Engineering, Mining Engineering, and Petroleum Technology.</a:t>
            </a:r>
          </a:p>
          <a:p xmlns:a="http://schemas.openxmlformats.org/drawingml/2006/main">
            <a:pPr marL="0" indent="0" algn="l">
              <a:spcAft>
                <a:spcPts val="12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Structured academic catalog: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569 registered courses, 583 syllabus units, and 1,273 textbook references.</a:t>
            </a:r>
          </a:p>
          <a:p xmlns:a="http://schemas.openxmlformats.org/drawingml/2006/main">
            <a:pPr marL="0" indent="0" algn="l">
              <a:spcAft>
                <a:spcPts val="12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Intent dataset: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1,201 labeled queries across 30 classes. Fields include query, intent, domain, language, course, department, semester, and unit.</a:t>
            </a:r>
          </a:p>
          <a:p xmlns:a="http://schemas.openxmlformats.org/drawingml/2006/main">
            <a:pPr marL="0" indent="0" algn="l">
              <a:spcAft>
                <a:spcPts val="12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Training and evaluation: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stratified 80/20 split gives 960 training and 241 test queries. Separate stratified five-fold cross-validation estimates model stability.</a:t>
            </a:r>
          </a:p>
          <a:p xmlns:a="http://schemas.openxmlformats.org/drawingml/2006/main">
            <a:pPr marL="0" indent="0" algn="l">
              <a:spcAft>
                <a:spcPts val="12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 formats: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PDF source documents, a CSV query dataset, JSON metadata and indices, and a relational academic database.</a:t>
            </a:r>
          </a:p>
        </p:txBody>
      </p:sp>
    </p:spTree>
    <p:extLst>
      <p:ext uri="{BB962C8B-B14F-4D97-AF65-F5344CB8AC3E}">
        <p14:creationId xmlns:p14="http://schemas.microsoft.com/office/powerpoint/2010/main" val="20439334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Title 1">
            <a:extLst xmlns:a="http://schemas.openxmlformats.org/drawingml/2006/main">
              <a:ext uri="{FF2B5EF4-FFF2-40B4-BE49-F238E27FC236}">
                <a16:creationId xmlns:a16="http://schemas.microsoft.com/office/drawing/2014/main" id="{F9666332-10AC-4AD5-8D2B-8D9D4A59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Subtitle 2">
            <a:extLst xmlns:a="http://schemas.openxmlformats.org/drawingml/2006/main">
              <a:ext uri="{FF2B5EF4-FFF2-40B4-BE49-F238E27FC236}">
                <a16:creationId xmlns:a16="http://schemas.microsoft.com/office/drawing/2014/main" id="{DBA9D6A9-6A29-4B13-86FD-08609D43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8EB0E9-60FC-4B5D-A2B6-CF5C25328C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520"/>
            <a:ext cx="10972800" cy="87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8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Modules</a:t>
            </a:r>
            <a:endParaRPr sz="4800" b="0" strike="noStrike" spc="-1">
              <a:solidFill>
                <a:srgbClr val="1F49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6C1B353-245C-4716-BE97-A4EE5158408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631800" y="1258560"/>
            <a:ext cx="10972800" cy="49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t">
            <a:noAutofit/>
          </a:bodyPr>
          <a:lstStyle xmlns:a="http://schemas.openxmlformats.org/drawingml/2006/main">
            <a:defPPr algn="l">
              <a:defRPr>
                <a:latin typeface="Times New Roman"/>
                <a:ea typeface="Times New Roman"/>
                <a:cs typeface="Times New Roman"/>
              </a:defRPr>
            </a:defPPr>
            <a:lvl1pPr algn="l">
              <a:defRPr>
                <a:latin typeface="Times New Roman"/>
                <a:ea typeface="Times New Roman"/>
                <a:cs typeface="Times New Roman"/>
              </a:defRPr>
            </a:lvl1pPr>
            <a:lvl2pPr algn="l">
              <a:defRPr>
                <a:latin typeface="Times New Roman"/>
                <a:ea typeface="Times New Roman"/>
                <a:cs typeface="Times New Roman"/>
              </a:defRPr>
            </a:lvl2pPr>
            <a:lvl3pPr algn="l">
              <a:defRPr>
                <a:latin typeface="Times New Roman"/>
                <a:ea typeface="Times New Roman"/>
                <a:cs typeface="Times New Roman"/>
              </a:defRPr>
            </a:lvl3pPr>
            <a:lvl4pPr algn="l">
              <a:defRPr>
                <a:latin typeface="Times New Roman"/>
                <a:ea typeface="Times New Roman"/>
                <a:cs typeface="Times New Roman"/>
              </a:defRPr>
            </a:lvl4pPr>
            <a:lvl5pPr algn="l">
              <a:defRPr>
                <a:latin typeface="Times New Roman"/>
                <a:ea typeface="Times New Roman"/>
                <a:cs typeface="Times New Roman"/>
              </a:defRPr>
            </a:lvl5pPr>
            <a:lvl6pPr algn="l">
              <a:defRPr>
                <a:latin typeface="Times New Roman"/>
                <a:ea typeface="Times New Roman"/>
                <a:cs typeface="Times New Roman"/>
              </a:defRPr>
            </a:lvl6pPr>
            <a:lvl7pPr algn="l">
              <a:defRPr>
                <a:latin typeface="Times New Roman"/>
                <a:ea typeface="Times New Roman"/>
                <a:cs typeface="Times New Roman"/>
              </a:defRPr>
            </a:lvl7pPr>
            <a:lvl8pPr algn="l">
              <a:defRPr>
                <a:latin typeface="Times New Roman"/>
                <a:ea typeface="Times New Roman"/>
                <a:cs typeface="Times New Roman"/>
              </a:defRPr>
            </a:lvl8pPr>
            <a:lvl9pPr algn="l">
              <a:defRPr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indent="0" algn="l">
              <a:spcAft>
                <a:spcPts val="5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Text Preprocessing and Query Understanding</a:t>
            </a:r>
          </a:p>
          <a:p xmlns:a="http://schemas.openxmlformats.org/drawingml/2006/main">
            <a:pPr marL="0" indent="0" algn="l">
              <a:spcAft>
                <a:spcPts val="18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Normalize case, punctuation, and whitespace while preserving course codes, academic acronyms, and Telugu text. Extract entities and handle follow-up or multi-intent questions.</a:t>
            </a:r>
          </a:p>
          <a:p xmlns:a="http://schemas.openxmlformats.org/drawingml/2006/main">
            <a:pPr marL="0" indent="0" algn="l">
              <a:spcAft>
                <a:spcPts val="5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Intent Classification</a:t>
            </a:r>
          </a:p>
          <a:p xmlns:a="http://schemas.openxmlformats.org/drawingml/2006/main">
            <a:pPr marL="0" indent="0" algn="l">
              <a:spcAft>
                <a:spcPts val="18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Combine word and character TF-IDF features with calibrated Linear SVM, Logistic Regression, and Complement Naive Bayes. Confidence and alternative intents support query routing.</a:t>
            </a:r>
          </a:p>
          <a:p xmlns:a="http://schemas.openxmlformats.org/drawingml/2006/main">
            <a:pPr marL="0" indent="0" algn="l">
              <a:spcAft>
                <a:spcPts val="5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Retrieval, Grounding, and Application</a:t>
            </a:r>
          </a:p>
          <a:p xmlns:a="http://schemas.openxmlformats.org/drawingml/2006/main">
            <a:pPr marL="0" indent="0" algn="l">
              <a:spcAft>
                <a:spcPts val="18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Retrieve exact facts through SQL and descriptive evidence through hybrid search. The RAG layer adds citations, while the web app provides chat, course exploration, comparisons, and PDF source viewing.</a:t>
            </a:r>
          </a:p>
        </p:txBody>
      </p:sp>
    </p:spTree>
    <p:extLst>
      <p:ext uri="{BB962C8B-B14F-4D97-AF65-F5344CB8AC3E}">
        <p14:creationId xmlns:p14="http://schemas.microsoft.com/office/powerpoint/2010/main" val="11963704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Title 1">
            <a:extLst xmlns:a="http://schemas.openxmlformats.org/drawingml/2006/main">
              <a:ext uri="{FF2B5EF4-FFF2-40B4-BE49-F238E27FC236}">
                <a16:creationId xmlns:a16="http://schemas.microsoft.com/office/drawing/2014/main" id="{F6B38301-2430-4ABE-BC0A-3F82661C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Subtitle 2">
            <a:extLst xmlns:a="http://schemas.openxmlformats.org/drawingml/2006/main">
              <a:ext uri="{FF2B5EF4-FFF2-40B4-BE49-F238E27FC236}">
                <a16:creationId xmlns:a16="http://schemas.microsoft.com/office/drawing/2014/main" id="{F8F3DDA8-DFE5-4074-BF57-316B45DB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0059A6D-C5A8-4F22-868C-7175666E2E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520"/>
            <a:ext cx="10972800" cy="87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8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Core NLP &amp; ML Algorithms</a:t>
            </a:r>
            <a:endParaRPr sz="4800" b="0" strike="noStrike" spc="-1">
              <a:solidFill>
                <a:srgbClr val="1F49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A45819B7-D355-48DD-BD37-DF2667F484F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631800" y="1258560"/>
            <a:ext cx="10972800" cy="49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t">
            <a:noAutofit/>
          </a:bodyPr>
          <a:lstStyle xmlns:a="http://schemas.openxmlformats.org/drawingml/2006/main">
            <a:defPPr algn="l">
              <a:defRPr>
                <a:latin typeface="Times New Roman"/>
                <a:ea typeface="Times New Roman"/>
                <a:cs typeface="Times New Roman"/>
              </a:defRPr>
            </a:defPPr>
            <a:lvl1pPr algn="l">
              <a:defRPr>
                <a:latin typeface="Times New Roman"/>
                <a:ea typeface="Times New Roman"/>
                <a:cs typeface="Times New Roman"/>
              </a:defRPr>
            </a:lvl1pPr>
            <a:lvl2pPr algn="l">
              <a:defRPr>
                <a:latin typeface="Times New Roman"/>
                <a:ea typeface="Times New Roman"/>
                <a:cs typeface="Times New Roman"/>
              </a:defRPr>
            </a:lvl2pPr>
            <a:lvl3pPr algn="l">
              <a:defRPr>
                <a:latin typeface="Times New Roman"/>
                <a:ea typeface="Times New Roman"/>
                <a:cs typeface="Times New Roman"/>
              </a:defRPr>
            </a:lvl3pPr>
            <a:lvl4pPr algn="l">
              <a:defRPr>
                <a:latin typeface="Times New Roman"/>
                <a:ea typeface="Times New Roman"/>
                <a:cs typeface="Times New Roman"/>
              </a:defRPr>
            </a:lvl4pPr>
            <a:lvl5pPr algn="l">
              <a:defRPr>
                <a:latin typeface="Times New Roman"/>
                <a:ea typeface="Times New Roman"/>
                <a:cs typeface="Times New Roman"/>
              </a:defRPr>
            </a:lvl5pPr>
            <a:lvl6pPr algn="l">
              <a:defRPr>
                <a:latin typeface="Times New Roman"/>
                <a:ea typeface="Times New Roman"/>
                <a:cs typeface="Times New Roman"/>
              </a:defRPr>
            </a:lvl6pPr>
            <a:lvl7pPr algn="l">
              <a:defRPr>
                <a:latin typeface="Times New Roman"/>
                <a:ea typeface="Times New Roman"/>
                <a:cs typeface="Times New Roman"/>
              </a:defRPr>
            </a:lvl7pPr>
            <a:lvl8pPr algn="l">
              <a:defRPr>
                <a:latin typeface="Times New Roman"/>
                <a:ea typeface="Times New Roman"/>
                <a:cs typeface="Times New Roman"/>
              </a:defRPr>
            </a:lvl8pPr>
            <a:lvl9pPr algn="l">
              <a:defRPr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indent="0" algn="l">
              <a:spcAft>
                <a:spcPts val="5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Intent Classification: TF-IDF and Soft Voting</a:t>
            </a:r>
          </a:p>
          <a:p xmlns:a="http://schemas.openxmlformats.org/drawingml/2006/main">
            <a:pPr marL="0" indent="0" algn="l">
              <a:spcAft>
                <a:spcPts val="18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Word n-grams (1–3) and character n-grams (2–5) capture phrases and spelling patterns. Calibrated Linear SVM, Logistic Regression, and Complement Naive Bayes combine probabilities with weights of 2:2:1.</a:t>
            </a:r>
          </a:p>
          <a:p xmlns:a="http://schemas.openxmlformats.org/drawingml/2006/main">
            <a:pPr marL="0" indent="0" algn="l">
              <a:spcAft>
                <a:spcPts val="5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Semantic Retrieval: BM25, MiniLM, and RRF</a:t>
            </a:r>
          </a:p>
          <a:p xmlns:a="http://schemas.openxmlformats.org/drawingml/2006/main">
            <a:pPr marL="0" indent="0" algn="l">
              <a:spcAft>
                <a:spcPts val="18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BM25 matches academic keywords. all-MiniLM-L6-v2 produces 384-dimensional embeddings for semantic matching. Reciprocal Rank Fusion combines both rankings, followed by MiniLM cross-encoder reranking.</a:t>
            </a:r>
          </a:p>
          <a:p xmlns:a="http://schemas.openxmlformats.org/drawingml/2006/main">
            <a:pPr marL="0" indent="0" algn="l">
              <a:spcAft>
                <a:spcPts val="5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Grounding and Response Control</a:t>
            </a:r>
          </a:p>
          <a:p xmlns:a="http://schemas.openxmlformats.org/drawingml/2006/main">
            <a:pPr marL="0" indent="0" algn="l">
              <a:spcAft>
                <a:spcPts val="18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SQL provides structured academic facts. Retrieved passages supply answer evidence and page references. Confidence checks, clarification, and abstention reduce unsupported answers but do not guarantee correctness.</a:t>
            </a:r>
          </a:p>
        </p:txBody>
      </p:sp>
    </p:spTree>
    <p:extLst>
      <p:ext uri="{BB962C8B-B14F-4D97-AF65-F5344CB8AC3E}">
        <p14:creationId xmlns:p14="http://schemas.microsoft.com/office/powerpoint/2010/main" val="13475056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7" name="Title 1">
            <a:extLst xmlns:a="http://schemas.openxmlformats.org/drawingml/2006/main">
              <a:ext uri="{FF2B5EF4-FFF2-40B4-BE49-F238E27FC236}">
                <a16:creationId xmlns:a16="http://schemas.microsoft.com/office/drawing/2014/main" id="{09B78055-0B30-4452-A76D-0FFD2D61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Subtitle 2">
            <a:extLst xmlns:a="http://schemas.openxmlformats.org/drawingml/2006/main">
              <a:ext uri="{FF2B5EF4-FFF2-40B4-BE49-F238E27FC236}">
                <a16:creationId xmlns:a16="http://schemas.microsoft.com/office/drawing/2014/main" id="{20C81635-CF28-43FB-A5BC-501F9E43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8CDD9A46-597B-410C-8704-00459BEBDC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520"/>
            <a:ext cx="10972800" cy="87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8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Output / Result</a:t>
            </a:r>
            <a:endParaRPr sz="4800" b="0" strike="noStrike" spc="-1">
              <a:solidFill>
                <a:srgbClr val="1F49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97782B13-BFA6-4A09-9BFB-BDD645DFE95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631800" y="1258560"/>
            <a:ext cx="10972800" cy="49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t">
            <a:noAutofit/>
          </a:bodyPr>
          <a:lstStyle xmlns:a="http://schemas.openxmlformats.org/drawingml/2006/main">
            <a:defPPr algn="l">
              <a:defRPr>
                <a:latin typeface="Times New Roman"/>
                <a:ea typeface="Times New Roman"/>
                <a:cs typeface="Times New Roman"/>
              </a:defRPr>
            </a:defPPr>
            <a:lvl1pPr algn="l">
              <a:defRPr>
                <a:latin typeface="Times New Roman"/>
                <a:ea typeface="Times New Roman"/>
                <a:cs typeface="Times New Roman"/>
              </a:defRPr>
            </a:lvl1pPr>
            <a:lvl2pPr algn="l">
              <a:defRPr>
                <a:latin typeface="Times New Roman"/>
                <a:ea typeface="Times New Roman"/>
                <a:cs typeface="Times New Roman"/>
              </a:defRPr>
            </a:lvl2pPr>
            <a:lvl3pPr algn="l">
              <a:defRPr>
                <a:latin typeface="Times New Roman"/>
                <a:ea typeface="Times New Roman"/>
                <a:cs typeface="Times New Roman"/>
              </a:defRPr>
            </a:lvl3pPr>
            <a:lvl4pPr algn="l">
              <a:defRPr>
                <a:latin typeface="Times New Roman"/>
                <a:ea typeface="Times New Roman"/>
                <a:cs typeface="Times New Roman"/>
              </a:defRPr>
            </a:lvl4pPr>
            <a:lvl5pPr algn="l">
              <a:defRPr>
                <a:latin typeface="Times New Roman"/>
                <a:ea typeface="Times New Roman"/>
                <a:cs typeface="Times New Roman"/>
              </a:defRPr>
            </a:lvl5pPr>
            <a:lvl6pPr algn="l">
              <a:defRPr>
                <a:latin typeface="Times New Roman"/>
                <a:ea typeface="Times New Roman"/>
                <a:cs typeface="Times New Roman"/>
              </a:defRPr>
            </a:lvl6pPr>
            <a:lvl7pPr algn="l">
              <a:defRPr>
                <a:latin typeface="Times New Roman"/>
                <a:ea typeface="Times New Roman"/>
                <a:cs typeface="Times New Roman"/>
              </a:defRPr>
            </a:lvl7pPr>
            <a:lvl8pPr algn="l">
              <a:defRPr>
                <a:latin typeface="Times New Roman"/>
                <a:ea typeface="Times New Roman"/>
                <a:cs typeface="Times New Roman"/>
              </a:defRPr>
            </a:lvl8pPr>
            <a:lvl9pPr algn="l">
              <a:defRPr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indent="0" algn="l">
              <a:spcAft>
                <a:spcPts val="5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Student-Facing Output</a:t>
            </a:r>
          </a:p>
          <a:p xmlns:a="http://schemas.openxmlformats.org/drawingml/2006/main">
            <a:pPr marL="0" indent="0" algn="l">
              <a:spcAft>
                <a:spcPts val="18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web app supports academic chat, course exploration, semester browsing, and cross-department comparison. Answers include source references with access to the relevant PDF page.</a:t>
            </a:r>
          </a:p>
          <a:p xmlns:a="http://schemas.openxmlformats.org/drawingml/2006/main">
            <a:pPr marL="0" indent="0" algn="l">
              <a:spcAft>
                <a:spcPts val="5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Intent Classifier Results</a:t>
            </a:r>
          </a:p>
          <a:p xmlns:a="http://schemas.openxmlformats.org/drawingml/2006/main">
            <a:pPr marL="0" indent="0" algn="l">
              <a:spcAft>
                <a:spcPts val="18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latest report records 96.27% top-1 accuracy and 99.17% top-3 accuracy on 241 test queries across 30 classes. Macro F1 is 0.9196 and weighted F1 is 0.9614.</a:t>
            </a:r>
          </a:p>
          <a:p xmlns:a="http://schemas.openxmlformats.org/drawingml/2006/main">
            <a:pPr marL="0" indent="0" algn="l">
              <a:spcAft>
                <a:spcPts val="5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Cross-Validation and Interpretation</a:t>
            </a:r>
          </a:p>
          <a:p xmlns:a="http://schemas.openxmlformats.org/drawingml/2006/main">
            <a:pPr marL="0" indent="0" algn="l">
              <a:spcAft>
                <a:spcPts val="18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Five-fold accuracy averages 96.00% with a standard deviation of 1.17 percentage points. These are classifier results on the project dataset, not a measure of end-to-end answer correctness.</a:t>
            </a:r>
          </a:p>
        </p:txBody>
      </p:sp>
    </p:spTree>
    <p:extLst>
      <p:ext uri="{BB962C8B-B14F-4D97-AF65-F5344CB8AC3E}">
        <p14:creationId xmlns:p14="http://schemas.microsoft.com/office/powerpoint/2010/main" val="18123404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" name="Title 1">
            <a:extLst xmlns:a="http://schemas.openxmlformats.org/drawingml/2006/main">
              <a:ext uri="{FF2B5EF4-FFF2-40B4-BE49-F238E27FC236}">
                <a16:creationId xmlns:a16="http://schemas.microsoft.com/office/drawing/2014/main" id="{77E4A1AA-4ED7-43F6-9B68-B3EB9AE6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Subtitle 2">
            <a:extLst xmlns:a="http://schemas.openxmlformats.org/drawingml/2006/main">
              <a:ext uri="{FF2B5EF4-FFF2-40B4-BE49-F238E27FC236}">
                <a16:creationId xmlns:a16="http://schemas.microsoft.com/office/drawing/2014/main" id="{E20648C2-C9E1-4917-964B-D6349E38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58A3B53-0FF9-49F9-BEEE-11C8BB4F8B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8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Conclusion and Future Scope</a:t>
            </a:r>
            <a:endParaRPr sz="4800" b="0" strike="noStrike" spc="-1">
              <a:solidFill>
                <a:srgbClr val="1F49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9CF1B939-8AC2-410C-931C-383407894F0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631800" y="1258920"/>
            <a:ext cx="10972800" cy="49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t">
            <a:noAutofit/>
          </a:bodyPr>
          <a:lstStyle xmlns:a="http://schemas.openxmlformats.org/drawingml/2006/main">
            <a:defPPr algn="l">
              <a:defRPr>
                <a:latin typeface="Times New Roman"/>
                <a:ea typeface="Times New Roman"/>
                <a:cs typeface="Times New Roman"/>
              </a:defRPr>
            </a:defPPr>
            <a:lvl1pPr algn="l">
              <a:defRPr>
                <a:latin typeface="Times New Roman"/>
                <a:ea typeface="Times New Roman"/>
                <a:cs typeface="Times New Roman"/>
              </a:defRPr>
            </a:lvl1pPr>
            <a:lvl2pPr algn="l">
              <a:defRPr>
                <a:latin typeface="Times New Roman"/>
                <a:ea typeface="Times New Roman"/>
                <a:cs typeface="Times New Roman"/>
              </a:defRPr>
            </a:lvl2pPr>
            <a:lvl3pPr algn="l">
              <a:defRPr>
                <a:latin typeface="Times New Roman"/>
                <a:ea typeface="Times New Roman"/>
                <a:cs typeface="Times New Roman"/>
              </a:defRPr>
            </a:lvl3pPr>
            <a:lvl4pPr algn="l">
              <a:defRPr>
                <a:latin typeface="Times New Roman"/>
                <a:ea typeface="Times New Roman"/>
                <a:cs typeface="Times New Roman"/>
              </a:defRPr>
            </a:lvl4pPr>
            <a:lvl5pPr algn="l">
              <a:defRPr>
                <a:latin typeface="Times New Roman"/>
                <a:ea typeface="Times New Roman"/>
                <a:cs typeface="Times New Roman"/>
              </a:defRPr>
            </a:lvl5pPr>
            <a:lvl6pPr algn="l">
              <a:defRPr>
                <a:latin typeface="Times New Roman"/>
                <a:ea typeface="Times New Roman"/>
                <a:cs typeface="Times New Roman"/>
              </a:defRPr>
            </a:lvl6pPr>
            <a:lvl7pPr algn="l">
              <a:defRPr>
                <a:latin typeface="Times New Roman"/>
                <a:ea typeface="Times New Roman"/>
                <a:cs typeface="Times New Roman"/>
              </a:defRPr>
            </a:lvl7pPr>
            <a:lvl8pPr algn="l">
              <a:defRPr>
                <a:latin typeface="Times New Roman"/>
                <a:ea typeface="Times New Roman"/>
                <a:cs typeface="Times New Roman"/>
              </a:defRPr>
            </a:lvl8pPr>
            <a:lvl9pPr algn="l">
              <a:defRPr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indent="0" algn="l">
              <a:spcAft>
                <a:spcPts val="5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Conclusion</a:t>
            </a:r>
          </a:p>
          <a:p xmlns:a="http://schemas.openxmlformats.org/drawingml/2006/main">
            <a:pPr marL="0" indent="0" algn="l">
              <a:spcAft>
                <a:spcPts val="18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CampusAI integrates NLP query understanding, structured academic lookup, and hybrid evidence retrieval for eight departments. The latest intent classifier reaches 96.27% accuracy on the held-out project test set.</a:t>
            </a:r>
          </a:p>
          <a:p xmlns:a="http://schemas.openxmlformats.org/drawingml/2006/main">
            <a:pPr marL="0" indent="0" algn="l">
              <a:spcAft>
                <a:spcPts val="5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Current Limitations</a:t>
            </a:r>
          </a:p>
          <a:p xmlns:a="http://schemas.openxmlformats.org/drawingml/2006/main">
            <a:pPr marL="0" indent="0" algn="l">
              <a:spcAft>
                <a:spcPts val="18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Coverage centres on Curriculum 2024, Version 3.0. The test set is small for some intents, and out-of-scope detection has an F1 score of 0.40. Retrieval relevance and answer correctness need independent evaluation.</a:t>
            </a:r>
          </a:p>
          <a:p xmlns:a="http://schemas.openxmlformats.org/drawingml/2006/main">
            <a:pPr marL="0" indent="0" algn="l">
              <a:spcAft>
                <a:spcPts val="5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Future Scope</a:t>
            </a:r>
          </a:p>
          <a:p xmlns:a="http://schemas.openxmlformats.org/drawingml/2006/main">
            <a:pPr marL="0" indent="0" algn="l">
              <a:spcAft>
                <a:spcPts val="18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Collect student queries across languages, strengthen low-performing intents, and evaluate retrieval against human relevance labels. Expand verified curriculum coverage and connect approved live academic notices.</a:t>
            </a:r>
          </a:p>
        </p:txBody>
      </p:sp>
    </p:spTree>
    <p:extLst>
      <p:ext uri="{BB962C8B-B14F-4D97-AF65-F5344CB8AC3E}">
        <p14:creationId xmlns:p14="http://schemas.microsoft.com/office/powerpoint/2010/main" val="743461151"/>
      </p:ext>
    </p:extLst>
  </p:cSld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2026-10-24T13:56:09.8600000Z</dcterms:created>
  <dcterms:modified xsi:type="dcterms:W3CDTF">2026-10-24T13:56:09.8600000Z</dcterms:modified>
</coreProperties>
</file>